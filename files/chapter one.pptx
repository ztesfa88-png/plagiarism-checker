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6"/>
  </p:notesMasterIdLst>
  <p:sldIdLst>
    <p:sldId id="256" r:id="rId2"/>
    <p:sldId id="294" r:id="rId3"/>
    <p:sldId id="291" r:id="rId4"/>
    <p:sldId id="292" r:id="rId5"/>
    <p:sldId id="258" r:id="rId6"/>
    <p:sldId id="259" r:id="rId7"/>
    <p:sldId id="260" r:id="rId8"/>
    <p:sldId id="261" r:id="rId9"/>
    <p:sldId id="262" r:id="rId10"/>
    <p:sldId id="263" r:id="rId11"/>
    <p:sldId id="264" r:id="rId12"/>
    <p:sldId id="265"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2" r:id="rId27"/>
    <p:sldId id="283" r:id="rId28"/>
    <p:sldId id="284" r:id="rId29"/>
    <p:sldId id="285" r:id="rId30"/>
    <p:sldId id="286" r:id="rId31"/>
    <p:sldId id="287" r:id="rId32"/>
    <p:sldId id="288"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09E1"/>
    <a:srgbClr val="0B03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81" d="100"/>
          <a:sy n="81" d="100"/>
        </p:scale>
        <p:origin x="-754" y="-21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F5E8FD-D957-4194-8FE9-9E8C579913CA}" type="doc">
      <dgm:prSet loTypeId="urn:microsoft.com/office/officeart/2005/8/layout/radial6" loCatId="cycle" qsTypeId="urn:microsoft.com/office/officeart/2005/8/quickstyle/simple1" qsCatId="simple" csTypeId="urn:microsoft.com/office/officeart/2005/8/colors/colorful3" csCatId="colorful" phldr="1"/>
      <dgm:spPr/>
      <dgm:t>
        <a:bodyPr/>
        <a:lstStyle/>
        <a:p>
          <a:endParaRPr lang="en-US"/>
        </a:p>
      </dgm:t>
    </dgm:pt>
    <dgm:pt modelId="{19D298B7-2FFB-4968-81AB-40E98C46F84A}">
      <dgm:prSet phldrT="[Text]"/>
      <dgm:spPr/>
      <dgm:t>
        <a:bodyPr/>
        <a:lstStyle/>
        <a:p>
          <a:r>
            <a:rPr lang="en-US" b="1" dirty="0" smtClean="0"/>
            <a:t>Product</a:t>
          </a:r>
          <a:endParaRPr lang="en-US" b="1" dirty="0"/>
        </a:p>
      </dgm:t>
    </dgm:pt>
    <dgm:pt modelId="{38669A42-6517-4D8B-AFDA-33CEA4DFB655}" type="parTrans" cxnId="{F818EA61-D0B3-43DB-BE95-57128D8821DC}">
      <dgm:prSet/>
      <dgm:spPr/>
      <dgm:t>
        <a:bodyPr/>
        <a:lstStyle/>
        <a:p>
          <a:endParaRPr lang="en-US"/>
        </a:p>
      </dgm:t>
    </dgm:pt>
    <dgm:pt modelId="{C3DA7B2F-E548-4B3E-A2BB-9F502B822258}" type="sibTrans" cxnId="{F818EA61-D0B3-43DB-BE95-57128D8821DC}">
      <dgm:prSet/>
      <dgm:spPr/>
      <dgm:t>
        <a:bodyPr/>
        <a:lstStyle/>
        <a:p>
          <a:endParaRPr lang="en-US"/>
        </a:p>
      </dgm:t>
    </dgm:pt>
    <dgm:pt modelId="{D4E6167C-539F-4B66-A5B8-C6AADA5F45C8}">
      <dgm:prSet phldrT="[Text]" custT="1"/>
      <dgm:spPr/>
      <dgm:t>
        <a:bodyPr/>
        <a:lstStyle/>
        <a:p>
          <a:r>
            <a:rPr lang="en-US" sz="3000" b="1" dirty="0" smtClean="0"/>
            <a:t>People</a:t>
          </a:r>
          <a:endParaRPr lang="en-US" sz="3000" b="1" dirty="0"/>
        </a:p>
      </dgm:t>
    </dgm:pt>
    <dgm:pt modelId="{F42E3F73-CEC1-4168-ACB0-5D3368630CB8}" type="parTrans" cxnId="{C8DECFC7-706D-41AB-B00B-CBFB8F85D9AB}">
      <dgm:prSet/>
      <dgm:spPr/>
      <dgm:t>
        <a:bodyPr/>
        <a:lstStyle/>
        <a:p>
          <a:endParaRPr lang="en-US"/>
        </a:p>
      </dgm:t>
    </dgm:pt>
    <dgm:pt modelId="{A8E99DBB-670C-4369-B489-5D92CF0612B4}" type="sibTrans" cxnId="{C8DECFC7-706D-41AB-B00B-CBFB8F85D9AB}">
      <dgm:prSet/>
      <dgm:spPr/>
      <dgm:t>
        <a:bodyPr/>
        <a:lstStyle/>
        <a:p>
          <a:endParaRPr lang="en-US"/>
        </a:p>
      </dgm:t>
    </dgm:pt>
    <dgm:pt modelId="{FF14D459-7978-4B7D-A25B-975ACE500F53}">
      <dgm:prSet phldrT="[Text]" custT="1"/>
      <dgm:spPr/>
      <dgm:t>
        <a:bodyPr/>
        <a:lstStyle/>
        <a:p>
          <a:r>
            <a:rPr lang="en-US" sz="2400" b="1" dirty="0" smtClean="0"/>
            <a:t>Process</a:t>
          </a:r>
          <a:endParaRPr lang="en-US" sz="2400" b="1" dirty="0"/>
        </a:p>
      </dgm:t>
    </dgm:pt>
    <dgm:pt modelId="{64368D54-D3EE-472B-BD4B-004C887ABDB0}" type="parTrans" cxnId="{D3913E16-0EAD-4D41-909A-1B3752775E6E}">
      <dgm:prSet/>
      <dgm:spPr/>
      <dgm:t>
        <a:bodyPr/>
        <a:lstStyle/>
        <a:p>
          <a:endParaRPr lang="en-US"/>
        </a:p>
      </dgm:t>
    </dgm:pt>
    <dgm:pt modelId="{256CE272-A813-4F0B-8D92-0A481CC6D478}" type="sibTrans" cxnId="{D3913E16-0EAD-4D41-909A-1B3752775E6E}">
      <dgm:prSet/>
      <dgm:spPr/>
      <dgm:t>
        <a:bodyPr/>
        <a:lstStyle/>
        <a:p>
          <a:endParaRPr lang="en-US"/>
        </a:p>
      </dgm:t>
    </dgm:pt>
    <dgm:pt modelId="{AE32557D-9049-4B64-9BB3-DD2D315137B8}">
      <dgm:prSet phldrT="[Text]" custT="1"/>
      <dgm:spPr/>
      <dgm:t>
        <a:bodyPr/>
        <a:lstStyle/>
        <a:p>
          <a:r>
            <a:rPr lang="en-US" sz="2400" b="1" dirty="0" smtClean="0"/>
            <a:t>Project</a:t>
          </a:r>
          <a:endParaRPr lang="en-US" sz="2400" b="1" dirty="0"/>
        </a:p>
      </dgm:t>
    </dgm:pt>
    <dgm:pt modelId="{92A13B34-FB63-414E-A0D8-6DA8776DF292}" type="parTrans" cxnId="{6B8FCF6B-E2E1-4043-9436-174B6507EE15}">
      <dgm:prSet/>
      <dgm:spPr/>
      <dgm:t>
        <a:bodyPr/>
        <a:lstStyle/>
        <a:p>
          <a:endParaRPr lang="en-US"/>
        </a:p>
      </dgm:t>
    </dgm:pt>
    <dgm:pt modelId="{22EE62E8-AC81-4923-8332-68018C59EC8F}" type="sibTrans" cxnId="{6B8FCF6B-E2E1-4043-9436-174B6507EE15}">
      <dgm:prSet/>
      <dgm:spPr/>
      <dgm:t>
        <a:bodyPr/>
        <a:lstStyle/>
        <a:p>
          <a:endParaRPr lang="en-US"/>
        </a:p>
      </dgm:t>
    </dgm:pt>
    <dgm:pt modelId="{C69CC119-C1A0-4BF8-BCB5-B6D7905C5128}" type="pres">
      <dgm:prSet presAssocID="{D4F5E8FD-D957-4194-8FE9-9E8C579913CA}" presName="Name0" presStyleCnt="0">
        <dgm:presLayoutVars>
          <dgm:chMax val="1"/>
          <dgm:dir/>
          <dgm:animLvl val="ctr"/>
          <dgm:resizeHandles val="exact"/>
        </dgm:presLayoutVars>
      </dgm:prSet>
      <dgm:spPr/>
      <dgm:t>
        <a:bodyPr/>
        <a:lstStyle/>
        <a:p>
          <a:endParaRPr lang="en-US"/>
        </a:p>
      </dgm:t>
    </dgm:pt>
    <dgm:pt modelId="{5B4C7ABD-7B67-4FD0-846A-1E1D2C6955C2}" type="pres">
      <dgm:prSet presAssocID="{19D298B7-2FFB-4968-81AB-40E98C46F84A}" presName="centerShape" presStyleLbl="node0" presStyleIdx="0" presStyleCnt="1"/>
      <dgm:spPr/>
      <dgm:t>
        <a:bodyPr/>
        <a:lstStyle/>
        <a:p>
          <a:endParaRPr lang="en-US"/>
        </a:p>
      </dgm:t>
    </dgm:pt>
    <dgm:pt modelId="{AA232AB8-150F-4552-9C11-6DEFFF5337F7}" type="pres">
      <dgm:prSet presAssocID="{D4E6167C-539F-4B66-A5B8-C6AADA5F45C8}" presName="node" presStyleLbl="node1" presStyleIdx="0" presStyleCnt="3" custScaleX="142752" custScaleY="142752">
        <dgm:presLayoutVars>
          <dgm:bulletEnabled val="1"/>
        </dgm:presLayoutVars>
      </dgm:prSet>
      <dgm:spPr/>
      <dgm:t>
        <a:bodyPr/>
        <a:lstStyle/>
        <a:p>
          <a:endParaRPr lang="en-US"/>
        </a:p>
      </dgm:t>
    </dgm:pt>
    <dgm:pt modelId="{ABE379B0-09A9-462C-A9E9-1E582C091A7F}" type="pres">
      <dgm:prSet presAssocID="{D4E6167C-539F-4B66-A5B8-C6AADA5F45C8}" presName="dummy" presStyleCnt="0"/>
      <dgm:spPr/>
    </dgm:pt>
    <dgm:pt modelId="{FCC193A9-8DC5-46B0-9E2D-734EA7515B6C}" type="pres">
      <dgm:prSet presAssocID="{A8E99DBB-670C-4369-B489-5D92CF0612B4}" presName="sibTrans" presStyleLbl="sibTrans2D1" presStyleIdx="0" presStyleCnt="3"/>
      <dgm:spPr/>
      <dgm:t>
        <a:bodyPr/>
        <a:lstStyle/>
        <a:p>
          <a:endParaRPr lang="en-US"/>
        </a:p>
      </dgm:t>
    </dgm:pt>
    <dgm:pt modelId="{3420C76F-B25F-448E-8193-6B2561952BBF}" type="pres">
      <dgm:prSet presAssocID="{FF14D459-7978-4B7D-A25B-975ACE500F53}" presName="node" presStyleLbl="node1" presStyleIdx="1" presStyleCnt="3" custScaleX="142752" custScaleY="142752">
        <dgm:presLayoutVars>
          <dgm:bulletEnabled val="1"/>
        </dgm:presLayoutVars>
      </dgm:prSet>
      <dgm:spPr/>
      <dgm:t>
        <a:bodyPr/>
        <a:lstStyle/>
        <a:p>
          <a:endParaRPr lang="en-US"/>
        </a:p>
      </dgm:t>
    </dgm:pt>
    <dgm:pt modelId="{D60D94EC-8151-4D82-9D8E-E72D861C34C4}" type="pres">
      <dgm:prSet presAssocID="{FF14D459-7978-4B7D-A25B-975ACE500F53}" presName="dummy" presStyleCnt="0"/>
      <dgm:spPr/>
    </dgm:pt>
    <dgm:pt modelId="{DD2FAB57-9812-41C2-A753-5EC311A4D238}" type="pres">
      <dgm:prSet presAssocID="{256CE272-A813-4F0B-8D92-0A481CC6D478}" presName="sibTrans" presStyleLbl="sibTrans2D1" presStyleIdx="1" presStyleCnt="3"/>
      <dgm:spPr/>
      <dgm:t>
        <a:bodyPr/>
        <a:lstStyle/>
        <a:p>
          <a:endParaRPr lang="en-US"/>
        </a:p>
      </dgm:t>
    </dgm:pt>
    <dgm:pt modelId="{CE5FE101-3395-47CD-A422-44D2305D66CD}" type="pres">
      <dgm:prSet presAssocID="{AE32557D-9049-4B64-9BB3-DD2D315137B8}" presName="node" presStyleLbl="node1" presStyleIdx="2" presStyleCnt="3" custScaleX="142752" custScaleY="142752">
        <dgm:presLayoutVars>
          <dgm:bulletEnabled val="1"/>
        </dgm:presLayoutVars>
      </dgm:prSet>
      <dgm:spPr/>
      <dgm:t>
        <a:bodyPr/>
        <a:lstStyle/>
        <a:p>
          <a:endParaRPr lang="en-US"/>
        </a:p>
      </dgm:t>
    </dgm:pt>
    <dgm:pt modelId="{19E1BE66-EC8D-4F79-9644-46319A4BACE3}" type="pres">
      <dgm:prSet presAssocID="{AE32557D-9049-4B64-9BB3-DD2D315137B8}" presName="dummy" presStyleCnt="0"/>
      <dgm:spPr/>
    </dgm:pt>
    <dgm:pt modelId="{2E84BADE-29BA-4D1B-AAAA-A205A30C4A81}" type="pres">
      <dgm:prSet presAssocID="{22EE62E8-AC81-4923-8332-68018C59EC8F}" presName="sibTrans" presStyleLbl="sibTrans2D1" presStyleIdx="2" presStyleCnt="3"/>
      <dgm:spPr/>
      <dgm:t>
        <a:bodyPr/>
        <a:lstStyle/>
        <a:p>
          <a:endParaRPr lang="en-US"/>
        </a:p>
      </dgm:t>
    </dgm:pt>
  </dgm:ptLst>
  <dgm:cxnLst>
    <dgm:cxn modelId="{DB6A3688-1DD6-41F1-BC79-9EA9C4ECD37C}" type="presOf" srcId="{FF14D459-7978-4B7D-A25B-975ACE500F53}" destId="{3420C76F-B25F-448E-8193-6B2561952BBF}" srcOrd="0" destOrd="0" presId="urn:microsoft.com/office/officeart/2005/8/layout/radial6"/>
    <dgm:cxn modelId="{D3913E16-0EAD-4D41-909A-1B3752775E6E}" srcId="{19D298B7-2FFB-4968-81AB-40E98C46F84A}" destId="{FF14D459-7978-4B7D-A25B-975ACE500F53}" srcOrd="1" destOrd="0" parTransId="{64368D54-D3EE-472B-BD4B-004C887ABDB0}" sibTransId="{256CE272-A813-4F0B-8D92-0A481CC6D478}"/>
    <dgm:cxn modelId="{EFDD60E2-140B-43E6-9FA9-B8CBC23DFD88}" type="presOf" srcId="{256CE272-A813-4F0B-8D92-0A481CC6D478}" destId="{DD2FAB57-9812-41C2-A753-5EC311A4D238}" srcOrd="0" destOrd="0" presId="urn:microsoft.com/office/officeart/2005/8/layout/radial6"/>
    <dgm:cxn modelId="{C0B6B742-BE8B-49EE-BF8A-DE8C836C6175}" type="presOf" srcId="{19D298B7-2FFB-4968-81AB-40E98C46F84A}" destId="{5B4C7ABD-7B67-4FD0-846A-1E1D2C6955C2}" srcOrd="0" destOrd="0" presId="urn:microsoft.com/office/officeart/2005/8/layout/radial6"/>
    <dgm:cxn modelId="{2FE54DA0-F125-4243-AB5C-13C4B3ECE4B3}" type="presOf" srcId="{D4F5E8FD-D957-4194-8FE9-9E8C579913CA}" destId="{C69CC119-C1A0-4BF8-BCB5-B6D7905C5128}" srcOrd="0" destOrd="0" presId="urn:microsoft.com/office/officeart/2005/8/layout/radial6"/>
    <dgm:cxn modelId="{DEE52AE2-C127-430C-BFEA-7CFEEAA1604E}" type="presOf" srcId="{A8E99DBB-670C-4369-B489-5D92CF0612B4}" destId="{FCC193A9-8DC5-46B0-9E2D-734EA7515B6C}" srcOrd="0" destOrd="0" presId="urn:microsoft.com/office/officeart/2005/8/layout/radial6"/>
    <dgm:cxn modelId="{F818EA61-D0B3-43DB-BE95-57128D8821DC}" srcId="{D4F5E8FD-D957-4194-8FE9-9E8C579913CA}" destId="{19D298B7-2FFB-4968-81AB-40E98C46F84A}" srcOrd="0" destOrd="0" parTransId="{38669A42-6517-4D8B-AFDA-33CEA4DFB655}" sibTransId="{C3DA7B2F-E548-4B3E-A2BB-9F502B822258}"/>
    <dgm:cxn modelId="{26C7FAF6-1844-45F6-85D8-EB0D59A3C4C1}" type="presOf" srcId="{AE32557D-9049-4B64-9BB3-DD2D315137B8}" destId="{CE5FE101-3395-47CD-A422-44D2305D66CD}" srcOrd="0" destOrd="0" presId="urn:microsoft.com/office/officeart/2005/8/layout/radial6"/>
    <dgm:cxn modelId="{6B8FCF6B-E2E1-4043-9436-174B6507EE15}" srcId="{19D298B7-2FFB-4968-81AB-40E98C46F84A}" destId="{AE32557D-9049-4B64-9BB3-DD2D315137B8}" srcOrd="2" destOrd="0" parTransId="{92A13B34-FB63-414E-A0D8-6DA8776DF292}" sibTransId="{22EE62E8-AC81-4923-8332-68018C59EC8F}"/>
    <dgm:cxn modelId="{B54C6A3F-B6B1-4279-A68A-182D4F864205}" type="presOf" srcId="{22EE62E8-AC81-4923-8332-68018C59EC8F}" destId="{2E84BADE-29BA-4D1B-AAAA-A205A30C4A81}" srcOrd="0" destOrd="0" presId="urn:microsoft.com/office/officeart/2005/8/layout/radial6"/>
    <dgm:cxn modelId="{6197C7D6-F7D3-44C8-A814-A4B2F8336E39}" type="presOf" srcId="{D4E6167C-539F-4B66-A5B8-C6AADA5F45C8}" destId="{AA232AB8-150F-4552-9C11-6DEFFF5337F7}" srcOrd="0" destOrd="0" presId="urn:microsoft.com/office/officeart/2005/8/layout/radial6"/>
    <dgm:cxn modelId="{C8DECFC7-706D-41AB-B00B-CBFB8F85D9AB}" srcId="{19D298B7-2FFB-4968-81AB-40E98C46F84A}" destId="{D4E6167C-539F-4B66-A5B8-C6AADA5F45C8}" srcOrd="0" destOrd="0" parTransId="{F42E3F73-CEC1-4168-ACB0-5D3368630CB8}" sibTransId="{A8E99DBB-670C-4369-B489-5D92CF0612B4}"/>
    <dgm:cxn modelId="{42FF4D1A-2479-43C0-9424-20903B786EC6}" type="presParOf" srcId="{C69CC119-C1A0-4BF8-BCB5-B6D7905C5128}" destId="{5B4C7ABD-7B67-4FD0-846A-1E1D2C6955C2}" srcOrd="0" destOrd="0" presId="urn:microsoft.com/office/officeart/2005/8/layout/radial6"/>
    <dgm:cxn modelId="{760DCDEA-FE1E-4AF7-AF7B-FD61F3AD6711}" type="presParOf" srcId="{C69CC119-C1A0-4BF8-BCB5-B6D7905C5128}" destId="{AA232AB8-150F-4552-9C11-6DEFFF5337F7}" srcOrd="1" destOrd="0" presId="urn:microsoft.com/office/officeart/2005/8/layout/radial6"/>
    <dgm:cxn modelId="{AE94F262-C4A9-419E-A208-3AA5CCB206F1}" type="presParOf" srcId="{C69CC119-C1A0-4BF8-BCB5-B6D7905C5128}" destId="{ABE379B0-09A9-462C-A9E9-1E582C091A7F}" srcOrd="2" destOrd="0" presId="urn:microsoft.com/office/officeart/2005/8/layout/radial6"/>
    <dgm:cxn modelId="{87D502D4-749C-4B64-8E2B-A53166D8549E}" type="presParOf" srcId="{C69CC119-C1A0-4BF8-BCB5-B6D7905C5128}" destId="{FCC193A9-8DC5-46B0-9E2D-734EA7515B6C}" srcOrd="3" destOrd="0" presId="urn:microsoft.com/office/officeart/2005/8/layout/radial6"/>
    <dgm:cxn modelId="{81A54713-AA50-4374-A2DB-0DE1F818C2C3}" type="presParOf" srcId="{C69CC119-C1A0-4BF8-BCB5-B6D7905C5128}" destId="{3420C76F-B25F-448E-8193-6B2561952BBF}" srcOrd="4" destOrd="0" presId="urn:microsoft.com/office/officeart/2005/8/layout/radial6"/>
    <dgm:cxn modelId="{C63316CA-857F-485C-80B1-9CAC88C4E22F}" type="presParOf" srcId="{C69CC119-C1A0-4BF8-BCB5-B6D7905C5128}" destId="{D60D94EC-8151-4D82-9D8E-E72D861C34C4}" srcOrd="5" destOrd="0" presId="urn:microsoft.com/office/officeart/2005/8/layout/radial6"/>
    <dgm:cxn modelId="{E7F30B31-4F22-41F2-92EA-02AE94F7809A}" type="presParOf" srcId="{C69CC119-C1A0-4BF8-BCB5-B6D7905C5128}" destId="{DD2FAB57-9812-41C2-A753-5EC311A4D238}" srcOrd="6" destOrd="0" presId="urn:microsoft.com/office/officeart/2005/8/layout/radial6"/>
    <dgm:cxn modelId="{37641F31-B076-4F88-A5ED-E6BBCA69228E}" type="presParOf" srcId="{C69CC119-C1A0-4BF8-BCB5-B6D7905C5128}" destId="{CE5FE101-3395-47CD-A422-44D2305D66CD}" srcOrd="7" destOrd="0" presId="urn:microsoft.com/office/officeart/2005/8/layout/radial6"/>
    <dgm:cxn modelId="{1147243B-A413-4315-9CB9-AA0A71537CE4}" type="presParOf" srcId="{C69CC119-C1A0-4BF8-BCB5-B6D7905C5128}" destId="{19E1BE66-EC8D-4F79-9644-46319A4BACE3}" srcOrd="8" destOrd="0" presId="urn:microsoft.com/office/officeart/2005/8/layout/radial6"/>
    <dgm:cxn modelId="{5D7DB632-0125-4234-A0FD-C94B249800E2}" type="presParOf" srcId="{C69CC119-C1A0-4BF8-BCB5-B6D7905C5128}" destId="{2E84BADE-29BA-4D1B-AAAA-A205A30C4A81}" srcOrd="9"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0E4CE7-CFCF-46CA-A5ED-0B233F69ABA9}" type="doc">
      <dgm:prSet loTypeId="urn:microsoft.com/office/officeart/2005/8/layout/rings+Icon" loCatId="officeonline" qsTypeId="urn:microsoft.com/office/officeart/2005/8/quickstyle/3d3" qsCatId="3D" csTypeId="urn:microsoft.com/office/officeart/2005/8/colors/accent1_2" csCatId="accent1" phldr="1"/>
      <dgm:spPr/>
    </dgm:pt>
    <dgm:pt modelId="{9316B0A2-9C8E-450A-8D2B-1165BC3F626B}">
      <dgm:prSet phldrT="[Text]"/>
      <dgm:spPr/>
      <dgm:t>
        <a:bodyPr/>
        <a:lstStyle/>
        <a:p>
          <a:r>
            <a:rPr lang="en-US" dirty="0" smtClean="0"/>
            <a:t>Application area knowledge and practice</a:t>
          </a:r>
          <a:endParaRPr lang="en-US" dirty="0"/>
        </a:p>
      </dgm:t>
    </dgm:pt>
    <dgm:pt modelId="{BC2C0A41-F0FA-4721-941E-A52467613261}" type="parTrans" cxnId="{FE847A6A-4B1E-4A5B-925F-4B6D8C836A9F}">
      <dgm:prSet/>
      <dgm:spPr/>
      <dgm:t>
        <a:bodyPr/>
        <a:lstStyle/>
        <a:p>
          <a:endParaRPr lang="en-US"/>
        </a:p>
      </dgm:t>
    </dgm:pt>
    <dgm:pt modelId="{8EB94D00-F78C-4BB2-84C8-4CCD72AEF0E3}" type="sibTrans" cxnId="{FE847A6A-4B1E-4A5B-925F-4B6D8C836A9F}">
      <dgm:prSet/>
      <dgm:spPr/>
      <dgm:t>
        <a:bodyPr/>
        <a:lstStyle/>
        <a:p>
          <a:endParaRPr lang="en-US"/>
        </a:p>
      </dgm:t>
    </dgm:pt>
    <dgm:pt modelId="{3DE6F0E9-66BC-43E9-9661-C623E0390467}">
      <dgm:prSet phldrT="[Text]"/>
      <dgm:spPr/>
      <dgm:t>
        <a:bodyPr/>
        <a:lstStyle/>
        <a:p>
          <a:r>
            <a:rPr lang="en-US" dirty="0" smtClean="0"/>
            <a:t>General management knowledge and practice</a:t>
          </a:r>
          <a:endParaRPr lang="en-US" dirty="0"/>
        </a:p>
      </dgm:t>
    </dgm:pt>
    <dgm:pt modelId="{AC1A9CC4-0C53-48D3-BF69-64AB2F62C7BF}" type="parTrans" cxnId="{0BACA754-5EDA-4616-9658-3C9E716E13B8}">
      <dgm:prSet/>
      <dgm:spPr/>
      <dgm:t>
        <a:bodyPr/>
        <a:lstStyle/>
        <a:p>
          <a:endParaRPr lang="en-US"/>
        </a:p>
      </dgm:t>
    </dgm:pt>
    <dgm:pt modelId="{A5D42E95-0F5D-4648-B256-B6F721249C7E}" type="sibTrans" cxnId="{0BACA754-5EDA-4616-9658-3C9E716E13B8}">
      <dgm:prSet/>
      <dgm:spPr/>
      <dgm:t>
        <a:bodyPr/>
        <a:lstStyle/>
        <a:p>
          <a:endParaRPr lang="en-US"/>
        </a:p>
      </dgm:t>
    </dgm:pt>
    <dgm:pt modelId="{47E35601-5A69-487A-8CF3-497E5FCBA59A}">
      <dgm:prSet phldrT="[Text]"/>
      <dgm:spPr/>
      <dgm:t>
        <a:bodyPr/>
        <a:lstStyle/>
        <a:p>
          <a:r>
            <a:rPr lang="en-US" dirty="0" smtClean="0"/>
            <a:t>Project management knowledge and practice</a:t>
          </a:r>
          <a:endParaRPr lang="en-US" dirty="0"/>
        </a:p>
      </dgm:t>
    </dgm:pt>
    <dgm:pt modelId="{C9A92A39-CB85-4A65-AB8F-D263E4F58960}" type="parTrans" cxnId="{3C103944-B14C-4F9C-8B62-0D2AEF3D0311}">
      <dgm:prSet/>
      <dgm:spPr/>
      <dgm:t>
        <a:bodyPr/>
        <a:lstStyle/>
        <a:p>
          <a:endParaRPr lang="en-US"/>
        </a:p>
      </dgm:t>
    </dgm:pt>
    <dgm:pt modelId="{EEB975C4-109F-4AA3-8551-4ABBEA212F76}" type="sibTrans" cxnId="{3C103944-B14C-4F9C-8B62-0D2AEF3D0311}">
      <dgm:prSet/>
      <dgm:spPr/>
      <dgm:t>
        <a:bodyPr/>
        <a:lstStyle/>
        <a:p>
          <a:endParaRPr lang="en-US"/>
        </a:p>
      </dgm:t>
    </dgm:pt>
    <dgm:pt modelId="{FA4DDC4E-7DFD-4DE1-AB33-3182796958DE}" type="pres">
      <dgm:prSet presAssocID="{BD0E4CE7-CFCF-46CA-A5ED-0B233F69ABA9}" presName="Name0" presStyleCnt="0">
        <dgm:presLayoutVars>
          <dgm:chMax val="7"/>
          <dgm:dir/>
          <dgm:resizeHandles val="exact"/>
        </dgm:presLayoutVars>
      </dgm:prSet>
      <dgm:spPr/>
    </dgm:pt>
    <dgm:pt modelId="{A979D7D8-79E9-40CB-BF4F-63BF4D926ADF}" type="pres">
      <dgm:prSet presAssocID="{BD0E4CE7-CFCF-46CA-A5ED-0B233F69ABA9}" presName="ellipse1" presStyleLbl="vennNode1" presStyleIdx="0" presStyleCnt="3">
        <dgm:presLayoutVars>
          <dgm:bulletEnabled val="1"/>
        </dgm:presLayoutVars>
      </dgm:prSet>
      <dgm:spPr/>
      <dgm:t>
        <a:bodyPr/>
        <a:lstStyle/>
        <a:p>
          <a:endParaRPr lang="en-US"/>
        </a:p>
      </dgm:t>
    </dgm:pt>
    <dgm:pt modelId="{559A736E-81A6-482F-860A-1141F662D688}" type="pres">
      <dgm:prSet presAssocID="{BD0E4CE7-CFCF-46CA-A5ED-0B233F69ABA9}" presName="ellipse2" presStyleLbl="vennNode1" presStyleIdx="1" presStyleCnt="3">
        <dgm:presLayoutVars>
          <dgm:bulletEnabled val="1"/>
        </dgm:presLayoutVars>
      </dgm:prSet>
      <dgm:spPr/>
      <dgm:t>
        <a:bodyPr/>
        <a:lstStyle/>
        <a:p>
          <a:endParaRPr lang="en-US"/>
        </a:p>
      </dgm:t>
    </dgm:pt>
    <dgm:pt modelId="{33EB62EF-9A0A-4615-A0BE-149260F40251}" type="pres">
      <dgm:prSet presAssocID="{BD0E4CE7-CFCF-46CA-A5ED-0B233F69ABA9}" presName="ellipse3" presStyleLbl="vennNode1" presStyleIdx="2" presStyleCnt="3">
        <dgm:presLayoutVars>
          <dgm:bulletEnabled val="1"/>
        </dgm:presLayoutVars>
      </dgm:prSet>
      <dgm:spPr/>
      <dgm:t>
        <a:bodyPr/>
        <a:lstStyle/>
        <a:p>
          <a:endParaRPr lang="en-US"/>
        </a:p>
      </dgm:t>
    </dgm:pt>
  </dgm:ptLst>
  <dgm:cxnLst>
    <dgm:cxn modelId="{0BACA754-5EDA-4616-9658-3C9E716E13B8}" srcId="{BD0E4CE7-CFCF-46CA-A5ED-0B233F69ABA9}" destId="{3DE6F0E9-66BC-43E9-9661-C623E0390467}" srcOrd="1" destOrd="0" parTransId="{AC1A9CC4-0C53-48D3-BF69-64AB2F62C7BF}" sibTransId="{A5D42E95-0F5D-4648-B256-B6F721249C7E}"/>
    <dgm:cxn modelId="{47391704-AF3F-4748-979D-C769E714AD27}" type="presOf" srcId="{47E35601-5A69-487A-8CF3-497E5FCBA59A}" destId="{33EB62EF-9A0A-4615-A0BE-149260F40251}" srcOrd="0" destOrd="0" presId="urn:microsoft.com/office/officeart/2005/8/layout/rings+Icon"/>
    <dgm:cxn modelId="{CC6CBE4B-0456-4E8F-A811-A3F040CA8191}" type="presOf" srcId="{9316B0A2-9C8E-450A-8D2B-1165BC3F626B}" destId="{A979D7D8-79E9-40CB-BF4F-63BF4D926ADF}" srcOrd="0" destOrd="0" presId="urn:microsoft.com/office/officeart/2005/8/layout/rings+Icon"/>
    <dgm:cxn modelId="{3C103944-B14C-4F9C-8B62-0D2AEF3D0311}" srcId="{BD0E4CE7-CFCF-46CA-A5ED-0B233F69ABA9}" destId="{47E35601-5A69-487A-8CF3-497E5FCBA59A}" srcOrd="2" destOrd="0" parTransId="{C9A92A39-CB85-4A65-AB8F-D263E4F58960}" sibTransId="{EEB975C4-109F-4AA3-8551-4ABBEA212F76}"/>
    <dgm:cxn modelId="{CA9501C1-C138-4F85-AF03-ECE773E372B5}" type="presOf" srcId="{BD0E4CE7-CFCF-46CA-A5ED-0B233F69ABA9}" destId="{FA4DDC4E-7DFD-4DE1-AB33-3182796958DE}" srcOrd="0" destOrd="0" presId="urn:microsoft.com/office/officeart/2005/8/layout/rings+Icon"/>
    <dgm:cxn modelId="{FE847A6A-4B1E-4A5B-925F-4B6D8C836A9F}" srcId="{BD0E4CE7-CFCF-46CA-A5ED-0B233F69ABA9}" destId="{9316B0A2-9C8E-450A-8D2B-1165BC3F626B}" srcOrd="0" destOrd="0" parTransId="{BC2C0A41-F0FA-4721-941E-A52467613261}" sibTransId="{8EB94D00-F78C-4BB2-84C8-4CCD72AEF0E3}"/>
    <dgm:cxn modelId="{66E52505-A5C5-4A3E-B9F0-7B48799488C6}" type="presOf" srcId="{3DE6F0E9-66BC-43E9-9661-C623E0390467}" destId="{559A736E-81A6-482F-860A-1141F662D688}" srcOrd="0" destOrd="0" presId="urn:microsoft.com/office/officeart/2005/8/layout/rings+Icon"/>
    <dgm:cxn modelId="{59BE8D06-4DA0-4C36-BEBE-9BB29E2C98E6}" type="presParOf" srcId="{FA4DDC4E-7DFD-4DE1-AB33-3182796958DE}" destId="{A979D7D8-79E9-40CB-BF4F-63BF4D926ADF}" srcOrd="0" destOrd="0" presId="urn:microsoft.com/office/officeart/2005/8/layout/rings+Icon"/>
    <dgm:cxn modelId="{87E63189-07D3-4666-87CA-B8D824477671}" type="presParOf" srcId="{FA4DDC4E-7DFD-4DE1-AB33-3182796958DE}" destId="{559A736E-81A6-482F-860A-1141F662D688}" srcOrd="1" destOrd="0" presId="urn:microsoft.com/office/officeart/2005/8/layout/rings+Icon"/>
    <dgm:cxn modelId="{9A09835F-08F6-4CF1-9883-C2FCCF693449}" type="presParOf" srcId="{FA4DDC4E-7DFD-4DE1-AB33-3182796958DE}" destId="{33EB62EF-9A0A-4615-A0BE-149260F40251}" srcOrd="2"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84BADE-29BA-4D1B-AAAA-A205A30C4A81}">
      <dsp:nvSpPr>
        <dsp:cNvPr id="0" name=""/>
        <dsp:cNvSpPr/>
      </dsp:nvSpPr>
      <dsp:spPr>
        <a:xfrm>
          <a:off x="3365906" y="743940"/>
          <a:ext cx="4037787" cy="4037787"/>
        </a:xfrm>
        <a:prstGeom prst="blockArc">
          <a:avLst>
            <a:gd name="adj1" fmla="val 9000000"/>
            <a:gd name="adj2" fmla="val 16200000"/>
            <a:gd name="adj3" fmla="val 4634"/>
          </a:avLst>
        </a:prstGeom>
        <a:solidFill>
          <a:schemeClr val="accent3">
            <a:hueOff val="-12328166"/>
            <a:satOff val="12562"/>
            <a:lumOff val="-235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D2FAB57-9812-41C2-A753-5EC311A4D238}">
      <dsp:nvSpPr>
        <dsp:cNvPr id="0" name=""/>
        <dsp:cNvSpPr/>
      </dsp:nvSpPr>
      <dsp:spPr>
        <a:xfrm>
          <a:off x="3365906" y="743940"/>
          <a:ext cx="4037787" cy="4037787"/>
        </a:xfrm>
        <a:prstGeom prst="blockArc">
          <a:avLst>
            <a:gd name="adj1" fmla="val 1800000"/>
            <a:gd name="adj2" fmla="val 9000000"/>
            <a:gd name="adj3" fmla="val 4634"/>
          </a:avLst>
        </a:prstGeom>
        <a:solidFill>
          <a:schemeClr val="accent3">
            <a:hueOff val="-6164083"/>
            <a:satOff val="6281"/>
            <a:lumOff val="-117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CC193A9-8DC5-46B0-9E2D-734EA7515B6C}">
      <dsp:nvSpPr>
        <dsp:cNvPr id="0" name=""/>
        <dsp:cNvSpPr/>
      </dsp:nvSpPr>
      <dsp:spPr>
        <a:xfrm>
          <a:off x="3365906" y="743940"/>
          <a:ext cx="4037787" cy="4037787"/>
        </a:xfrm>
        <a:prstGeom prst="blockArc">
          <a:avLst>
            <a:gd name="adj1" fmla="val 16200000"/>
            <a:gd name="adj2" fmla="val 1800000"/>
            <a:gd name="adj3" fmla="val 4634"/>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B4C7ABD-7B67-4FD0-846A-1E1D2C6955C2}">
      <dsp:nvSpPr>
        <dsp:cNvPr id="0" name=""/>
        <dsp:cNvSpPr/>
      </dsp:nvSpPr>
      <dsp:spPr>
        <a:xfrm>
          <a:off x="4456658" y="1834692"/>
          <a:ext cx="1856283" cy="1856283"/>
        </a:xfrm>
        <a:prstGeom prst="ellipse">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t>Product</a:t>
          </a:r>
          <a:endParaRPr lang="en-US" sz="2800" b="1" kern="1200" dirty="0"/>
        </a:p>
      </dsp:txBody>
      <dsp:txXfrm>
        <a:off x="4728504" y="2106538"/>
        <a:ext cx="1312591" cy="1312591"/>
      </dsp:txXfrm>
    </dsp:sp>
    <dsp:sp modelId="{AA232AB8-150F-4552-9C11-6DEFFF5337F7}">
      <dsp:nvSpPr>
        <dsp:cNvPr id="0" name=""/>
        <dsp:cNvSpPr/>
      </dsp:nvSpPr>
      <dsp:spPr>
        <a:xfrm>
          <a:off x="4457341" y="-136739"/>
          <a:ext cx="1854917" cy="1854917"/>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r>
            <a:rPr lang="en-US" sz="3000" b="1" kern="1200" dirty="0" smtClean="0"/>
            <a:t>People</a:t>
          </a:r>
          <a:endParaRPr lang="en-US" sz="3000" b="1" kern="1200" dirty="0"/>
        </a:p>
      </dsp:txBody>
      <dsp:txXfrm>
        <a:off x="4728987" y="134907"/>
        <a:ext cx="1311625" cy="1311625"/>
      </dsp:txXfrm>
    </dsp:sp>
    <dsp:sp modelId="{3420C76F-B25F-448E-8193-6B2561952BBF}">
      <dsp:nvSpPr>
        <dsp:cNvPr id="0" name=""/>
        <dsp:cNvSpPr/>
      </dsp:nvSpPr>
      <dsp:spPr>
        <a:xfrm>
          <a:off x="6165243" y="2821433"/>
          <a:ext cx="1854917" cy="1854917"/>
        </a:xfrm>
        <a:prstGeom prst="ellipse">
          <a:avLst/>
        </a:prstGeom>
        <a:solidFill>
          <a:schemeClr val="accent3">
            <a:hueOff val="-6164083"/>
            <a:satOff val="6281"/>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t>Process</a:t>
          </a:r>
          <a:endParaRPr lang="en-US" sz="2400" b="1" kern="1200" dirty="0"/>
        </a:p>
      </dsp:txBody>
      <dsp:txXfrm>
        <a:off x="6436889" y="3093079"/>
        <a:ext cx="1311625" cy="1311625"/>
      </dsp:txXfrm>
    </dsp:sp>
    <dsp:sp modelId="{CE5FE101-3395-47CD-A422-44D2305D66CD}">
      <dsp:nvSpPr>
        <dsp:cNvPr id="0" name=""/>
        <dsp:cNvSpPr/>
      </dsp:nvSpPr>
      <dsp:spPr>
        <a:xfrm>
          <a:off x="2749439" y="2821433"/>
          <a:ext cx="1854917" cy="1854917"/>
        </a:xfrm>
        <a:prstGeom prst="ellipse">
          <a:avLst/>
        </a:prstGeom>
        <a:solidFill>
          <a:schemeClr val="accent3">
            <a:hueOff val="-12328166"/>
            <a:satOff val="12562"/>
            <a:lumOff val="-235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t>Project</a:t>
          </a:r>
          <a:endParaRPr lang="en-US" sz="2400" b="1" kern="1200" dirty="0"/>
        </a:p>
      </dsp:txBody>
      <dsp:txXfrm>
        <a:off x="3021085" y="3093079"/>
        <a:ext cx="1311625" cy="1311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79D7D8-79E9-40CB-BF4F-63BF4D926ADF}">
      <dsp:nvSpPr>
        <dsp:cNvPr id="0" name=""/>
        <dsp:cNvSpPr/>
      </dsp:nvSpPr>
      <dsp:spPr>
        <a:xfrm>
          <a:off x="690084" y="0"/>
          <a:ext cx="2105339" cy="2105308"/>
        </a:xfrm>
        <a:prstGeom prst="ellipse">
          <a:avLst/>
        </a:prstGeom>
        <a:solidFill>
          <a:schemeClr val="accent1">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Application area knowledge and practice</a:t>
          </a:r>
          <a:endParaRPr lang="en-US" sz="2100" kern="1200" dirty="0"/>
        </a:p>
      </dsp:txBody>
      <dsp:txXfrm>
        <a:off x="998404" y="308315"/>
        <a:ext cx="1488699" cy="1488678"/>
      </dsp:txXfrm>
    </dsp:sp>
    <dsp:sp modelId="{559A736E-81A6-482F-860A-1141F662D688}">
      <dsp:nvSpPr>
        <dsp:cNvPr id="0" name=""/>
        <dsp:cNvSpPr/>
      </dsp:nvSpPr>
      <dsp:spPr>
        <a:xfrm>
          <a:off x="1773721" y="1404124"/>
          <a:ext cx="2105339" cy="2105308"/>
        </a:xfrm>
        <a:prstGeom prst="ellipse">
          <a:avLst/>
        </a:prstGeom>
        <a:solidFill>
          <a:schemeClr val="accent1">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General management knowledge and practice</a:t>
          </a:r>
          <a:endParaRPr lang="en-US" sz="2100" kern="1200" dirty="0"/>
        </a:p>
      </dsp:txBody>
      <dsp:txXfrm>
        <a:off x="2082041" y="1712439"/>
        <a:ext cx="1488699" cy="1488678"/>
      </dsp:txXfrm>
    </dsp:sp>
    <dsp:sp modelId="{33EB62EF-9A0A-4615-A0BE-149260F40251}">
      <dsp:nvSpPr>
        <dsp:cNvPr id="0" name=""/>
        <dsp:cNvSpPr/>
      </dsp:nvSpPr>
      <dsp:spPr>
        <a:xfrm>
          <a:off x="2856076" y="0"/>
          <a:ext cx="2105339" cy="2105308"/>
        </a:xfrm>
        <a:prstGeom prst="ellipse">
          <a:avLst/>
        </a:prstGeom>
        <a:solidFill>
          <a:schemeClr val="accent1">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Project management knowledge and practice</a:t>
          </a:r>
          <a:endParaRPr lang="en-US" sz="2100" kern="1200" dirty="0"/>
        </a:p>
      </dsp:txBody>
      <dsp:txXfrm>
        <a:off x="3164396" y="308315"/>
        <a:ext cx="1488699" cy="1488678"/>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26E8D8-8AB9-42EE-BA00-2D0F833EE43D}"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C1C40-7901-4E4E-800B-935F296A2588}" type="slidenum">
              <a:rPr lang="en-US" smtClean="0"/>
              <a:t>‹#›</a:t>
            </a:fld>
            <a:endParaRPr lang="en-US"/>
          </a:p>
        </p:txBody>
      </p:sp>
    </p:spTree>
    <p:extLst>
      <p:ext uri="{BB962C8B-B14F-4D97-AF65-F5344CB8AC3E}">
        <p14:creationId xmlns:p14="http://schemas.microsoft.com/office/powerpoint/2010/main" val="2935827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C1C40-7901-4E4E-800B-935F296A2588}" type="slidenum">
              <a:rPr lang="en-US" smtClean="0"/>
              <a:t>1</a:t>
            </a:fld>
            <a:endParaRPr lang="en-US"/>
          </a:p>
        </p:txBody>
      </p:sp>
    </p:spTree>
    <p:extLst>
      <p:ext uri="{BB962C8B-B14F-4D97-AF65-F5344CB8AC3E}">
        <p14:creationId xmlns:p14="http://schemas.microsoft.com/office/powerpoint/2010/main" val="746161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106500" name="Footer Placeholder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endParaRPr lang="en-US" altLang="en-US" smtClean="0"/>
          </a:p>
        </p:txBody>
      </p:sp>
      <p:sp>
        <p:nvSpPr>
          <p:cNvPr id="106501" name="Slide Number Placeholder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26F2C1A3-5A20-48FE-9ABD-12C05C73C792}" type="slidenum">
              <a:rPr lang="en-US" altLang="en-US"/>
              <a:pPr>
                <a:spcBef>
                  <a:spcPct val="0"/>
                </a:spcBef>
              </a:pPr>
              <a:t>4</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62E2B548-EE40-4C7F-AD7E-CA7B95B3DB48}" type="slidenum">
              <a:rPr lang="en-US" altLang="zh-CN"/>
              <a:pPr>
                <a:spcBef>
                  <a:spcPct val="0"/>
                </a:spcBef>
              </a:pPr>
              <a:t>13</a:t>
            </a:fld>
            <a:endParaRPr lang="en-US" altLang="zh-CN"/>
          </a:p>
        </p:txBody>
      </p:sp>
      <p:sp>
        <p:nvSpPr>
          <p:cNvPr id="1095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29DC3020-DBDB-4302-926E-0CE388E68399}" type="slidenum">
              <a:rPr lang="en-US" altLang="zh-CN"/>
              <a:pPr>
                <a:spcBef>
                  <a:spcPct val="0"/>
                </a:spcBef>
              </a:pPr>
              <a:t>14</a:t>
            </a:fld>
            <a:endParaRPr lang="en-US" altLang="zh-CN"/>
          </a:p>
        </p:txBody>
      </p:sp>
      <p:sp>
        <p:nvSpPr>
          <p:cNvPr id="1105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9C145DF1-BDB4-4A40-99DF-76FED0F444AA}" type="slidenum">
              <a:rPr lang="en-US" altLang="zh-CN"/>
              <a:pPr>
                <a:spcBef>
                  <a:spcPct val="0"/>
                </a:spcBef>
              </a:pPr>
              <a:t>15</a:t>
            </a:fld>
            <a:endParaRPr lang="en-US" altLang="zh-CN"/>
          </a:p>
        </p:txBody>
      </p:sp>
      <p:sp>
        <p:nvSpPr>
          <p:cNvPr id="1116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675B8629-D4C4-4103-9BBE-EC122387E4FC}" type="slidenum">
              <a:rPr lang="en-US" altLang="zh-CN"/>
              <a:pPr>
                <a:spcBef>
                  <a:spcPct val="0"/>
                </a:spcBef>
              </a:pPr>
              <a:t>16</a:t>
            </a:fld>
            <a:endParaRPr lang="en-US" altLang="zh-CN"/>
          </a:p>
        </p:txBody>
      </p:sp>
      <p:sp>
        <p:nvSpPr>
          <p:cNvPr id="1126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B521C36-8271-496F-BE89-1B16CD070C87}" type="datetime1">
              <a:rPr lang="en-US" smtClean="0"/>
              <a:t>2/11/2026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80BBB6C9-A94A-4C19-A541-06B730F5974C}" type="slidenum">
              <a:rPr lang="en-US" smtClean="0"/>
              <a:pPr/>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1093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64400D-D415-49EF-B481-66A7A9747013}"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spTree>
    <p:extLst>
      <p:ext uri="{BB962C8B-B14F-4D97-AF65-F5344CB8AC3E}">
        <p14:creationId xmlns:p14="http://schemas.microsoft.com/office/powerpoint/2010/main" val="3024367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721CFA3-37DA-4B38-8408-EF9F273DDA4A}"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5972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806530-2A2E-4BF0-B1AE-8E7CF5A02B81}"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BBB6C9-A94A-4C19-A541-06B730F5974C}" type="slidenum">
              <a:rPr lang="en-US" smtClean="0"/>
              <a:pPr/>
              <a:t>‹#›</a:t>
            </a:fld>
            <a:endParaRPr lang="en-US"/>
          </a:p>
        </p:txBody>
      </p:sp>
    </p:spTree>
    <p:extLst>
      <p:ext uri="{BB962C8B-B14F-4D97-AF65-F5344CB8AC3E}">
        <p14:creationId xmlns:p14="http://schemas.microsoft.com/office/powerpoint/2010/main" val="3771763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79E657F-5F1C-4C79-8B71-E07FCF8338D3}" type="datetime1">
              <a:rPr lang="en-US" smtClean="0"/>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BBB6C9-A94A-4C19-A541-06B730F5974C}" type="slidenum">
              <a:rPr lang="en-US" smtClean="0"/>
              <a:pPr/>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8581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53BAD30-4C0A-40E6-8564-3EF4EFCF2A22}" type="datetime1">
              <a:rPr lang="en-US" smtClean="0"/>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BBB6C9-A94A-4C19-A541-06B730F5974C}" type="slidenum">
              <a:rPr lang="en-US" smtClean="0"/>
              <a:pPr/>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8277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E2B012-3CE0-458E-9217-B0A8061B0AA0}" type="datetime1">
              <a:rPr lang="en-US" smtClean="0"/>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BBB6C9-A94A-4C19-A541-06B730F5974C}" type="slidenum">
              <a:rPr lang="en-US" smtClean="0"/>
              <a:pPr/>
              <a:t>‹#›</a:t>
            </a:fld>
            <a:endParaRPr lang="en-US"/>
          </a:p>
        </p:txBody>
      </p:sp>
    </p:spTree>
    <p:extLst>
      <p:ext uri="{BB962C8B-B14F-4D97-AF65-F5344CB8AC3E}">
        <p14:creationId xmlns:p14="http://schemas.microsoft.com/office/powerpoint/2010/main" val="1817016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452C31-F020-43E5-97A9-9424ED25C3EF}"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BBB6C9-A94A-4C19-A541-06B730F5974C}" type="slidenum">
              <a:rPr lang="en-US" smtClean="0"/>
              <a:pPr/>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6157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249448-D2ED-4EA0-ABF4-BBD637F9FCFE}"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BBB6C9-A94A-4C19-A541-06B730F5974C}" type="slidenum">
              <a:rPr lang="en-US" smtClean="0"/>
              <a:pPr/>
              <a:t>‹#›</a:t>
            </a:fld>
            <a:endParaRPr lang="en-US"/>
          </a:p>
        </p:txBody>
      </p:sp>
    </p:spTree>
    <p:extLst>
      <p:ext uri="{BB962C8B-B14F-4D97-AF65-F5344CB8AC3E}">
        <p14:creationId xmlns:p14="http://schemas.microsoft.com/office/powerpoint/2010/main" val="925564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2CAF1F-2565-4AA3-995C-0A403A4819E2}"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BBB6C9-A94A-4C19-A541-06B730F5974C}" type="slidenum">
              <a:rPr lang="en-US" smtClean="0"/>
              <a:pPr/>
              <a:t>‹#›</a:t>
            </a:fld>
            <a:endParaRPr lang="en-US"/>
          </a:p>
        </p:txBody>
      </p:sp>
    </p:spTree>
    <p:extLst>
      <p:ext uri="{BB962C8B-B14F-4D97-AF65-F5344CB8AC3E}">
        <p14:creationId xmlns:p14="http://schemas.microsoft.com/office/powerpoint/2010/main" val="1591727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3FBBB6-A86D-422E-AD29-A863CAE94357}"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8595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5811B-DA07-411D-963D-0BEAAA67C713}"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7939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FA4DC1-FFCC-486F-B3D1-954AA3C2F4FB}"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spTree>
    <p:extLst>
      <p:ext uri="{BB962C8B-B14F-4D97-AF65-F5344CB8AC3E}">
        <p14:creationId xmlns:p14="http://schemas.microsoft.com/office/powerpoint/2010/main" val="422308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72777D9-D4C4-4F96-BACF-13509DCB761E}"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7554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E009784-114B-4570-BCB7-C6BD0C10DC90}"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390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19D9A39-6E4F-427C-BFC6-7734041822E4}"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5709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9FF469-B257-4326-BAFB-F21307505042}"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BBB6C9-A94A-4C19-A541-06B730F5974C}" type="slidenum">
              <a:rPr lang="en-US" smtClean="0"/>
              <a:pPr/>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139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8F7DA2-4809-4122-A584-0E8BBCCBF219}" type="datetime1">
              <a:rPr lang="en-US" smtClean="0"/>
              <a:t>2/11/2026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0BBB6C9-A94A-4C19-A541-06B730F5974C}" type="slidenum">
              <a:rPr lang="en-US" smtClean="0"/>
              <a:pPr/>
              <a:t>‹#›</a:t>
            </a:fld>
            <a:endParaRPr lang="en-US"/>
          </a:p>
        </p:txBody>
      </p:sp>
    </p:spTree>
    <p:extLst>
      <p:ext uri="{BB962C8B-B14F-4D97-AF65-F5344CB8AC3E}">
        <p14:creationId xmlns:p14="http://schemas.microsoft.com/office/powerpoint/2010/main" val="123187200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122363"/>
            <a:ext cx="7480300" cy="2387600"/>
          </a:xfrm>
        </p:spPr>
        <p:txBody>
          <a:bodyPr/>
          <a:lstStyle/>
          <a:p>
            <a:r>
              <a:rPr lang="en-US" dirty="0" smtClean="0"/>
              <a:t>SW Project Management</a:t>
            </a:r>
            <a:endParaRPr lang="en-US" dirty="0"/>
          </a:p>
        </p:txBody>
      </p:sp>
      <p:sp>
        <p:nvSpPr>
          <p:cNvPr id="3" name="Subtitle 2"/>
          <p:cNvSpPr>
            <a:spLocks noGrp="1"/>
          </p:cNvSpPr>
          <p:nvPr>
            <p:ph type="subTitle" idx="1"/>
          </p:nvPr>
        </p:nvSpPr>
        <p:spPr>
          <a:xfrm>
            <a:off x="2262554" y="3814354"/>
            <a:ext cx="7245513" cy="1410788"/>
          </a:xfrm>
        </p:spPr>
        <p:txBody>
          <a:bodyPr>
            <a:noAutofit/>
          </a:bodyPr>
          <a:lstStyle/>
          <a:p>
            <a:pPr>
              <a:lnSpc>
                <a:spcPct val="150000"/>
              </a:lnSpc>
            </a:pPr>
            <a:r>
              <a:rPr lang="en-US" sz="2400" b="1" dirty="0" smtClean="0"/>
              <a:t>Target group: Software Engineering </a:t>
            </a:r>
            <a:r>
              <a:rPr lang="en-US" sz="2400" b="1" dirty="0" smtClean="0"/>
              <a:t>3rd</a:t>
            </a:r>
            <a:r>
              <a:rPr lang="en-US" sz="2400" b="1" dirty="0" smtClean="0"/>
              <a:t> </a:t>
            </a:r>
            <a:r>
              <a:rPr lang="en-US" sz="2400" b="1" dirty="0" smtClean="0"/>
              <a:t>year students</a:t>
            </a:r>
            <a:endParaRPr lang="en-US" sz="2000" b="1" dirty="0" smtClean="0"/>
          </a:p>
          <a:p>
            <a:pPr>
              <a:lnSpc>
                <a:spcPct val="150000"/>
              </a:lnSpc>
            </a:pPr>
            <a:r>
              <a:rPr lang="en-US" sz="2400" b="1" dirty="0" smtClean="0"/>
              <a:t>Instructor: </a:t>
            </a:r>
            <a:r>
              <a:rPr lang="en-US" sz="2400" b="1" dirty="0" err="1" smtClean="0"/>
              <a:t>Azmeraw</a:t>
            </a:r>
            <a:r>
              <a:rPr lang="en-US" sz="2400" b="1" dirty="0" smtClean="0"/>
              <a:t> </a:t>
            </a:r>
            <a:r>
              <a:rPr lang="en-US" sz="2400" b="1" dirty="0" err="1" smtClean="0"/>
              <a:t>Dessalegn</a:t>
            </a:r>
            <a:endParaRPr lang="en-US" sz="2400" b="1" dirty="0" smtClean="0"/>
          </a:p>
          <a:p>
            <a:pPr>
              <a:lnSpc>
                <a:spcPct val="200000"/>
              </a:lnSpc>
            </a:pPr>
            <a:endParaRPr lang="en-US" sz="2400" dirty="0"/>
          </a:p>
        </p:txBody>
      </p:sp>
      <p:sp>
        <p:nvSpPr>
          <p:cNvPr id="4" name="Slide Number Placeholder 3"/>
          <p:cNvSpPr>
            <a:spLocks noGrp="1"/>
          </p:cNvSpPr>
          <p:nvPr>
            <p:ph type="sldNum" sz="quarter" idx="12"/>
          </p:nvPr>
        </p:nvSpPr>
        <p:spPr/>
        <p:txBody>
          <a:bodyPr/>
          <a:lstStyle/>
          <a:p>
            <a:fld id="{80BBB6C9-A94A-4C19-A541-06B730F5974C}" type="slidenum">
              <a:rPr lang="en-US" smtClean="0"/>
              <a:pPr/>
              <a:t>1</a:t>
            </a:fld>
            <a:endParaRPr lang="en-US"/>
          </a:p>
        </p:txBody>
      </p:sp>
    </p:spTree>
    <p:extLst>
      <p:ext uri="{BB962C8B-B14F-4D97-AF65-F5344CB8AC3E}">
        <p14:creationId xmlns:p14="http://schemas.microsoft.com/office/powerpoint/2010/main" val="1872101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122363"/>
            <a:ext cx="7480300" cy="2387600"/>
          </a:xfrm>
        </p:spPr>
        <p:txBody>
          <a:bodyPr/>
          <a:lstStyle/>
          <a:p>
            <a:r>
              <a:rPr lang="en-US" dirty="0" smtClean="0"/>
              <a:t>Chapter one</a:t>
            </a:r>
            <a:endParaRPr lang="en-US" dirty="0"/>
          </a:p>
        </p:txBody>
      </p:sp>
      <p:sp>
        <p:nvSpPr>
          <p:cNvPr id="3" name="Subtitle 2"/>
          <p:cNvSpPr>
            <a:spLocks noGrp="1"/>
          </p:cNvSpPr>
          <p:nvPr>
            <p:ph type="subTitle" idx="1"/>
          </p:nvPr>
        </p:nvSpPr>
        <p:spPr/>
        <p:txBody>
          <a:bodyPr>
            <a:normAutofit/>
          </a:bodyPr>
          <a:lstStyle/>
          <a:p>
            <a:pPr>
              <a:lnSpc>
                <a:spcPct val="200000"/>
              </a:lnSpc>
            </a:pPr>
            <a:r>
              <a:rPr lang="en-US" sz="3600" dirty="0" smtClean="0"/>
              <a:t>Introduction</a:t>
            </a:r>
          </a:p>
          <a:p>
            <a:pPr>
              <a:lnSpc>
                <a:spcPct val="200000"/>
              </a:lnSpc>
            </a:pPr>
            <a:endParaRPr lang="en-US" dirty="0"/>
          </a:p>
        </p:txBody>
      </p:sp>
      <p:sp>
        <p:nvSpPr>
          <p:cNvPr id="4" name="Slide Number Placeholder 3"/>
          <p:cNvSpPr>
            <a:spLocks noGrp="1"/>
          </p:cNvSpPr>
          <p:nvPr>
            <p:ph type="sldNum" sz="quarter" idx="12"/>
          </p:nvPr>
        </p:nvSpPr>
        <p:spPr/>
        <p:txBody>
          <a:bodyPr/>
          <a:lstStyle/>
          <a:p>
            <a:fld id="{80BBB6C9-A94A-4C19-A541-06B730F5974C}" type="slidenum">
              <a:rPr lang="en-US" smtClean="0"/>
              <a:pPr/>
              <a:t>2</a:t>
            </a:fld>
            <a:endParaRPr lang="en-US"/>
          </a:p>
        </p:txBody>
      </p:sp>
    </p:spTree>
    <p:extLst>
      <p:ext uri="{BB962C8B-B14F-4D97-AF65-F5344CB8AC3E}">
        <p14:creationId xmlns:p14="http://schemas.microsoft.com/office/powerpoint/2010/main" val="32265994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926123" y="1065946"/>
            <a:ext cx="10363200" cy="944562"/>
          </a:xfrm>
        </p:spPr>
        <p:txBody>
          <a:bodyPr/>
          <a:lstStyle/>
          <a:p>
            <a:pPr eaLnBrk="1" hangingPunct="1"/>
            <a:r>
              <a:rPr lang="en-US" altLang="en-US" b="1" dirty="0" smtClean="0">
                <a:solidFill>
                  <a:srgbClr val="2309E1"/>
                </a:solidFill>
              </a:rPr>
              <a:t>Management Spectrum</a:t>
            </a:r>
            <a:endParaRPr lang="en-US" altLang="en-US" dirty="0" smtClean="0">
              <a:solidFill>
                <a:srgbClr val="2309E1"/>
              </a:solidFill>
            </a:endParaRPr>
          </a:p>
        </p:txBody>
      </p:sp>
      <p:sp>
        <p:nvSpPr>
          <p:cNvPr id="3" name="Content Placeholder 2"/>
          <p:cNvSpPr>
            <a:spLocks noGrp="1"/>
          </p:cNvSpPr>
          <p:nvPr>
            <p:ph idx="1"/>
          </p:nvPr>
        </p:nvSpPr>
        <p:spPr>
          <a:xfrm>
            <a:off x="1016001" y="2505808"/>
            <a:ext cx="10363200" cy="4762500"/>
          </a:xfrm>
        </p:spPr>
        <p:txBody>
          <a:bodyPr rtlCol="0">
            <a:noAutofit/>
          </a:bodyPr>
          <a:lstStyle/>
          <a:p>
            <a:pPr marL="568325" indent="-342900" algn="just" eaLnBrk="1" fontAlgn="auto" hangingPunct="1">
              <a:lnSpc>
                <a:spcPct val="90000"/>
              </a:lnSpc>
              <a:spcAft>
                <a:spcPts val="0"/>
              </a:spcAft>
              <a:buClr>
                <a:schemeClr val="accent3"/>
              </a:buClr>
              <a:buFont typeface="Wingdings" panose="05000000000000000000" pitchFamily="2" charset="2"/>
              <a:buChar char="§"/>
              <a:tabLst>
                <a:tab pos="225425" algn="l"/>
              </a:tabLst>
              <a:defRPr/>
            </a:pPr>
            <a:r>
              <a:rPr lang="en-US" sz="2400" dirty="0" smtClean="0">
                <a:solidFill>
                  <a:schemeClr val="tx1">
                    <a:lumMod val="75000"/>
                    <a:lumOff val="25000"/>
                  </a:schemeClr>
                </a:solidFill>
                <a:latin typeface="Comic Sans MS" panose="030F0702030302020204" pitchFamily="66" charset="0"/>
                <a:ea typeface="MS Gothic" panose="020B0609070205080204" pitchFamily="49" charset="-128"/>
              </a:rPr>
              <a:t> </a:t>
            </a:r>
            <a:r>
              <a:rPr lang="en-US" sz="2400" dirty="0" smtClean="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Effective </a:t>
            </a:r>
            <a:r>
              <a:rPr lang="en-US" sz="2400" dirty="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software project management focuses on the four </a:t>
            </a:r>
            <a:r>
              <a:rPr lang="en-US" sz="2400" dirty="0" smtClean="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main element of management, the 4 P’s</a:t>
            </a:r>
            <a:r>
              <a:rPr lang="en-US" sz="2400" dirty="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a:t>
            </a:r>
          </a:p>
          <a:p>
            <a:pPr lvl="1" eaLnBrk="1" fontAlgn="auto" hangingPunct="1">
              <a:lnSpc>
                <a:spcPct val="90000"/>
              </a:lnSpc>
              <a:spcAft>
                <a:spcPts val="0"/>
              </a:spcAft>
              <a:buClr>
                <a:schemeClr val="accent3"/>
              </a:buClr>
              <a:buFont typeface="Wingdings" panose="05000000000000000000" pitchFamily="2" charset="2"/>
              <a:buChar char="v"/>
              <a:defRPr/>
            </a:pPr>
            <a:r>
              <a:rPr lang="en-US" sz="2400" dirty="0">
                <a:solidFill>
                  <a:srgbClr val="FF0000"/>
                </a:solidFill>
                <a:latin typeface="Times New Roman" panose="02020603050405020304" pitchFamily="18" charset="0"/>
                <a:ea typeface="MS Gothic" panose="020B0609070205080204" pitchFamily="49" charset="-128"/>
                <a:cs typeface="Times New Roman" panose="02020603050405020304" pitchFamily="18" charset="0"/>
              </a:rPr>
              <a:t>People </a:t>
            </a:r>
            <a:r>
              <a:rPr lang="en-US" sz="2400" dirty="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 the most important element of a successful </a:t>
            </a:r>
            <a:r>
              <a:rPr lang="en-US" sz="2400" dirty="0" smtClean="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project</a:t>
            </a:r>
          </a:p>
          <a:p>
            <a:pPr lvl="1" eaLnBrk="1" fontAlgn="auto" hangingPunct="1">
              <a:lnSpc>
                <a:spcPct val="90000"/>
              </a:lnSpc>
              <a:spcAft>
                <a:spcPts val="0"/>
              </a:spcAft>
              <a:buClr>
                <a:schemeClr val="accent3"/>
              </a:buClr>
              <a:buFont typeface="Wingdings" panose="05000000000000000000" pitchFamily="2" charset="2"/>
              <a:buChar char="v"/>
              <a:defRPr/>
            </a:pPr>
            <a:r>
              <a:rPr lang="en-US" sz="2400" dirty="0" smtClean="0">
                <a:solidFill>
                  <a:srgbClr val="FF0000"/>
                </a:solidFill>
                <a:latin typeface="Times New Roman" panose="02020603050405020304" pitchFamily="18" charset="0"/>
                <a:ea typeface="MS Gothic" panose="020B0609070205080204" pitchFamily="49" charset="-128"/>
                <a:cs typeface="Times New Roman" panose="02020603050405020304" pitchFamily="18" charset="0"/>
              </a:rPr>
              <a:t>Product </a:t>
            </a:r>
            <a:r>
              <a:rPr lang="en-US" sz="2400" dirty="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 the software to be </a:t>
            </a:r>
            <a:r>
              <a:rPr lang="en-US" sz="2400" dirty="0" smtClean="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built</a:t>
            </a:r>
          </a:p>
          <a:p>
            <a:pPr lvl="1" eaLnBrk="1" fontAlgn="auto" hangingPunct="1">
              <a:lnSpc>
                <a:spcPct val="90000"/>
              </a:lnSpc>
              <a:spcAft>
                <a:spcPts val="0"/>
              </a:spcAft>
              <a:buClr>
                <a:schemeClr val="accent3"/>
              </a:buClr>
              <a:buFont typeface="Wingdings" panose="05000000000000000000" pitchFamily="2" charset="2"/>
              <a:buChar char="v"/>
              <a:defRPr/>
            </a:pPr>
            <a:r>
              <a:rPr lang="en-US" sz="2400" dirty="0" smtClean="0">
                <a:solidFill>
                  <a:srgbClr val="FF0000"/>
                </a:solidFill>
                <a:latin typeface="Times New Roman" panose="02020603050405020304" pitchFamily="18" charset="0"/>
                <a:ea typeface="MS Gothic" panose="020B0609070205080204" pitchFamily="49" charset="-128"/>
                <a:cs typeface="Times New Roman" panose="02020603050405020304" pitchFamily="18" charset="0"/>
              </a:rPr>
              <a:t>Process </a:t>
            </a:r>
            <a:r>
              <a:rPr lang="en-US" sz="2400" dirty="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 the set of framework activities and software engineering tasks to get the job </a:t>
            </a:r>
            <a:r>
              <a:rPr lang="en-US" sz="2400" dirty="0" smtClean="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done</a:t>
            </a:r>
          </a:p>
          <a:p>
            <a:pPr lvl="1" eaLnBrk="1" fontAlgn="auto" hangingPunct="1">
              <a:lnSpc>
                <a:spcPct val="90000"/>
              </a:lnSpc>
              <a:spcAft>
                <a:spcPts val="0"/>
              </a:spcAft>
              <a:buClr>
                <a:schemeClr val="accent3"/>
              </a:buClr>
              <a:buFont typeface="Wingdings" panose="05000000000000000000" pitchFamily="2" charset="2"/>
              <a:buChar char="v"/>
              <a:defRPr/>
            </a:pPr>
            <a:r>
              <a:rPr lang="en-US" sz="2400" dirty="0" smtClean="0">
                <a:solidFill>
                  <a:srgbClr val="FF0000"/>
                </a:solidFill>
                <a:latin typeface="Times New Roman" panose="02020603050405020304" pitchFamily="18" charset="0"/>
                <a:ea typeface="MS Gothic" panose="020B0609070205080204" pitchFamily="49" charset="-128"/>
                <a:cs typeface="Times New Roman" panose="02020603050405020304" pitchFamily="18" charset="0"/>
              </a:rPr>
              <a:t>Project </a:t>
            </a:r>
            <a:r>
              <a:rPr lang="en-US" sz="2400" dirty="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 all work required to make the product a </a:t>
            </a:r>
            <a:r>
              <a:rPr lang="en-US" sz="2400" dirty="0" smtClean="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reality</a:t>
            </a:r>
          </a:p>
          <a:p>
            <a:pPr eaLnBrk="1" fontAlgn="auto" hangingPunct="1">
              <a:lnSpc>
                <a:spcPct val="90000"/>
              </a:lnSpc>
              <a:spcAft>
                <a:spcPts val="0"/>
              </a:spcAft>
              <a:buClr>
                <a:schemeClr val="accent3"/>
              </a:buClr>
              <a:buFont typeface="Wingdings" panose="05000000000000000000" pitchFamily="2" charset="2"/>
              <a:buChar char="§"/>
              <a:defRPr/>
            </a:pPr>
            <a:r>
              <a:rPr lang="en-US" sz="2400" dirty="0" smtClean="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rPr>
              <a:t>The manager has to give equal attention on each (manager has to know all attributes in each P’s)</a:t>
            </a:r>
            <a:endParaRPr lang="en-US" sz="2400" dirty="0">
              <a:solidFill>
                <a:schemeClr val="tx1">
                  <a:lumMod val="75000"/>
                  <a:lumOff val="25000"/>
                </a:schemeClr>
              </a:solidFill>
              <a:latin typeface="Times New Roman" panose="02020603050405020304" pitchFamily="18" charset="0"/>
              <a:ea typeface="MS Gothic" panose="020B0609070205080204" pitchFamily="49" charset="-128"/>
              <a:cs typeface="Times New Roman" panose="02020603050405020304" pitchFamily="18" charset="0"/>
            </a:endParaRPr>
          </a:p>
          <a:p>
            <a:pPr eaLnBrk="1" fontAlgn="auto" hangingPunct="1">
              <a:spcAft>
                <a:spcPts val="0"/>
              </a:spcAft>
              <a:buFont typeface="Wingdings 3" charset="2"/>
              <a:buChar char=""/>
              <a:defRPr/>
            </a:pPr>
            <a:endParaRPr lang="en-US" sz="2400" dirty="0">
              <a:solidFill>
                <a:schemeClr val="tx1">
                  <a:lumMod val="75000"/>
                  <a:lumOff val="25000"/>
                </a:schemeClr>
              </a:solidFill>
              <a:latin typeface="Comic Sans MS" panose="030F0702030302020204" pitchFamily="66" charset="0"/>
            </a:endParaRPr>
          </a:p>
        </p:txBody>
      </p:sp>
      <p:sp>
        <p:nvSpPr>
          <p:cNvPr id="1229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15A44C04-8258-4E00-A688-B0137D750774}" type="slidenum">
              <a:rPr lang="en-US" altLang="en-US" sz="1400">
                <a:solidFill>
                  <a:srgbClr val="FFFFFF"/>
                </a:solidFill>
                <a:latin typeface="Franklin Gothic Book" pitchFamily="34" charset="0"/>
                <a:cs typeface="Arial" pitchFamily="34" charset="0"/>
              </a:rPr>
              <a:pPr>
                <a:spcBef>
                  <a:spcPct val="0"/>
                </a:spcBef>
                <a:buClrTx/>
                <a:buSzTx/>
                <a:buFontTx/>
                <a:buNone/>
              </a:pPr>
              <a:t>3</a:t>
            </a:fld>
            <a:endParaRPr lang="en-US" altLang="en-US" sz="1400">
              <a:solidFill>
                <a:srgbClr val="FFFFFF"/>
              </a:solidFill>
              <a:latin typeface="Franklin Gothic Book" pitchFamily="34" charset="0"/>
              <a:cs typeface="Arial" pitchFamily="34" charset="0"/>
            </a:endParaRPr>
          </a:p>
        </p:txBody>
      </p:sp>
      <p:pic>
        <p:nvPicPr>
          <p:cNvPr id="1229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45785" y="1515208"/>
            <a:ext cx="2224617"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31768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683890"/>
          <a:ext cx="10769600" cy="4906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31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CD7ED944-0638-409D-95C7-634557EB1B64}" type="slidenum">
              <a:rPr lang="en-US" altLang="en-US" sz="1400">
                <a:solidFill>
                  <a:srgbClr val="FFFFFF"/>
                </a:solidFill>
                <a:latin typeface="Franklin Gothic Book" pitchFamily="34" charset="0"/>
                <a:cs typeface="Arial" pitchFamily="34" charset="0"/>
              </a:rPr>
              <a:pPr>
                <a:spcBef>
                  <a:spcPct val="0"/>
                </a:spcBef>
                <a:buClrTx/>
                <a:buSzTx/>
                <a:buFontTx/>
                <a:buNone/>
              </a:pPr>
              <a:t>4</a:t>
            </a:fld>
            <a:endParaRPr lang="en-US" altLang="en-US" sz="1400">
              <a:solidFill>
                <a:srgbClr val="FFFFFF"/>
              </a:solidFill>
              <a:latin typeface="Franklin Gothic Book" pitchFamily="34" charset="0"/>
              <a:cs typeface="Arial" pitchFamily="34" charset="0"/>
            </a:endParaRPr>
          </a:p>
        </p:txBody>
      </p:sp>
      <p:sp>
        <p:nvSpPr>
          <p:cNvPr id="13316" name="Rectangle 8"/>
          <p:cNvSpPr>
            <a:spLocks noChangeArrowheads="1"/>
          </p:cNvSpPr>
          <p:nvPr/>
        </p:nvSpPr>
        <p:spPr bwMode="auto">
          <a:xfrm>
            <a:off x="965200" y="771656"/>
            <a:ext cx="10160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US" altLang="en-US" sz="3200" dirty="0">
                <a:solidFill>
                  <a:srgbClr val="0000CC"/>
                </a:solidFill>
                <a:latin typeface="Arial" pitchFamily="34" charset="0"/>
              </a:rPr>
              <a:t>Effective SW Project Management focuses on the 4 P’s</a:t>
            </a:r>
          </a:p>
        </p:txBody>
      </p:sp>
      <p:pic>
        <p:nvPicPr>
          <p:cNvPr id="13317"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53600" y="1697038"/>
            <a:ext cx="22352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22512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2309E1"/>
                </a:solidFill>
              </a:rPr>
              <a:t>Why </a:t>
            </a:r>
            <a:r>
              <a:rPr lang="en-US" dirty="0" smtClean="0">
                <a:solidFill>
                  <a:srgbClr val="2309E1"/>
                </a:solidFill>
              </a:rPr>
              <a:t>need to </a:t>
            </a:r>
            <a:r>
              <a:rPr lang="en-US" dirty="0">
                <a:solidFill>
                  <a:srgbClr val="2309E1"/>
                </a:solidFill>
              </a:rPr>
              <a:t>study SPM?</a:t>
            </a:r>
          </a:p>
        </p:txBody>
      </p:sp>
      <p:sp>
        <p:nvSpPr>
          <p:cNvPr id="3" name="Content Placeholder 2"/>
          <p:cNvSpPr>
            <a:spLocks noGrp="1"/>
          </p:cNvSpPr>
          <p:nvPr>
            <p:ph idx="1"/>
          </p:nvPr>
        </p:nvSpPr>
        <p:spPr/>
        <p:txBody>
          <a:bodyPr>
            <a:noAutofit/>
          </a:bodyPr>
          <a:lstStyle/>
          <a:p>
            <a:pPr>
              <a:lnSpc>
                <a:spcPct val="150000"/>
              </a:lnSpc>
            </a:pPr>
            <a:r>
              <a:rPr lang="en-US" dirty="0" smtClean="0"/>
              <a:t>The </a:t>
            </a:r>
            <a:r>
              <a:rPr lang="en-US" b="1" dirty="0"/>
              <a:t>€339 million </a:t>
            </a:r>
            <a:r>
              <a:rPr lang="en-US" dirty="0"/>
              <a:t>United Kingdom air traffic control system was reported as being two years </a:t>
            </a:r>
            <a:r>
              <a:rPr lang="en-US" b="1" dirty="0"/>
              <a:t>behind schedule</a:t>
            </a:r>
            <a:r>
              <a:rPr lang="en-US" dirty="0"/>
              <a:t>;</a:t>
            </a:r>
          </a:p>
          <a:p>
            <a:pPr marL="285750" lvl="1">
              <a:lnSpc>
                <a:spcPct val="150000"/>
              </a:lnSpc>
            </a:pPr>
            <a:r>
              <a:rPr lang="en-US" sz="2400" dirty="0"/>
              <a:t>A 1995 Standish Group study (CHAOS) found that only </a:t>
            </a:r>
            <a:r>
              <a:rPr lang="en-US" sz="2400" b="1" dirty="0"/>
              <a:t>16.2%</a:t>
            </a:r>
            <a:r>
              <a:rPr lang="en-US" sz="2400" dirty="0"/>
              <a:t> of IS projects were successful and over 31% were canceled before completion, costing over $81 B in the U.S. </a:t>
            </a:r>
            <a:r>
              <a:rPr lang="en-US" sz="2400" dirty="0" smtClean="0"/>
              <a:t>alone.</a:t>
            </a:r>
          </a:p>
          <a:p>
            <a:pPr marL="285750" lvl="1">
              <a:lnSpc>
                <a:spcPct val="150000"/>
              </a:lnSpc>
            </a:pPr>
            <a:r>
              <a:rPr lang="en-US" sz="2400" b="1" dirty="0">
                <a:solidFill>
                  <a:srgbClr val="FF0000"/>
                </a:solidFill>
              </a:rPr>
              <a:t>Worldwide cost of IT failure (revisited): $3 trillion</a:t>
            </a:r>
          </a:p>
          <a:p>
            <a:pPr marL="285750" lvl="1">
              <a:lnSpc>
                <a:spcPct val="150000"/>
              </a:lnSpc>
            </a:pPr>
            <a:endParaRPr lang="en-US" sz="2400" dirty="0"/>
          </a:p>
          <a:p>
            <a:endParaRPr lang="en-US" dirty="0"/>
          </a:p>
        </p:txBody>
      </p:sp>
      <p:sp>
        <p:nvSpPr>
          <p:cNvPr id="4" name="Slide Number Placeholder 3"/>
          <p:cNvSpPr>
            <a:spLocks noGrp="1"/>
          </p:cNvSpPr>
          <p:nvPr>
            <p:ph type="sldNum" sz="quarter" idx="12"/>
          </p:nvPr>
        </p:nvSpPr>
        <p:spPr/>
        <p:txBody>
          <a:bodyPr/>
          <a:lstStyle/>
          <a:p>
            <a:fld id="{80BBB6C9-A94A-4C19-A541-06B730F5974C}" type="slidenum">
              <a:rPr lang="en-US" smtClean="0"/>
              <a:pPr/>
              <a:t>5</a:t>
            </a:fld>
            <a:endParaRPr lang="en-US"/>
          </a:p>
        </p:txBody>
      </p:sp>
    </p:spTree>
    <p:extLst>
      <p:ext uri="{BB962C8B-B14F-4D97-AF65-F5344CB8AC3E}">
        <p14:creationId xmlns:p14="http://schemas.microsoft.com/office/powerpoint/2010/main" val="35608752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2008189" y="1016001"/>
            <a:ext cx="8888409" cy="1400175"/>
          </a:xfrm>
        </p:spPr>
        <p:txBody>
          <a:bodyPr>
            <a:normAutofit/>
          </a:bodyPr>
          <a:lstStyle/>
          <a:p>
            <a:r>
              <a:rPr lang="en-US" dirty="0">
                <a:solidFill>
                  <a:srgbClr val="2309E1"/>
                </a:solidFill>
              </a:rPr>
              <a:t>Causes of Project Management Failure</a:t>
            </a:r>
          </a:p>
        </p:txBody>
      </p:sp>
      <p:sp>
        <p:nvSpPr>
          <p:cNvPr id="3" name="Content Placeholder 2"/>
          <p:cNvSpPr>
            <a:spLocks noGrp="1"/>
          </p:cNvSpPr>
          <p:nvPr>
            <p:ph idx="1"/>
          </p:nvPr>
        </p:nvSpPr>
        <p:spPr>
          <a:xfrm>
            <a:off x="2008189" y="2514600"/>
            <a:ext cx="8153400" cy="3594100"/>
          </a:xfrm>
        </p:spPr>
        <p:txBody>
          <a:bodyPr rtlCol="0">
            <a:normAutofit/>
          </a:bodyPr>
          <a:lstStyle/>
          <a:p>
            <a:pPr defTabSz="457207">
              <a:lnSpc>
                <a:spcPct val="150000"/>
              </a:lnSpc>
              <a:spcAft>
                <a:spcPts val="0"/>
              </a:spcAft>
              <a:buClr>
                <a:schemeClr val="accent4">
                  <a:lumMod val="75000"/>
                </a:schemeClr>
              </a:buClr>
              <a:buFont typeface="Wingdings" panose="05000000000000000000" pitchFamily="2" charset="2"/>
              <a:buChar char="§"/>
              <a:defRPr/>
            </a:pPr>
            <a:r>
              <a:rPr lang="en-US" dirty="0"/>
              <a:t>Bad Communications</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Poor schedule or resource Management (mismanagement)</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Weak requirements definitions (leads to inadequate planning)</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Inadequate planning, assumptions, risks, or resources</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Use of new or unproven technologies/methods</a:t>
            </a:r>
          </a:p>
          <a:p>
            <a:pPr marL="342906" indent="-342906" defTabSz="457207">
              <a:lnSpc>
                <a:spcPct val="150000"/>
              </a:lnSpc>
              <a:spcAft>
                <a:spcPts val="0"/>
              </a:spcAft>
              <a:buClr>
                <a:schemeClr val="bg2">
                  <a:lumMod val="40000"/>
                  <a:lumOff val="60000"/>
                </a:schemeClr>
              </a:buClr>
              <a:buFont typeface="Wingdings 3" charset="2"/>
              <a:buChar char=""/>
              <a:defRPr/>
            </a:pPr>
            <a:endParaRPr lang="en-US" dirty="0"/>
          </a:p>
        </p:txBody>
      </p:sp>
      <p:sp>
        <p:nvSpPr>
          <p:cNvPr id="4" name="Slide Number Placeholder 3"/>
          <p:cNvSpPr>
            <a:spLocks noGrp="1"/>
          </p:cNvSpPr>
          <p:nvPr>
            <p:ph type="sldNum" sz="quarter" idx="12"/>
          </p:nvPr>
        </p:nvSpPr>
        <p:spPr/>
        <p:txBody>
          <a:bodyPr/>
          <a:lstStyle/>
          <a:p>
            <a:pPr>
              <a:defRPr/>
            </a:pPr>
            <a:fld id="{AED89645-FCB2-4F33-8B63-3CC75F90F5AB}" type="slidenum">
              <a:rPr lang="en-GB" altLang="en-US"/>
              <a:pPr>
                <a:defRPr/>
              </a:pPr>
              <a:t>6</a:t>
            </a:fld>
            <a:endParaRPr lang="en-GB" altLang="en-US"/>
          </a:p>
        </p:txBody>
      </p:sp>
    </p:spTree>
    <p:extLst>
      <p:ext uri="{BB962C8B-B14F-4D97-AF65-F5344CB8AC3E}">
        <p14:creationId xmlns:p14="http://schemas.microsoft.com/office/powerpoint/2010/main" val="36809474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dirty="0">
                <a:solidFill>
                  <a:srgbClr val="2309E1"/>
                </a:solidFill>
              </a:rPr>
              <a:t>Causes of Project Management Failure</a:t>
            </a:r>
          </a:p>
        </p:txBody>
      </p:sp>
      <p:sp>
        <p:nvSpPr>
          <p:cNvPr id="3" name="Content Placeholder 2"/>
          <p:cNvSpPr>
            <a:spLocks noGrp="1"/>
          </p:cNvSpPr>
          <p:nvPr>
            <p:ph idx="1"/>
          </p:nvPr>
        </p:nvSpPr>
        <p:spPr/>
        <p:txBody>
          <a:bodyPr/>
          <a:lstStyle/>
          <a:p>
            <a:pPr defTabSz="457207">
              <a:lnSpc>
                <a:spcPct val="150000"/>
              </a:lnSpc>
              <a:spcAft>
                <a:spcPts val="0"/>
              </a:spcAft>
              <a:buClr>
                <a:schemeClr val="accent4">
                  <a:lumMod val="75000"/>
                </a:schemeClr>
              </a:buClr>
              <a:buFont typeface="Wingdings" panose="05000000000000000000" pitchFamily="2" charset="2"/>
              <a:buChar char="§"/>
              <a:defRPr/>
            </a:pPr>
            <a:r>
              <a:rPr lang="en-US" dirty="0"/>
              <a:t>Ineffective (or nonexistent) quality controls</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Managing multiple projects at once or multi-tasking resources</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Supply chain failures</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Scope creep or poor impact analysis</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a:t>Lack of qualified resources</a:t>
            </a:r>
          </a:p>
          <a:p>
            <a:pPr>
              <a:lnSpc>
                <a:spcPct val="150000"/>
              </a:lnSpc>
            </a:pPr>
            <a:endParaRPr lang="en-US" dirty="0"/>
          </a:p>
        </p:txBody>
      </p:sp>
      <p:sp>
        <p:nvSpPr>
          <p:cNvPr id="2" name="Slide Number Placeholder 1"/>
          <p:cNvSpPr>
            <a:spLocks noGrp="1"/>
          </p:cNvSpPr>
          <p:nvPr>
            <p:ph type="sldNum" sz="quarter" idx="12"/>
          </p:nvPr>
        </p:nvSpPr>
        <p:spPr/>
        <p:txBody>
          <a:bodyPr/>
          <a:lstStyle/>
          <a:p>
            <a:fld id="{80BBB6C9-A94A-4C19-A541-06B730F5974C}" type="slidenum">
              <a:rPr lang="en-US" smtClean="0"/>
              <a:pPr/>
              <a:t>7</a:t>
            </a:fld>
            <a:endParaRPr lang="en-US"/>
          </a:p>
        </p:txBody>
      </p:sp>
    </p:spTree>
    <p:extLst>
      <p:ext uri="{BB962C8B-B14F-4D97-AF65-F5344CB8AC3E}">
        <p14:creationId xmlns:p14="http://schemas.microsoft.com/office/powerpoint/2010/main" val="24005568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046289" y="825501"/>
            <a:ext cx="7999411" cy="1400175"/>
          </a:xfrm>
        </p:spPr>
        <p:txBody>
          <a:bodyPr>
            <a:noAutofit/>
          </a:bodyPr>
          <a:lstStyle/>
          <a:p>
            <a:r>
              <a:rPr lang="en-US" dirty="0">
                <a:solidFill>
                  <a:srgbClr val="2309E1"/>
                </a:solidFill>
              </a:rPr>
              <a:t>Advantages of Using Formal </a:t>
            </a:r>
            <a:r>
              <a:rPr lang="en-US" dirty="0" smtClean="0">
                <a:solidFill>
                  <a:srgbClr val="2309E1"/>
                </a:solidFill>
              </a:rPr>
              <a:t>SPM</a:t>
            </a:r>
            <a:endParaRPr lang="en-US" dirty="0">
              <a:solidFill>
                <a:srgbClr val="2309E1"/>
              </a:solidFill>
            </a:endParaRPr>
          </a:p>
        </p:txBody>
      </p:sp>
      <p:sp>
        <p:nvSpPr>
          <p:cNvPr id="8195" name="Rectangle 3"/>
          <p:cNvSpPr>
            <a:spLocks noGrp="1" noChangeArrowheads="1"/>
          </p:cNvSpPr>
          <p:nvPr>
            <p:ph idx="1"/>
          </p:nvPr>
        </p:nvSpPr>
        <p:spPr>
          <a:xfrm>
            <a:off x="1676400" y="2578100"/>
            <a:ext cx="9067800" cy="3441700"/>
          </a:xfrm>
        </p:spPr>
        <p:txBody>
          <a:bodyPr rtlCol="0">
            <a:noAutofit/>
          </a:bodyPr>
          <a:lstStyle/>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smtClean="0"/>
              <a:t>Better control of financial, physical, and human resources</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smtClean="0"/>
              <a:t>Improved customer relations</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smtClean="0"/>
              <a:t>Shorter development times</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smtClean="0"/>
              <a:t>Lower costs</a:t>
            </a:r>
          </a:p>
        </p:txBody>
      </p:sp>
      <p:sp>
        <p:nvSpPr>
          <p:cNvPr id="8196"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FF35CA04-B7E2-48DE-99F4-70A4377ADDFC}" type="slidenum">
              <a:rPr lang="en-GB" altLang="en-US">
                <a:solidFill>
                  <a:srgbClr val="FFFFFF"/>
                </a:solidFill>
              </a:rPr>
              <a:pPr>
                <a:defRPr/>
              </a:pPr>
              <a:t>8</a:t>
            </a:fld>
            <a:endParaRPr lang="en-GB" altLang="en-US">
              <a:solidFill>
                <a:srgbClr val="FFFFFF"/>
              </a:solidFill>
            </a:endParaRPr>
          </a:p>
        </p:txBody>
      </p:sp>
    </p:spTree>
    <p:extLst>
      <p:ext uri="{BB962C8B-B14F-4D97-AF65-F5344CB8AC3E}">
        <p14:creationId xmlns:p14="http://schemas.microsoft.com/office/powerpoint/2010/main" val="9692652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noAutofit/>
          </a:bodyPr>
          <a:lstStyle/>
          <a:p>
            <a:r>
              <a:rPr lang="en-US" dirty="0">
                <a:solidFill>
                  <a:srgbClr val="2309E1"/>
                </a:solidFill>
              </a:rPr>
              <a:t>Advantages of Using Formal </a:t>
            </a:r>
            <a:r>
              <a:rPr lang="en-US" dirty="0" smtClean="0">
                <a:solidFill>
                  <a:srgbClr val="2309E1"/>
                </a:solidFill>
              </a:rPr>
              <a:t>SPM</a:t>
            </a:r>
            <a:endParaRPr lang="en-US" dirty="0">
              <a:solidFill>
                <a:srgbClr val="2309E1"/>
              </a:solidFill>
            </a:endParaRPr>
          </a:p>
        </p:txBody>
      </p:sp>
      <p:sp>
        <p:nvSpPr>
          <p:cNvPr id="3" name="Content Placeholder 2"/>
          <p:cNvSpPr>
            <a:spLocks noGrp="1"/>
          </p:cNvSpPr>
          <p:nvPr>
            <p:ph idx="1"/>
          </p:nvPr>
        </p:nvSpPr>
        <p:spPr/>
        <p:txBody>
          <a:bodyPr>
            <a:normAutofit fontScale="92500" lnSpcReduction="10000"/>
          </a:bodyPr>
          <a:lstStyle/>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a:t>Higher quality and increased reliability</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a:t>Higher profit margins</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a:t>Improved productivity</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a:t>Better internal coordination</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sz="2800" dirty="0"/>
              <a:t>Higher worker morale</a:t>
            </a:r>
          </a:p>
          <a:p>
            <a:endParaRPr lang="en-US" dirty="0"/>
          </a:p>
        </p:txBody>
      </p:sp>
      <p:sp>
        <p:nvSpPr>
          <p:cNvPr id="2" name="Slide Number Placeholder 1"/>
          <p:cNvSpPr>
            <a:spLocks noGrp="1"/>
          </p:cNvSpPr>
          <p:nvPr>
            <p:ph type="sldNum" sz="quarter" idx="12"/>
          </p:nvPr>
        </p:nvSpPr>
        <p:spPr/>
        <p:txBody>
          <a:bodyPr/>
          <a:lstStyle/>
          <a:p>
            <a:fld id="{80BBB6C9-A94A-4C19-A541-06B730F5974C}" type="slidenum">
              <a:rPr lang="en-US" smtClean="0"/>
              <a:pPr/>
              <a:t>9</a:t>
            </a:fld>
            <a:endParaRPr lang="en-US"/>
          </a:p>
        </p:txBody>
      </p:sp>
    </p:spTree>
    <p:extLst>
      <p:ext uri="{BB962C8B-B14F-4D97-AF65-F5344CB8AC3E}">
        <p14:creationId xmlns:p14="http://schemas.microsoft.com/office/powerpoint/2010/main" val="11373451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p:txBody>
          <a:bodyPr>
            <a:normAutofit/>
          </a:bodyPr>
          <a:lstStyle/>
          <a:p>
            <a:pPr lvl="1" algn="ctr" defTabSz="457200" rtl="0">
              <a:spcBef>
                <a:spcPct val="0"/>
              </a:spcBef>
            </a:pPr>
            <a:r>
              <a:rPr lang="en-US" sz="3200" dirty="0">
                <a:solidFill>
                  <a:srgbClr val="2309E1"/>
                </a:solidFill>
              </a:rPr>
              <a:t>Software engineering and project </a:t>
            </a:r>
            <a:r>
              <a:rPr lang="en-US" sz="3200" dirty="0" smtClean="0">
                <a:solidFill>
                  <a:srgbClr val="2309E1"/>
                </a:solidFill>
              </a:rPr>
              <a:t>management: </a:t>
            </a:r>
            <a:r>
              <a:rPr lang="en-GB" altLang="zh-CN" sz="3200" dirty="0" smtClean="0">
                <a:solidFill>
                  <a:srgbClr val="2309E1"/>
                </a:solidFill>
                <a:ea typeface="SimSun" pitchFamily="2" charset="-122"/>
              </a:rPr>
              <a:t>What is software?</a:t>
            </a:r>
          </a:p>
        </p:txBody>
      </p:sp>
      <p:sp>
        <p:nvSpPr>
          <p:cNvPr id="20483" name="Rectangle 5"/>
          <p:cNvSpPr>
            <a:spLocks noGrp="1" noChangeArrowheads="1"/>
          </p:cNvSpPr>
          <p:nvPr>
            <p:ph idx="1"/>
          </p:nvPr>
        </p:nvSpPr>
        <p:spPr>
          <a:xfrm>
            <a:off x="930031" y="2379785"/>
            <a:ext cx="10058400" cy="3881438"/>
          </a:xfrm>
        </p:spPr>
        <p:txBody>
          <a:bodyPr>
            <a:noAutofit/>
          </a:bodyPr>
          <a:lstStyle/>
          <a:p>
            <a:pPr eaLnBrk="1" hangingPunct="1">
              <a:lnSpc>
                <a:spcPct val="90000"/>
              </a:lnSpc>
            </a:pPr>
            <a:r>
              <a:rPr lang="en-GB" altLang="zh-CN" dirty="0" smtClean="0">
                <a:solidFill>
                  <a:srgbClr val="FF0000"/>
                </a:solidFill>
                <a:cs typeface="华文新魏"/>
              </a:rPr>
              <a:t>Computer programs and associated documentation such as requirements, design models and user manuals.</a:t>
            </a:r>
          </a:p>
          <a:p>
            <a:pPr eaLnBrk="1" hangingPunct="1">
              <a:lnSpc>
                <a:spcPct val="90000"/>
              </a:lnSpc>
            </a:pPr>
            <a:r>
              <a:rPr lang="en-GB" altLang="zh-CN" dirty="0" smtClean="0">
                <a:cs typeface="华文新魏"/>
              </a:rPr>
              <a:t>Software products may be developed for a particular customer or may be developed for a general market.</a:t>
            </a:r>
          </a:p>
          <a:p>
            <a:pPr eaLnBrk="1" hangingPunct="1">
              <a:lnSpc>
                <a:spcPct val="90000"/>
              </a:lnSpc>
            </a:pPr>
            <a:r>
              <a:rPr lang="en-GB" altLang="zh-CN" dirty="0" smtClean="0">
                <a:cs typeface="华文新魏"/>
              </a:rPr>
              <a:t>Software products may be</a:t>
            </a:r>
          </a:p>
          <a:p>
            <a:pPr lvl="1" eaLnBrk="1" hangingPunct="1">
              <a:lnSpc>
                <a:spcPct val="90000"/>
              </a:lnSpc>
            </a:pPr>
            <a:r>
              <a:rPr lang="en-GB" altLang="zh-CN" dirty="0" smtClean="0">
                <a:solidFill>
                  <a:srgbClr val="FF0000"/>
                </a:solidFill>
                <a:cs typeface="华文新魏"/>
              </a:rPr>
              <a:t>Generic</a:t>
            </a:r>
            <a:r>
              <a:rPr lang="en-GB" altLang="zh-CN" dirty="0" smtClean="0">
                <a:cs typeface="华文新魏"/>
              </a:rPr>
              <a:t> - developed to be sold to a range of different customers e.g. PC software such as Excel or Word.</a:t>
            </a:r>
          </a:p>
          <a:p>
            <a:pPr lvl="1" eaLnBrk="1" hangingPunct="1">
              <a:lnSpc>
                <a:spcPct val="90000"/>
              </a:lnSpc>
            </a:pPr>
            <a:r>
              <a:rPr lang="en-GB" altLang="zh-CN" dirty="0" smtClean="0">
                <a:solidFill>
                  <a:srgbClr val="FF0000"/>
                </a:solidFill>
                <a:cs typeface="华文新魏"/>
              </a:rPr>
              <a:t>Bespoke</a:t>
            </a:r>
            <a:r>
              <a:rPr lang="en-GB" altLang="zh-CN" dirty="0" smtClean="0">
                <a:cs typeface="华文新魏"/>
              </a:rPr>
              <a:t> (custom) - developed for a single customer according to their specification.</a:t>
            </a:r>
          </a:p>
          <a:p>
            <a:pPr eaLnBrk="1" hangingPunct="1">
              <a:lnSpc>
                <a:spcPct val="90000"/>
              </a:lnSpc>
            </a:pPr>
            <a:r>
              <a:rPr lang="en-GB" altLang="zh-CN" dirty="0" smtClean="0">
                <a:cs typeface="华文新魏"/>
              </a:rPr>
              <a:t>New software can be created by developing new programs, configuring generic software systems or reusing existing software.</a:t>
            </a:r>
          </a:p>
        </p:txBody>
      </p:sp>
      <p:sp>
        <p:nvSpPr>
          <p:cNvPr id="20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7F07E557-D329-40C1-8478-4344FBAAC912}" type="slidenum">
              <a:rPr lang="en-US" altLang="zh-CN" sz="1400">
                <a:solidFill>
                  <a:srgbClr val="FFFFFF"/>
                </a:solidFill>
                <a:latin typeface="Franklin Gothic Book" pitchFamily="34" charset="0"/>
                <a:cs typeface="Arial" pitchFamily="34" charset="0"/>
              </a:rPr>
              <a:pPr>
                <a:spcBef>
                  <a:spcPct val="0"/>
                </a:spcBef>
                <a:buClrTx/>
                <a:buSzTx/>
                <a:buFontTx/>
                <a:buNone/>
              </a:pPr>
              <a:t>10</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1801309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p:txBody>
          <a:bodyPr/>
          <a:lstStyle/>
          <a:p>
            <a:pPr eaLnBrk="1" hangingPunct="1"/>
            <a:r>
              <a:rPr lang="en-GB" altLang="zh-CN" dirty="0" smtClean="0">
                <a:solidFill>
                  <a:srgbClr val="2309E1"/>
                </a:solidFill>
                <a:ea typeface="SimSun" pitchFamily="2" charset="-122"/>
              </a:rPr>
              <a:t>What is software engineering?</a:t>
            </a:r>
          </a:p>
        </p:txBody>
      </p:sp>
      <p:sp>
        <p:nvSpPr>
          <p:cNvPr id="21507" name="Rectangle 5"/>
          <p:cNvSpPr>
            <a:spLocks noGrp="1" noChangeArrowheads="1"/>
          </p:cNvSpPr>
          <p:nvPr>
            <p:ph idx="1"/>
          </p:nvPr>
        </p:nvSpPr>
        <p:spPr>
          <a:xfrm>
            <a:off x="818174" y="2549770"/>
            <a:ext cx="10283580" cy="3881438"/>
          </a:xfrm>
        </p:spPr>
        <p:txBody>
          <a:bodyPr>
            <a:normAutofit/>
          </a:bodyPr>
          <a:lstStyle/>
          <a:p>
            <a:pPr eaLnBrk="1" hangingPunct="1"/>
            <a:r>
              <a:rPr lang="en-GB" altLang="zh-CN" sz="2800" dirty="0" smtClean="0">
                <a:cs typeface="华文新魏"/>
              </a:rPr>
              <a:t>Software engineering is an engineering discipline that is concerned with all aspects of software production.</a:t>
            </a:r>
          </a:p>
          <a:p>
            <a:pPr eaLnBrk="1" hangingPunct="1"/>
            <a:r>
              <a:rPr lang="en-GB" altLang="zh-CN" sz="2800" dirty="0" smtClean="0">
                <a:cs typeface="华文新魏"/>
              </a:rPr>
              <a:t>Software engineers should adopt a systematic and organised approach to their work and use appropriate tools and techniques depending on the problem to be solved, the development constraints and the resources available.</a:t>
            </a:r>
          </a:p>
        </p:txBody>
      </p:sp>
      <p:sp>
        <p:nvSpPr>
          <p:cNvPr id="2150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1B22CB8A-47F1-4445-9B1B-802D046DE512}" type="slidenum">
              <a:rPr lang="en-US" altLang="zh-CN" sz="1400">
                <a:solidFill>
                  <a:srgbClr val="FFFFFF"/>
                </a:solidFill>
                <a:latin typeface="Franklin Gothic Book" pitchFamily="34" charset="0"/>
                <a:cs typeface="Arial" pitchFamily="34" charset="0"/>
              </a:rPr>
              <a:pPr>
                <a:spcBef>
                  <a:spcPct val="0"/>
                </a:spcBef>
                <a:buClrTx/>
                <a:buSzTx/>
                <a:buFontTx/>
                <a:buNone/>
              </a:pPr>
              <a:t>11</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16198412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p:txBody>
          <a:bodyPr/>
          <a:lstStyle/>
          <a:p>
            <a:pPr eaLnBrk="1" hangingPunct="1"/>
            <a:r>
              <a:rPr lang="en-GB" altLang="zh-CN" dirty="0" smtClean="0">
                <a:solidFill>
                  <a:srgbClr val="2309E1"/>
                </a:solidFill>
                <a:ea typeface="SimSun" pitchFamily="2" charset="-122"/>
              </a:rPr>
              <a:t>What is a software process?</a:t>
            </a:r>
          </a:p>
        </p:txBody>
      </p:sp>
      <p:sp>
        <p:nvSpPr>
          <p:cNvPr id="27651" name="Rectangle 5"/>
          <p:cNvSpPr>
            <a:spLocks noGrp="1" noChangeArrowheads="1"/>
          </p:cNvSpPr>
          <p:nvPr>
            <p:ph idx="1"/>
          </p:nvPr>
        </p:nvSpPr>
        <p:spPr>
          <a:xfrm>
            <a:off x="1094154" y="2426677"/>
            <a:ext cx="10464800" cy="3881438"/>
          </a:xfrm>
        </p:spPr>
        <p:txBody>
          <a:bodyPr rtlCol="0">
            <a:normAutofit/>
          </a:bodyPr>
          <a:lstStyle/>
          <a:p>
            <a:pPr eaLnBrk="1" fontAlgn="auto" hangingPunct="1">
              <a:lnSpc>
                <a:spcPct val="90000"/>
              </a:lnSpc>
              <a:spcAft>
                <a:spcPts val="0"/>
              </a:spcAft>
              <a:buClr>
                <a:srgbClr val="2309E1"/>
              </a:buClr>
              <a:buFont typeface="Wingdings" panose="05000000000000000000" pitchFamily="2" charset="2"/>
              <a:buChar char="§"/>
              <a:defRPr/>
            </a:pPr>
            <a:r>
              <a:rPr lang="en-GB" altLang="zh-CN" sz="2800" dirty="0" smtClean="0">
                <a:solidFill>
                  <a:schemeClr val="tx1">
                    <a:lumMod val="75000"/>
                    <a:lumOff val="25000"/>
                  </a:schemeClr>
                </a:solidFill>
              </a:rPr>
              <a:t>A set of activities whose goal is the development or evolution of software.</a:t>
            </a:r>
          </a:p>
          <a:p>
            <a:pPr eaLnBrk="1" fontAlgn="auto" hangingPunct="1">
              <a:lnSpc>
                <a:spcPct val="90000"/>
              </a:lnSpc>
              <a:spcAft>
                <a:spcPts val="0"/>
              </a:spcAft>
              <a:buClr>
                <a:srgbClr val="2309E1"/>
              </a:buClr>
              <a:buFont typeface="Wingdings" panose="05000000000000000000" pitchFamily="2" charset="2"/>
              <a:buChar char="§"/>
              <a:defRPr/>
            </a:pPr>
            <a:r>
              <a:rPr lang="en-GB" altLang="zh-CN" sz="2800" dirty="0" smtClean="0">
                <a:solidFill>
                  <a:schemeClr val="tx1">
                    <a:lumMod val="75000"/>
                    <a:lumOff val="25000"/>
                  </a:schemeClr>
                </a:solidFill>
              </a:rPr>
              <a:t>Generic activities in all software processes are:</a:t>
            </a:r>
          </a:p>
          <a:p>
            <a:pPr lvl="1" eaLnBrk="1" fontAlgn="auto" hangingPunct="1">
              <a:lnSpc>
                <a:spcPct val="90000"/>
              </a:lnSpc>
              <a:spcAft>
                <a:spcPts val="0"/>
              </a:spcAft>
              <a:buClr>
                <a:srgbClr val="2309E1"/>
              </a:buClr>
              <a:buFont typeface="Arial" panose="020B0604020202020204" pitchFamily="34" charset="0"/>
              <a:buChar char="•"/>
              <a:defRPr/>
            </a:pPr>
            <a:r>
              <a:rPr lang="en-GB" altLang="zh-CN" sz="2800" dirty="0" smtClean="0">
                <a:solidFill>
                  <a:srgbClr val="FF0000"/>
                </a:solidFill>
              </a:rPr>
              <a:t>Specification</a:t>
            </a:r>
            <a:r>
              <a:rPr lang="en-GB" altLang="zh-CN" sz="2800" dirty="0" smtClean="0">
                <a:solidFill>
                  <a:schemeClr val="tx1">
                    <a:lumMod val="75000"/>
                    <a:lumOff val="25000"/>
                  </a:schemeClr>
                </a:solidFill>
              </a:rPr>
              <a:t> - what the system should do and its development constraints</a:t>
            </a:r>
          </a:p>
          <a:p>
            <a:pPr lvl="1" eaLnBrk="1" fontAlgn="auto" hangingPunct="1">
              <a:lnSpc>
                <a:spcPct val="90000"/>
              </a:lnSpc>
              <a:spcAft>
                <a:spcPts val="0"/>
              </a:spcAft>
              <a:buClr>
                <a:srgbClr val="2309E1"/>
              </a:buClr>
              <a:buFont typeface="Arial" panose="020B0604020202020204" pitchFamily="34" charset="0"/>
              <a:buChar char="•"/>
              <a:defRPr/>
            </a:pPr>
            <a:r>
              <a:rPr lang="en-GB" altLang="zh-CN" sz="2800" dirty="0" smtClean="0">
                <a:solidFill>
                  <a:srgbClr val="FF0000"/>
                </a:solidFill>
              </a:rPr>
              <a:t>Development</a:t>
            </a:r>
            <a:r>
              <a:rPr lang="en-GB" altLang="zh-CN" sz="2800" dirty="0" smtClean="0">
                <a:solidFill>
                  <a:schemeClr val="tx1">
                    <a:lumMod val="75000"/>
                    <a:lumOff val="25000"/>
                  </a:schemeClr>
                </a:solidFill>
              </a:rPr>
              <a:t> - production of the software system</a:t>
            </a:r>
          </a:p>
          <a:p>
            <a:pPr lvl="1" eaLnBrk="1" fontAlgn="auto" hangingPunct="1">
              <a:lnSpc>
                <a:spcPct val="90000"/>
              </a:lnSpc>
              <a:spcAft>
                <a:spcPts val="0"/>
              </a:spcAft>
              <a:buClr>
                <a:srgbClr val="2309E1"/>
              </a:buClr>
              <a:buFont typeface="Arial" panose="020B0604020202020204" pitchFamily="34" charset="0"/>
              <a:buChar char="•"/>
              <a:defRPr/>
            </a:pPr>
            <a:r>
              <a:rPr lang="en-GB" altLang="zh-CN" sz="2800" dirty="0" smtClean="0">
                <a:solidFill>
                  <a:srgbClr val="FF0000"/>
                </a:solidFill>
              </a:rPr>
              <a:t>Validation</a:t>
            </a:r>
            <a:r>
              <a:rPr lang="en-GB" altLang="zh-CN" sz="2800" dirty="0" smtClean="0">
                <a:solidFill>
                  <a:schemeClr val="tx1">
                    <a:lumMod val="75000"/>
                    <a:lumOff val="25000"/>
                  </a:schemeClr>
                </a:solidFill>
              </a:rPr>
              <a:t> - checking that the software is what the customer wants</a:t>
            </a:r>
          </a:p>
          <a:p>
            <a:pPr lvl="1" eaLnBrk="1" fontAlgn="auto" hangingPunct="1">
              <a:lnSpc>
                <a:spcPct val="90000"/>
              </a:lnSpc>
              <a:spcAft>
                <a:spcPts val="0"/>
              </a:spcAft>
              <a:buClr>
                <a:srgbClr val="2309E1"/>
              </a:buClr>
              <a:buFont typeface="Arial" panose="020B0604020202020204" pitchFamily="34" charset="0"/>
              <a:buChar char="•"/>
              <a:defRPr/>
            </a:pPr>
            <a:r>
              <a:rPr lang="en-GB" altLang="zh-CN" sz="2800" dirty="0" smtClean="0">
                <a:solidFill>
                  <a:srgbClr val="FF0000"/>
                </a:solidFill>
              </a:rPr>
              <a:t>Evolution</a:t>
            </a:r>
            <a:r>
              <a:rPr lang="en-GB" altLang="zh-CN" sz="2800" dirty="0" smtClean="0">
                <a:solidFill>
                  <a:schemeClr val="tx1">
                    <a:lumMod val="75000"/>
                    <a:lumOff val="25000"/>
                  </a:schemeClr>
                </a:solidFill>
              </a:rPr>
              <a:t> - changing the software in response to changing demands.</a:t>
            </a:r>
          </a:p>
        </p:txBody>
      </p:sp>
      <p:sp>
        <p:nvSpPr>
          <p:cNvPr id="2253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B40BDECF-9D4E-492B-BFC0-4C954FE22E26}" type="slidenum">
              <a:rPr lang="en-US" altLang="zh-CN" sz="1400">
                <a:solidFill>
                  <a:srgbClr val="FFFFFF"/>
                </a:solidFill>
                <a:latin typeface="Franklin Gothic Book" pitchFamily="34" charset="0"/>
                <a:cs typeface="Arial" pitchFamily="34" charset="0"/>
              </a:rPr>
              <a:pPr>
                <a:spcBef>
                  <a:spcPct val="0"/>
                </a:spcBef>
                <a:buClrTx/>
                <a:buSzTx/>
                <a:buFontTx/>
                <a:buNone/>
              </a:pPr>
              <a:t>12</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40414550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dirty="0" smtClean="0">
                <a:solidFill>
                  <a:srgbClr val="2309E1"/>
                </a:solidFill>
                <a:ea typeface="SimSun" pitchFamily="2" charset="-122"/>
              </a:rPr>
              <a:t>The Nature of Software</a:t>
            </a:r>
          </a:p>
        </p:txBody>
      </p:sp>
      <p:sp>
        <p:nvSpPr>
          <p:cNvPr id="29700" name="Rectangle 3"/>
          <p:cNvSpPr>
            <a:spLocks noGrp="1" noChangeArrowheads="1"/>
          </p:cNvSpPr>
          <p:nvPr>
            <p:ph idx="1"/>
          </p:nvPr>
        </p:nvSpPr>
        <p:spPr>
          <a:xfrm>
            <a:off x="824522" y="2385647"/>
            <a:ext cx="9956800" cy="3881438"/>
          </a:xfrm>
        </p:spPr>
        <p:txBody>
          <a:bodyPr rtlCol="0">
            <a:normAutofit/>
          </a:bodyPr>
          <a:lstStyle/>
          <a:p>
            <a:pPr eaLnBrk="1" fontAlgn="auto" hangingPunct="1">
              <a:spcAft>
                <a:spcPts val="0"/>
              </a:spcAft>
              <a:buClrTx/>
              <a:buFont typeface="Wingdings" panose="05000000000000000000" pitchFamily="2" charset="2"/>
              <a:buChar char="§"/>
              <a:defRPr/>
            </a:pPr>
            <a:r>
              <a:rPr lang="en-US" altLang="zh-CN" sz="2800" dirty="0" smtClean="0">
                <a:solidFill>
                  <a:schemeClr val="tx1">
                    <a:lumMod val="75000"/>
                    <a:lumOff val="25000"/>
                  </a:schemeClr>
                </a:solidFill>
              </a:rPr>
              <a:t>Software is </a:t>
            </a:r>
            <a:r>
              <a:rPr lang="en-US" altLang="zh-CN" sz="2800" dirty="0" smtClean="0">
                <a:solidFill>
                  <a:srgbClr val="FF0000"/>
                </a:solidFill>
              </a:rPr>
              <a:t>intangible</a:t>
            </a:r>
          </a:p>
          <a:p>
            <a:pPr lvl="1" eaLnBrk="1" fontAlgn="auto" hangingPunct="1">
              <a:spcAft>
                <a:spcPts val="0"/>
              </a:spcAft>
              <a:buClrTx/>
              <a:buFont typeface="Arial" panose="020B0604020202020204" pitchFamily="34" charset="0"/>
              <a:buChar char="•"/>
              <a:defRPr/>
            </a:pPr>
            <a:r>
              <a:rPr lang="en-US" altLang="zh-CN" sz="2800" dirty="0" smtClean="0">
                <a:solidFill>
                  <a:schemeClr val="tx1">
                    <a:lumMod val="75000"/>
                    <a:lumOff val="25000"/>
                  </a:schemeClr>
                </a:solidFill>
              </a:rPr>
              <a:t>Hard to understand development effort</a:t>
            </a:r>
          </a:p>
          <a:p>
            <a:pPr eaLnBrk="1" fontAlgn="auto" hangingPunct="1">
              <a:spcAft>
                <a:spcPts val="0"/>
              </a:spcAft>
              <a:buClrTx/>
              <a:buFont typeface="Wingdings" panose="05000000000000000000" pitchFamily="2" charset="2"/>
              <a:buChar char="§"/>
              <a:defRPr/>
            </a:pPr>
            <a:r>
              <a:rPr lang="en-US" altLang="zh-CN" sz="2800" dirty="0" smtClean="0">
                <a:solidFill>
                  <a:schemeClr val="tx1">
                    <a:lumMod val="75000"/>
                    <a:lumOff val="25000"/>
                  </a:schemeClr>
                </a:solidFill>
              </a:rPr>
              <a:t>Software is easy to </a:t>
            </a:r>
            <a:r>
              <a:rPr lang="en-US" altLang="zh-CN" sz="2800" dirty="0" smtClean="0">
                <a:solidFill>
                  <a:srgbClr val="FF0000"/>
                </a:solidFill>
              </a:rPr>
              <a:t>reproduce</a:t>
            </a:r>
          </a:p>
          <a:p>
            <a:pPr lvl="1" eaLnBrk="1" fontAlgn="auto" hangingPunct="1">
              <a:spcAft>
                <a:spcPts val="0"/>
              </a:spcAft>
              <a:buClrTx/>
              <a:buFont typeface="Arial" panose="020B0604020202020204" pitchFamily="34" charset="0"/>
              <a:buChar char="•"/>
              <a:defRPr/>
            </a:pPr>
            <a:r>
              <a:rPr lang="en-US" altLang="zh-CN" sz="2800" dirty="0" smtClean="0">
                <a:solidFill>
                  <a:schemeClr val="tx1">
                    <a:lumMod val="75000"/>
                    <a:lumOff val="25000"/>
                  </a:schemeClr>
                </a:solidFill>
              </a:rPr>
              <a:t>Cost is in its </a:t>
            </a:r>
            <a:r>
              <a:rPr lang="en-US" altLang="zh-CN" sz="2800" i="1" dirty="0" smtClean="0">
                <a:solidFill>
                  <a:schemeClr val="tx1">
                    <a:lumMod val="75000"/>
                    <a:lumOff val="25000"/>
                  </a:schemeClr>
                </a:solidFill>
              </a:rPr>
              <a:t>development</a:t>
            </a:r>
            <a:endParaRPr lang="en-US" altLang="zh-CN" sz="2800" dirty="0" smtClean="0">
              <a:solidFill>
                <a:schemeClr val="tx1">
                  <a:lumMod val="75000"/>
                  <a:lumOff val="25000"/>
                </a:schemeClr>
              </a:solidFill>
            </a:endParaRPr>
          </a:p>
          <a:p>
            <a:pPr lvl="2" eaLnBrk="1" fontAlgn="auto" hangingPunct="1">
              <a:spcAft>
                <a:spcPts val="0"/>
              </a:spcAft>
              <a:buClrTx/>
              <a:buFont typeface="Arial" panose="020B0604020202020204" pitchFamily="34" charset="0"/>
              <a:buChar char="•"/>
              <a:defRPr/>
            </a:pPr>
            <a:r>
              <a:rPr lang="en-US" altLang="zh-CN" sz="2400" dirty="0" smtClean="0">
                <a:solidFill>
                  <a:schemeClr val="tx1">
                    <a:lumMod val="75000"/>
                    <a:lumOff val="25000"/>
                  </a:schemeClr>
                </a:solidFill>
              </a:rPr>
              <a:t>in other engineering products, manufacturing is the costly stage</a:t>
            </a:r>
          </a:p>
          <a:p>
            <a:pPr eaLnBrk="1" fontAlgn="auto" hangingPunct="1">
              <a:spcAft>
                <a:spcPts val="0"/>
              </a:spcAft>
              <a:buClrTx/>
              <a:buFont typeface="Wingdings" panose="05000000000000000000" pitchFamily="2" charset="2"/>
              <a:buChar char="§"/>
              <a:defRPr/>
            </a:pPr>
            <a:r>
              <a:rPr lang="en-US" altLang="zh-CN" sz="2800" dirty="0" smtClean="0">
                <a:solidFill>
                  <a:schemeClr val="tx1">
                    <a:lumMod val="75000"/>
                    <a:lumOff val="25000"/>
                  </a:schemeClr>
                </a:solidFill>
              </a:rPr>
              <a:t>The industry is </a:t>
            </a:r>
            <a:r>
              <a:rPr lang="en-US" altLang="zh-CN" sz="2800" dirty="0" smtClean="0">
                <a:solidFill>
                  <a:srgbClr val="FF0000"/>
                </a:solidFill>
              </a:rPr>
              <a:t>labor-intensive</a:t>
            </a:r>
          </a:p>
          <a:p>
            <a:pPr lvl="1" eaLnBrk="1" fontAlgn="auto" hangingPunct="1">
              <a:spcAft>
                <a:spcPts val="0"/>
              </a:spcAft>
              <a:buClrTx/>
              <a:buFont typeface="Arial" panose="020B0604020202020204" pitchFamily="34" charset="0"/>
              <a:buChar char="•"/>
              <a:defRPr/>
            </a:pPr>
            <a:r>
              <a:rPr lang="en-US" altLang="zh-CN" sz="2800" dirty="0" smtClean="0">
                <a:solidFill>
                  <a:schemeClr val="tx1">
                    <a:lumMod val="75000"/>
                    <a:lumOff val="25000"/>
                  </a:schemeClr>
                </a:solidFill>
              </a:rPr>
              <a:t>Hard to automate</a:t>
            </a:r>
          </a:p>
        </p:txBody>
      </p:sp>
      <p:sp>
        <p:nvSpPr>
          <p:cNvPr id="2458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AE9EBE87-0948-4F6E-9886-957E5D3C9DE6}" type="slidenum">
              <a:rPr lang="en-US" altLang="zh-CN" sz="1400">
                <a:solidFill>
                  <a:srgbClr val="FFFFFF"/>
                </a:solidFill>
                <a:latin typeface="Franklin Gothic Book" pitchFamily="34" charset="0"/>
                <a:cs typeface="Arial" pitchFamily="34" charset="0"/>
              </a:rPr>
              <a:pPr>
                <a:spcBef>
                  <a:spcPct val="0"/>
                </a:spcBef>
                <a:buClrTx/>
                <a:buSzTx/>
                <a:buFontTx/>
                <a:buNone/>
              </a:pPr>
              <a:t>13</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30059532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dirty="0" smtClean="0">
                <a:solidFill>
                  <a:srgbClr val="2309E1"/>
                </a:solidFill>
                <a:ea typeface="SimSun" pitchFamily="2" charset="-122"/>
              </a:rPr>
              <a:t>The Nature of Software ...</a:t>
            </a:r>
          </a:p>
        </p:txBody>
      </p:sp>
      <p:sp>
        <p:nvSpPr>
          <p:cNvPr id="31748" name="Rectangle 3"/>
          <p:cNvSpPr>
            <a:spLocks noGrp="1" noChangeArrowheads="1"/>
          </p:cNvSpPr>
          <p:nvPr>
            <p:ph idx="1"/>
          </p:nvPr>
        </p:nvSpPr>
        <p:spPr>
          <a:xfrm>
            <a:off x="828431" y="2362200"/>
            <a:ext cx="10668000" cy="4389438"/>
          </a:xfrm>
        </p:spPr>
        <p:txBody>
          <a:bodyPr rtlCol="0">
            <a:normAutofit/>
          </a:bodyPr>
          <a:lstStyle/>
          <a:p>
            <a:pPr eaLnBrk="1" fontAlgn="auto" hangingPunct="1">
              <a:spcAft>
                <a:spcPts val="0"/>
              </a:spcAft>
              <a:buClr>
                <a:srgbClr val="2309E1"/>
              </a:buClr>
              <a:buFont typeface="Wingdings" panose="05000000000000000000" pitchFamily="2" charset="2"/>
              <a:buChar char="§"/>
              <a:defRPr/>
            </a:pPr>
            <a:r>
              <a:rPr lang="en-US" altLang="zh-CN" sz="2800" dirty="0" smtClean="0">
                <a:solidFill>
                  <a:schemeClr val="tx1">
                    <a:lumMod val="75000"/>
                    <a:lumOff val="25000"/>
                  </a:schemeClr>
                </a:solidFill>
              </a:rPr>
              <a:t>Untrained people can hack something together</a:t>
            </a:r>
          </a:p>
          <a:p>
            <a:pPr lvl="1" eaLnBrk="1" fontAlgn="auto" hangingPunct="1">
              <a:spcAft>
                <a:spcPts val="0"/>
              </a:spcAft>
              <a:buClr>
                <a:srgbClr val="2309E1"/>
              </a:buClr>
              <a:buFont typeface="Arial" panose="020B0604020202020204" pitchFamily="34" charset="0"/>
              <a:buChar char="•"/>
              <a:defRPr/>
            </a:pPr>
            <a:r>
              <a:rPr lang="en-US" altLang="zh-CN" sz="2800" dirty="0" smtClean="0">
                <a:solidFill>
                  <a:schemeClr val="tx1">
                    <a:lumMod val="75000"/>
                    <a:lumOff val="25000"/>
                  </a:schemeClr>
                </a:solidFill>
              </a:rPr>
              <a:t>Quality problems are hard to notice</a:t>
            </a:r>
          </a:p>
          <a:p>
            <a:pPr eaLnBrk="1" fontAlgn="auto" hangingPunct="1">
              <a:spcAft>
                <a:spcPts val="0"/>
              </a:spcAft>
              <a:buClr>
                <a:srgbClr val="2309E1"/>
              </a:buClr>
              <a:buFont typeface="Wingdings" panose="05000000000000000000" pitchFamily="2" charset="2"/>
              <a:buChar char="§"/>
              <a:defRPr/>
            </a:pPr>
            <a:r>
              <a:rPr lang="en-US" altLang="zh-CN" sz="2800" dirty="0" smtClean="0">
                <a:solidFill>
                  <a:schemeClr val="tx1">
                    <a:lumMod val="75000"/>
                    <a:lumOff val="25000"/>
                  </a:schemeClr>
                </a:solidFill>
              </a:rPr>
              <a:t>Software is easy to </a:t>
            </a:r>
            <a:r>
              <a:rPr lang="en-US" altLang="zh-CN" sz="2800" dirty="0" smtClean="0">
                <a:solidFill>
                  <a:srgbClr val="FF0000"/>
                </a:solidFill>
              </a:rPr>
              <a:t>modify</a:t>
            </a:r>
          </a:p>
          <a:p>
            <a:pPr lvl="1" eaLnBrk="1" fontAlgn="auto" hangingPunct="1">
              <a:spcAft>
                <a:spcPts val="0"/>
              </a:spcAft>
              <a:buClr>
                <a:srgbClr val="2309E1"/>
              </a:buClr>
              <a:buFont typeface="Arial" panose="020B0604020202020204" pitchFamily="34" charset="0"/>
              <a:buChar char="•"/>
              <a:defRPr/>
            </a:pPr>
            <a:r>
              <a:rPr lang="en-US" altLang="zh-CN" sz="2800" dirty="0" smtClean="0">
                <a:solidFill>
                  <a:schemeClr val="tx1">
                    <a:lumMod val="75000"/>
                    <a:lumOff val="25000"/>
                  </a:schemeClr>
                </a:solidFill>
              </a:rPr>
              <a:t>People make changes without fully understanding it</a:t>
            </a:r>
          </a:p>
          <a:p>
            <a:pPr eaLnBrk="1" fontAlgn="auto" hangingPunct="1">
              <a:spcAft>
                <a:spcPts val="0"/>
              </a:spcAft>
              <a:buClr>
                <a:srgbClr val="2309E1"/>
              </a:buClr>
              <a:buFont typeface="Wingdings" panose="05000000000000000000" pitchFamily="2" charset="2"/>
              <a:buChar char="§"/>
              <a:defRPr/>
            </a:pPr>
            <a:r>
              <a:rPr lang="en-US" altLang="zh-CN" sz="2800" dirty="0" smtClean="0">
                <a:solidFill>
                  <a:schemeClr val="tx1">
                    <a:lumMod val="75000"/>
                    <a:lumOff val="25000"/>
                  </a:schemeClr>
                </a:solidFill>
              </a:rPr>
              <a:t>Software does not </a:t>
            </a:r>
            <a:r>
              <a:rPr lang="en-US" altLang="zh-CN" sz="2800" dirty="0" smtClean="0">
                <a:solidFill>
                  <a:srgbClr val="FF0000"/>
                </a:solidFill>
              </a:rPr>
              <a:t>‘wear out’</a:t>
            </a:r>
          </a:p>
          <a:p>
            <a:pPr lvl="1" eaLnBrk="1" fontAlgn="auto" hangingPunct="1">
              <a:spcAft>
                <a:spcPts val="0"/>
              </a:spcAft>
              <a:buClr>
                <a:srgbClr val="2309E1"/>
              </a:buClr>
              <a:buFont typeface="Arial" panose="020B0604020202020204" pitchFamily="34" charset="0"/>
              <a:buChar char="•"/>
              <a:defRPr/>
            </a:pPr>
            <a:r>
              <a:rPr lang="en-US" altLang="zh-CN" sz="2800" dirty="0" smtClean="0">
                <a:solidFill>
                  <a:schemeClr val="tx1">
                    <a:lumMod val="75000"/>
                    <a:lumOff val="25000"/>
                  </a:schemeClr>
                </a:solidFill>
              </a:rPr>
              <a:t>It </a:t>
            </a:r>
            <a:r>
              <a:rPr lang="en-US" altLang="zh-CN" sz="2800" i="1" dirty="0" smtClean="0">
                <a:solidFill>
                  <a:schemeClr val="tx1">
                    <a:lumMod val="75000"/>
                    <a:lumOff val="25000"/>
                  </a:schemeClr>
                </a:solidFill>
              </a:rPr>
              <a:t>deteriorates</a:t>
            </a:r>
            <a:r>
              <a:rPr lang="en-US" altLang="zh-CN" sz="2800" dirty="0" smtClean="0">
                <a:solidFill>
                  <a:schemeClr val="tx1">
                    <a:lumMod val="75000"/>
                    <a:lumOff val="25000"/>
                  </a:schemeClr>
                </a:solidFill>
              </a:rPr>
              <a:t> by having its design changed:</a:t>
            </a:r>
          </a:p>
          <a:p>
            <a:pPr lvl="2" eaLnBrk="1" fontAlgn="auto" hangingPunct="1">
              <a:spcAft>
                <a:spcPts val="0"/>
              </a:spcAft>
              <a:buClr>
                <a:srgbClr val="2309E1"/>
              </a:buClr>
              <a:buFont typeface="Garamond" panose="02020404030301010803" pitchFamily="18" charset="0"/>
              <a:buChar char="―"/>
              <a:defRPr/>
            </a:pPr>
            <a:r>
              <a:rPr lang="en-US" altLang="zh-CN" sz="2400" dirty="0" smtClean="0">
                <a:solidFill>
                  <a:schemeClr val="tx1">
                    <a:lumMod val="75000"/>
                    <a:lumOff val="25000"/>
                  </a:schemeClr>
                </a:solidFill>
              </a:rPr>
              <a:t>erroneously, or</a:t>
            </a:r>
          </a:p>
          <a:p>
            <a:pPr lvl="2" eaLnBrk="1" fontAlgn="auto" hangingPunct="1">
              <a:spcAft>
                <a:spcPts val="0"/>
              </a:spcAft>
              <a:buClr>
                <a:srgbClr val="2309E1"/>
              </a:buClr>
              <a:buFont typeface="Garamond" panose="02020404030301010803" pitchFamily="18" charset="0"/>
              <a:buChar char="―"/>
              <a:defRPr/>
            </a:pPr>
            <a:r>
              <a:rPr lang="en-US" altLang="zh-CN" sz="2400" dirty="0" smtClean="0">
                <a:solidFill>
                  <a:schemeClr val="tx1">
                    <a:lumMod val="75000"/>
                    <a:lumOff val="25000"/>
                  </a:schemeClr>
                </a:solidFill>
              </a:rPr>
              <a:t>in ways that were not anticipated, thus making it complex</a:t>
            </a:r>
          </a:p>
          <a:p>
            <a:pPr lvl="2" eaLnBrk="1" fontAlgn="auto" hangingPunct="1">
              <a:spcAft>
                <a:spcPts val="0"/>
              </a:spcAft>
              <a:buClr>
                <a:srgbClr val="2309E1"/>
              </a:buClr>
              <a:buFont typeface="Wingdings" panose="05000000000000000000" pitchFamily="2" charset="2"/>
              <a:buChar char="§"/>
              <a:defRPr/>
            </a:pPr>
            <a:endParaRPr lang="en-US" altLang="zh-CN" sz="2400" dirty="0" smtClean="0">
              <a:solidFill>
                <a:schemeClr val="tx1">
                  <a:lumMod val="75000"/>
                  <a:lumOff val="25000"/>
                </a:schemeClr>
              </a:solidFill>
            </a:endParaRPr>
          </a:p>
        </p:txBody>
      </p:sp>
      <p:sp>
        <p:nvSpPr>
          <p:cNvPr id="2560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D966FB7A-5E75-43DC-8B99-B2EC7997C023}" type="slidenum">
              <a:rPr lang="en-US" altLang="zh-CN" sz="1400">
                <a:solidFill>
                  <a:srgbClr val="FFFFFF"/>
                </a:solidFill>
                <a:latin typeface="Franklin Gothic Book" pitchFamily="34" charset="0"/>
                <a:cs typeface="Arial" pitchFamily="34" charset="0"/>
              </a:rPr>
              <a:pPr>
                <a:spcBef>
                  <a:spcPct val="0"/>
                </a:spcBef>
                <a:buClrTx/>
                <a:buSzTx/>
                <a:buFontTx/>
                <a:buNone/>
              </a:pPr>
              <a:t>14</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7181396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dirty="0" smtClean="0">
                <a:solidFill>
                  <a:srgbClr val="2309E1"/>
                </a:solidFill>
                <a:ea typeface="SimSun" pitchFamily="2" charset="-122"/>
              </a:rPr>
              <a:t>The Nature of Software</a:t>
            </a:r>
          </a:p>
        </p:txBody>
      </p:sp>
      <p:sp>
        <p:nvSpPr>
          <p:cNvPr id="26627" name="Rectangle 3"/>
          <p:cNvSpPr>
            <a:spLocks noGrp="1" noChangeArrowheads="1"/>
          </p:cNvSpPr>
          <p:nvPr>
            <p:ph idx="1"/>
          </p:nvPr>
        </p:nvSpPr>
        <p:spPr>
          <a:xfrm>
            <a:off x="1004277" y="2356338"/>
            <a:ext cx="9347200" cy="3881438"/>
          </a:xfrm>
        </p:spPr>
        <p:txBody>
          <a:bodyPr/>
          <a:lstStyle/>
          <a:p>
            <a:pPr eaLnBrk="1" hangingPunct="1">
              <a:buClr>
                <a:srgbClr val="2309E1"/>
              </a:buClr>
              <a:buFont typeface="Wingdings" panose="05000000000000000000" pitchFamily="2" charset="2"/>
              <a:buChar char="§"/>
            </a:pPr>
            <a:r>
              <a:rPr lang="en-US" altLang="zh-CN" sz="2400" dirty="0" smtClean="0">
                <a:cs typeface="华文新魏"/>
              </a:rPr>
              <a:t>Conclusions</a:t>
            </a:r>
          </a:p>
          <a:p>
            <a:pPr lvl="1" eaLnBrk="1" hangingPunct="1">
              <a:buClr>
                <a:srgbClr val="2309E1"/>
              </a:buClr>
            </a:pPr>
            <a:r>
              <a:rPr lang="en-US" altLang="zh-CN" sz="2400" dirty="0" smtClean="0">
                <a:cs typeface="华文新魏"/>
              </a:rPr>
              <a:t>Much software has poor design and is getting worse</a:t>
            </a:r>
          </a:p>
          <a:p>
            <a:pPr lvl="1" eaLnBrk="1" hangingPunct="1">
              <a:buClr>
                <a:srgbClr val="2309E1"/>
              </a:buClr>
            </a:pPr>
            <a:r>
              <a:rPr lang="en-US" altLang="zh-CN" sz="2400" dirty="0" smtClean="0">
                <a:cs typeface="华文新魏"/>
              </a:rPr>
              <a:t>Demand for software is high and rising</a:t>
            </a:r>
          </a:p>
          <a:p>
            <a:pPr lvl="1" eaLnBrk="1" hangingPunct="1">
              <a:buClr>
                <a:srgbClr val="2309E1"/>
              </a:buClr>
            </a:pPr>
            <a:r>
              <a:rPr lang="en-US" altLang="zh-CN" sz="2400" dirty="0" smtClean="0">
                <a:solidFill>
                  <a:srgbClr val="FF0000"/>
                </a:solidFill>
                <a:cs typeface="华文新魏"/>
              </a:rPr>
              <a:t>We are in a perpetual ‘software crisis’</a:t>
            </a:r>
          </a:p>
          <a:p>
            <a:pPr lvl="1" eaLnBrk="1" hangingPunct="1">
              <a:buClr>
                <a:srgbClr val="2309E1"/>
              </a:buClr>
            </a:pPr>
            <a:r>
              <a:rPr lang="en-US" altLang="zh-CN" sz="2400" dirty="0" smtClean="0">
                <a:cs typeface="华文新魏"/>
              </a:rPr>
              <a:t>We have to learn to ‘engineer’ software</a:t>
            </a:r>
          </a:p>
        </p:txBody>
      </p:sp>
      <p:sp>
        <p:nvSpPr>
          <p:cNvPr id="2662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3551FE62-D386-47D5-8F29-006A8173B6C2}" type="slidenum">
              <a:rPr lang="en-US" altLang="zh-CN" sz="1400">
                <a:solidFill>
                  <a:srgbClr val="FFFFFF"/>
                </a:solidFill>
                <a:latin typeface="Franklin Gothic Book" pitchFamily="34" charset="0"/>
                <a:cs typeface="Arial" pitchFamily="34" charset="0"/>
              </a:rPr>
              <a:pPr>
                <a:spcBef>
                  <a:spcPct val="0"/>
                </a:spcBef>
                <a:buClrTx/>
                <a:buSzTx/>
                <a:buFontTx/>
                <a:buNone/>
              </a:pPr>
              <a:t>15</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996188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04800" y="433144"/>
            <a:ext cx="11887200" cy="762000"/>
          </a:xfrm>
        </p:spPr>
        <p:txBody>
          <a:bodyPr/>
          <a:lstStyle/>
          <a:p>
            <a:pPr eaLnBrk="1" hangingPunct="1"/>
            <a:r>
              <a:rPr lang="en-US" altLang="zh-CN" dirty="0" smtClean="0">
                <a:solidFill>
                  <a:srgbClr val="2309E1"/>
                </a:solidFill>
                <a:ea typeface="SimSun" pitchFamily="2" charset="-122"/>
              </a:rPr>
              <a:t>Software Quality and the Stakeholders</a:t>
            </a:r>
          </a:p>
        </p:txBody>
      </p:sp>
      <p:sp>
        <p:nvSpPr>
          <p:cNvPr id="2765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B0429B44-BC1E-4385-94CC-47560D57C6B4}" type="slidenum">
              <a:rPr lang="en-US" altLang="zh-CN" sz="1400">
                <a:solidFill>
                  <a:srgbClr val="FFFFFF"/>
                </a:solidFill>
                <a:latin typeface="Franklin Gothic Book" pitchFamily="34" charset="0"/>
                <a:cs typeface="Arial" pitchFamily="34" charset="0"/>
              </a:rPr>
              <a:pPr>
                <a:spcBef>
                  <a:spcPct val="0"/>
                </a:spcBef>
                <a:buClrTx/>
                <a:buSzTx/>
                <a:buFontTx/>
                <a:buNone/>
              </a:pPr>
              <a:t>16</a:t>
            </a:fld>
            <a:endParaRPr lang="en-US" altLang="zh-CN" sz="1400">
              <a:solidFill>
                <a:srgbClr val="FFFFFF"/>
              </a:solidFill>
              <a:latin typeface="Franklin Gothic Book" pitchFamily="34" charset="0"/>
              <a:cs typeface="Arial" pitchFamily="34" charset="0"/>
            </a:endParaRPr>
          </a:p>
        </p:txBody>
      </p:sp>
      <p:grpSp>
        <p:nvGrpSpPr>
          <p:cNvPr id="27652" name="Group 11"/>
          <p:cNvGrpSpPr>
            <a:grpSpLocks/>
          </p:cNvGrpSpPr>
          <p:nvPr/>
        </p:nvGrpSpPr>
        <p:grpSpPr bwMode="auto">
          <a:xfrm>
            <a:off x="4315884" y="3197225"/>
            <a:ext cx="2631016" cy="801688"/>
            <a:chOff x="2039" y="2014"/>
            <a:chExt cx="1243" cy="505"/>
          </a:xfrm>
        </p:grpSpPr>
        <p:sp>
          <p:nvSpPr>
            <p:cNvPr id="27682" name="Oval 8"/>
            <p:cNvSpPr>
              <a:spLocks noChangeArrowheads="1"/>
            </p:cNvSpPr>
            <p:nvPr/>
          </p:nvSpPr>
          <p:spPr bwMode="auto">
            <a:xfrm>
              <a:off x="2039" y="2014"/>
              <a:ext cx="1243" cy="505"/>
            </a:xfrm>
            <a:prstGeom prst="ellipse">
              <a:avLst/>
            </a:prstGeom>
            <a:solidFill>
              <a:srgbClr val="FFFFFF"/>
            </a:solidFill>
            <a:ln w="25400">
              <a:solidFill>
                <a:srgbClr val="000000"/>
              </a:solidFill>
              <a:round/>
              <a:headEnd/>
              <a:tailEnd/>
            </a:ln>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endParaRPr lang="zh-CN" altLang="zh-CN">
                <a:solidFill>
                  <a:schemeClr val="tx1"/>
                </a:solidFill>
                <a:latin typeface="Georgia" pitchFamily="18" charset="0"/>
              </a:endParaRPr>
            </a:p>
          </p:txBody>
        </p:sp>
        <p:sp>
          <p:nvSpPr>
            <p:cNvPr id="27683" name="Rectangle 9"/>
            <p:cNvSpPr>
              <a:spLocks noChangeArrowheads="1"/>
            </p:cNvSpPr>
            <p:nvPr/>
          </p:nvSpPr>
          <p:spPr bwMode="auto">
            <a:xfrm>
              <a:off x="2283" y="2053"/>
              <a:ext cx="5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QUALITY </a:t>
              </a:r>
              <a:endParaRPr lang="en-CA" altLang="zh-CN">
                <a:solidFill>
                  <a:schemeClr val="tx1"/>
                </a:solidFill>
                <a:latin typeface="Georgia" pitchFamily="18" charset="0"/>
              </a:endParaRPr>
            </a:p>
          </p:txBody>
        </p:sp>
        <p:sp>
          <p:nvSpPr>
            <p:cNvPr id="27684" name="Rectangle 10"/>
            <p:cNvSpPr>
              <a:spLocks noChangeArrowheads="1"/>
            </p:cNvSpPr>
            <p:nvPr/>
          </p:nvSpPr>
          <p:spPr bwMode="auto">
            <a:xfrm>
              <a:off x="2283" y="2243"/>
              <a:ext cx="6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SOFTWARE</a:t>
              </a:r>
              <a:endParaRPr lang="en-CA" altLang="zh-CN">
                <a:solidFill>
                  <a:schemeClr val="tx1"/>
                </a:solidFill>
                <a:latin typeface="Georgia" pitchFamily="18" charset="0"/>
              </a:endParaRPr>
            </a:p>
          </p:txBody>
        </p:sp>
      </p:grpSp>
      <p:sp>
        <p:nvSpPr>
          <p:cNvPr id="27653" name="Rectangle 12"/>
          <p:cNvSpPr>
            <a:spLocks noChangeArrowheads="1"/>
          </p:cNvSpPr>
          <p:nvPr/>
        </p:nvSpPr>
        <p:spPr bwMode="auto">
          <a:xfrm>
            <a:off x="2167468" y="4237038"/>
            <a:ext cx="14443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b="1">
                <a:solidFill>
                  <a:srgbClr val="000000"/>
                </a:solidFill>
                <a:latin typeface="Georgia" pitchFamily="18" charset="0"/>
              </a:rPr>
              <a:t>Developer:</a:t>
            </a:r>
            <a:endParaRPr lang="en-CA" altLang="zh-CN">
              <a:solidFill>
                <a:schemeClr val="tx1"/>
              </a:solidFill>
              <a:latin typeface="Georgia" pitchFamily="18" charset="0"/>
            </a:endParaRPr>
          </a:p>
        </p:txBody>
      </p:sp>
      <p:sp>
        <p:nvSpPr>
          <p:cNvPr id="27654" name="Rectangle 13"/>
          <p:cNvSpPr>
            <a:spLocks noChangeArrowheads="1"/>
          </p:cNvSpPr>
          <p:nvPr/>
        </p:nvSpPr>
        <p:spPr bwMode="auto">
          <a:xfrm>
            <a:off x="3731684" y="4237038"/>
            <a:ext cx="6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 </a:t>
            </a:r>
            <a:endParaRPr lang="en-CA" altLang="zh-CN">
              <a:solidFill>
                <a:schemeClr val="tx1"/>
              </a:solidFill>
              <a:latin typeface="Georgia" pitchFamily="18" charset="0"/>
            </a:endParaRPr>
          </a:p>
        </p:txBody>
      </p:sp>
      <p:sp>
        <p:nvSpPr>
          <p:cNvPr id="27655" name="Rectangle 14"/>
          <p:cNvSpPr>
            <a:spLocks noChangeArrowheads="1"/>
          </p:cNvSpPr>
          <p:nvPr/>
        </p:nvSpPr>
        <p:spPr bwMode="auto">
          <a:xfrm>
            <a:off x="2167468" y="4537075"/>
            <a:ext cx="17232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easy to design; </a:t>
            </a:r>
            <a:endParaRPr lang="en-CA" altLang="zh-CN">
              <a:solidFill>
                <a:schemeClr val="tx1"/>
              </a:solidFill>
              <a:latin typeface="Georgia" pitchFamily="18" charset="0"/>
            </a:endParaRPr>
          </a:p>
        </p:txBody>
      </p:sp>
      <p:sp>
        <p:nvSpPr>
          <p:cNvPr id="27656" name="Rectangle 15"/>
          <p:cNvSpPr>
            <a:spLocks noChangeArrowheads="1"/>
          </p:cNvSpPr>
          <p:nvPr/>
        </p:nvSpPr>
        <p:spPr bwMode="auto">
          <a:xfrm>
            <a:off x="2167467" y="4837113"/>
            <a:ext cx="20133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easy to maintain; </a:t>
            </a:r>
            <a:endParaRPr lang="en-CA" altLang="zh-CN">
              <a:solidFill>
                <a:schemeClr val="tx1"/>
              </a:solidFill>
              <a:latin typeface="Georgia" pitchFamily="18" charset="0"/>
            </a:endParaRPr>
          </a:p>
        </p:txBody>
      </p:sp>
      <p:sp>
        <p:nvSpPr>
          <p:cNvPr id="27657" name="Rectangle 16"/>
          <p:cNvSpPr>
            <a:spLocks noChangeArrowheads="1"/>
          </p:cNvSpPr>
          <p:nvPr/>
        </p:nvSpPr>
        <p:spPr bwMode="auto">
          <a:xfrm>
            <a:off x="2167467" y="5138738"/>
            <a:ext cx="24317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easy to reuse its parts</a:t>
            </a:r>
            <a:endParaRPr lang="en-CA" altLang="zh-CN">
              <a:solidFill>
                <a:schemeClr val="tx1"/>
              </a:solidFill>
              <a:latin typeface="Georgia" pitchFamily="18" charset="0"/>
            </a:endParaRPr>
          </a:p>
        </p:txBody>
      </p:sp>
      <p:sp>
        <p:nvSpPr>
          <p:cNvPr id="27658" name="Rectangle 17"/>
          <p:cNvSpPr>
            <a:spLocks noChangeArrowheads="1"/>
          </p:cNvSpPr>
          <p:nvPr/>
        </p:nvSpPr>
        <p:spPr bwMode="auto">
          <a:xfrm>
            <a:off x="6864351" y="1330325"/>
            <a:ext cx="7838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b="1">
                <a:solidFill>
                  <a:srgbClr val="000000"/>
                </a:solidFill>
                <a:latin typeface="Georgia" pitchFamily="18" charset="0"/>
              </a:rPr>
              <a:t>User: </a:t>
            </a:r>
            <a:endParaRPr lang="en-CA" altLang="zh-CN">
              <a:solidFill>
                <a:schemeClr val="tx1"/>
              </a:solidFill>
              <a:latin typeface="Georgia" pitchFamily="18" charset="0"/>
            </a:endParaRPr>
          </a:p>
        </p:txBody>
      </p:sp>
      <p:sp>
        <p:nvSpPr>
          <p:cNvPr id="27659" name="Rectangle 18"/>
          <p:cNvSpPr>
            <a:spLocks noChangeArrowheads="1"/>
          </p:cNvSpPr>
          <p:nvPr/>
        </p:nvSpPr>
        <p:spPr bwMode="auto">
          <a:xfrm>
            <a:off x="6864351" y="1631950"/>
            <a:ext cx="15693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easy to learn; </a:t>
            </a:r>
            <a:endParaRPr lang="en-CA" altLang="zh-CN">
              <a:solidFill>
                <a:schemeClr val="tx1"/>
              </a:solidFill>
              <a:latin typeface="Georgia" pitchFamily="18" charset="0"/>
            </a:endParaRPr>
          </a:p>
        </p:txBody>
      </p:sp>
      <p:sp>
        <p:nvSpPr>
          <p:cNvPr id="27660" name="Rectangle 19"/>
          <p:cNvSpPr>
            <a:spLocks noChangeArrowheads="1"/>
          </p:cNvSpPr>
          <p:nvPr/>
        </p:nvSpPr>
        <p:spPr bwMode="auto">
          <a:xfrm>
            <a:off x="6864351" y="1931988"/>
            <a:ext cx="17969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efficient to use; </a:t>
            </a:r>
            <a:endParaRPr lang="en-CA" altLang="zh-CN">
              <a:solidFill>
                <a:schemeClr val="tx1"/>
              </a:solidFill>
              <a:latin typeface="Georgia" pitchFamily="18" charset="0"/>
            </a:endParaRPr>
          </a:p>
        </p:txBody>
      </p:sp>
      <p:sp>
        <p:nvSpPr>
          <p:cNvPr id="27661" name="Rectangle 20"/>
          <p:cNvSpPr>
            <a:spLocks noChangeArrowheads="1"/>
          </p:cNvSpPr>
          <p:nvPr/>
        </p:nvSpPr>
        <p:spPr bwMode="auto">
          <a:xfrm>
            <a:off x="6864352" y="2232025"/>
            <a:ext cx="22634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dirty="0">
                <a:solidFill>
                  <a:srgbClr val="000000"/>
                </a:solidFill>
                <a:latin typeface="Georgia" pitchFamily="18" charset="0"/>
              </a:rPr>
              <a:t>helps get work done</a:t>
            </a:r>
            <a:endParaRPr lang="en-CA" altLang="zh-CN" dirty="0">
              <a:solidFill>
                <a:schemeClr val="tx1"/>
              </a:solidFill>
              <a:latin typeface="Georgia" pitchFamily="18" charset="0"/>
            </a:endParaRPr>
          </a:p>
        </p:txBody>
      </p:sp>
      <p:sp>
        <p:nvSpPr>
          <p:cNvPr id="27662" name="Rectangle 21"/>
          <p:cNvSpPr>
            <a:spLocks noChangeArrowheads="1"/>
          </p:cNvSpPr>
          <p:nvPr/>
        </p:nvSpPr>
        <p:spPr bwMode="auto">
          <a:xfrm>
            <a:off x="2167467" y="1230313"/>
            <a:ext cx="13882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b="1">
                <a:solidFill>
                  <a:srgbClr val="000000"/>
                </a:solidFill>
                <a:latin typeface="Georgia" pitchFamily="18" charset="0"/>
              </a:rPr>
              <a:t>Customer:</a:t>
            </a:r>
            <a:endParaRPr lang="en-CA" altLang="zh-CN">
              <a:solidFill>
                <a:schemeClr val="tx1"/>
              </a:solidFill>
              <a:latin typeface="Georgia" pitchFamily="18" charset="0"/>
            </a:endParaRPr>
          </a:p>
        </p:txBody>
      </p:sp>
      <p:sp>
        <p:nvSpPr>
          <p:cNvPr id="27663" name="Rectangle 22"/>
          <p:cNvSpPr>
            <a:spLocks noChangeArrowheads="1"/>
          </p:cNvSpPr>
          <p:nvPr/>
        </p:nvSpPr>
        <p:spPr bwMode="auto">
          <a:xfrm>
            <a:off x="3699933" y="1230313"/>
            <a:ext cx="6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 </a:t>
            </a:r>
            <a:endParaRPr lang="en-CA" altLang="zh-CN">
              <a:solidFill>
                <a:schemeClr val="tx1"/>
              </a:solidFill>
              <a:latin typeface="Georgia" pitchFamily="18" charset="0"/>
            </a:endParaRPr>
          </a:p>
        </p:txBody>
      </p:sp>
      <p:sp>
        <p:nvSpPr>
          <p:cNvPr id="27664" name="Rectangle 23"/>
          <p:cNvSpPr>
            <a:spLocks noChangeArrowheads="1"/>
          </p:cNvSpPr>
          <p:nvPr/>
        </p:nvSpPr>
        <p:spPr bwMode="auto">
          <a:xfrm>
            <a:off x="2167468" y="1530350"/>
            <a:ext cx="21560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solves problems at </a:t>
            </a:r>
            <a:endParaRPr lang="en-CA" altLang="zh-CN">
              <a:solidFill>
                <a:schemeClr val="tx1"/>
              </a:solidFill>
              <a:latin typeface="Georgia" pitchFamily="18" charset="0"/>
            </a:endParaRPr>
          </a:p>
        </p:txBody>
      </p:sp>
      <p:sp>
        <p:nvSpPr>
          <p:cNvPr id="27665" name="Rectangle 24"/>
          <p:cNvSpPr>
            <a:spLocks noChangeArrowheads="1"/>
          </p:cNvSpPr>
          <p:nvPr/>
        </p:nvSpPr>
        <p:spPr bwMode="auto">
          <a:xfrm>
            <a:off x="2167467" y="1831975"/>
            <a:ext cx="24061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an acceptable cost in </a:t>
            </a:r>
            <a:endParaRPr lang="en-CA" altLang="zh-CN">
              <a:solidFill>
                <a:schemeClr val="tx1"/>
              </a:solidFill>
              <a:latin typeface="Georgia" pitchFamily="18" charset="0"/>
            </a:endParaRPr>
          </a:p>
        </p:txBody>
      </p:sp>
      <p:sp>
        <p:nvSpPr>
          <p:cNvPr id="27666" name="Rectangle 25"/>
          <p:cNvSpPr>
            <a:spLocks noChangeArrowheads="1"/>
          </p:cNvSpPr>
          <p:nvPr/>
        </p:nvSpPr>
        <p:spPr bwMode="auto">
          <a:xfrm>
            <a:off x="2167467" y="2132013"/>
            <a:ext cx="28821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terms of money paid and </a:t>
            </a:r>
            <a:endParaRPr lang="en-CA" altLang="zh-CN">
              <a:solidFill>
                <a:schemeClr val="tx1"/>
              </a:solidFill>
              <a:latin typeface="Georgia" pitchFamily="18" charset="0"/>
            </a:endParaRPr>
          </a:p>
        </p:txBody>
      </p:sp>
      <p:sp>
        <p:nvSpPr>
          <p:cNvPr id="27667" name="Rectangle 26"/>
          <p:cNvSpPr>
            <a:spLocks noChangeArrowheads="1"/>
          </p:cNvSpPr>
          <p:nvPr/>
        </p:nvSpPr>
        <p:spPr bwMode="auto">
          <a:xfrm>
            <a:off x="2167467" y="2433638"/>
            <a:ext cx="16735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resources used</a:t>
            </a:r>
            <a:endParaRPr lang="en-CA" altLang="zh-CN">
              <a:solidFill>
                <a:schemeClr val="tx1"/>
              </a:solidFill>
              <a:latin typeface="Georgia" pitchFamily="18" charset="0"/>
            </a:endParaRPr>
          </a:p>
        </p:txBody>
      </p:sp>
      <p:sp>
        <p:nvSpPr>
          <p:cNvPr id="27668" name="Rectangle 27"/>
          <p:cNvSpPr>
            <a:spLocks noChangeArrowheads="1"/>
          </p:cNvSpPr>
          <p:nvPr/>
        </p:nvSpPr>
        <p:spPr bwMode="auto">
          <a:xfrm>
            <a:off x="6864351" y="4160838"/>
            <a:ext cx="30857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b="1">
                <a:solidFill>
                  <a:srgbClr val="000000"/>
                </a:solidFill>
                <a:latin typeface="Georgia" pitchFamily="18" charset="0"/>
              </a:rPr>
              <a:t>Development manager:</a:t>
            </a:r>
            <a:endParaRPr lang="en-CA" altLang="zh-CN">
              <a:solidFill>
                <a:schemeClr val="tx1"/>
              </a:solidFill>
              <a:latin typeface="Georgia" pitchFamily="18" charset="0"/>
            </a:endParaRPr>
          </a:p>
        </p:txBody>
      </p:sp>
      <p:sp>
        <p:nvSpPr>
          <p:cNvPr id="27669" name="Rectangle 28"/>
          <p:cNvSpPr>
            <a:spLocks noChangeArrowheads="1"/>
          </p:cNvSpPr>
          <p:nvPr/>
        </p:nvSpPr>
        <p:spPr bwMode="auto">
          <a:xfrm>
            <a:off x="10195984" y="4160838"/>
            <a:ext cx="6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 </a:t>
            </a:r>
            <a:endParaRPr lang="en-CA" altLang="zh-CN">
              <a:solidFill>
                <a:schemeClr val="tx1"/>
              </a:solidFill>
              <a:latin typeface="Georgia" pitchFamily="18" charset="0"/>
            </a:endParaRPr>
          </a:p>
        </p:txBody>
      </p:sp>
      <p:sp>
        <p:nvSpPr>
          <p:cNvPr id="27670" name="Rectangle 29"/>
          <p:cNvSpPr>
            <a:spLocks noChangeArrowheads="1"/>
          </p:cNvSpPr>
          <p:nvPr/>
        </p:nvSpPr>
        <p:spPr bwMode="auto">
          <a:xfrm>
            <a:off x="6864351" y="4462463"/>
            <a:ext cx="170238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sells more and </a:t>
            </a:r>
            <a:endParaRPr lang="en-CA" altLang="zh-CN">
              <a:solidFill>
                <a:schemeClr val="tx1"/>
              </a:solidFill>
              <a:latin typeface="Georgia" pitchFamily="18" charset="0"/>
            </a:endParaRPr>
          </a:p>
        </p:txBody>
      </p:sp>
      <p:sp>
        <p:nvSpPr>
          <p:cNvPr id="27671" name="Rectangle 30"/>
          <p:cNvSpPr>
            <a:spLocks noChangeArrowheads="1"/>
          </p:cNvSpPr>
          <p:nvPr/>
        </p:nvSpPr>
        <p:spPr bwMode="auto">
          <a:xfrm>
            <a:off x="6864351" y="4762500"/>
            <a:ext cx="21095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pleases customers </a:t>
            </a:r>
            <a:endParaRPr lang="en-CA" altLang="zh-CN">
              <a:solidFill>
                <a:schemeClr val="tx1"/>
              </a:solidFill>
              <a:latin typeface="Georgia" pitchFamily="18" charset="0"/>
            </a:endParaRPr>
          </a:p>
        </p:txBody>
      </p:sp>
      <p:sp>
        <p:nvSpPr>
          <p:cNvPr id="27672" name="Rectangle 31"/>
          <p:cNvSpPr>
            <a:spLocks noChangeArrowheads="1"/>
          </p:cNvSpPr>
          <p:nvPr/>
        </p:nvSpPr>
        <p:spPr bwMode="auto">
          <a:xfrm>
            <a:off x="6864352" y="5064125"/>
            <a:ext cx="20277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while costing less </a:t>
            </a:r>
            <a:endParaRPr lang="en-CA" altLang="zh-CN">
              <a:solidFill>
                <a:schemeClr val="tx1"/>
              </a:solidFill>
              <a:latin typeface="Georgia" pitchFamily="18" charset="0"/>
            </a:endParaRPr>
          </a:p>
        </p:txBody>
      </p:sp>
      <p:sp>
        <p:nvSpPr>
          <p:cNvPr id="27673" name="Rectangle 32"/>
          <p:cNvSpPr>
            <a:spLocks noChangeArrowheads="1"/>
          </p:cNvSpPr>
          <p:nvPr/>
        </p:nvSpPr>
        <p:spPr bwMode="auto">
          <a:xfrm>
            <a:off x="6864351" y="5364163"/>
            <a:ext cx="27507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eaLnBrk="1" hangingPunct="1">
              <a:spcBef>
                <a:spcPct val="0"/>
              </a:spcBef>
              <a:buClrTx/>
              <a:buSzTx/>
              <a:buFontTx/>
              <a:buNone/>
            </a:pPr>
            <a:r>
              <a:rPr lang="en-CA" altLang="zh-CN" sz="2000">
                <a:solidFill>
                  <a:srgbClr val="000000"/>
                </a:solidFill>
                <a:latin typeface="Georgia" pitchFamily="18" charset="0"/>
              </a:rPr>
              <a:t>to develop and maintain</a:t>
            </a:r>
            <a:endParaRPr lang="en-CA" altLang="zh-CN">
              <a:solidFill>
                <a:schemeClr val="tx1"/>
              </a:solidFill>
              <a:latin typeface="Georgia" pitchFamily="18" charset="0"/>
            </a:endParaRPr>
          </a:p>
        </p:txBody>
      </p:sp>
      <p:sp>
        <p:nvSpPr>
          <p:cNvPr id="27674" name="Arc 33"/>
          <p:cNvSpPr>
            <a:spLocks/>
          </p:cNvSpPr>
          <p:nvPr/>
        </p:nvSpPr>
        <p:spPr bwMode="auto">
          <a:xfrm>
            <a:off x="4411133" y="2601913"/>
            <a:ext cx="298451" cy="298450"/>
          </a:xfrm>
          <a:custGeom>
            <a:avLst/>
            <a:gdLst>
              <a:gd name="T0" fmla="*/ 2147483647 w 16138"/>
              <a:gd name="T1" fmla="*/ 2147483647 h 21416"/>
              <a:gd name="T2" fmla="*/ 2147483647 w 16138"/>
              <a:gd name="T3" fmla="*/ 2147483647 h 21416"/>
              <a:gd name="T4" fmla="*/ 0 w 16138"/>
              <a:gd name="T5" fmla="*/ 0 h 21416"/>
              <a:gd name="T6" fmla="*/ 0 60000 65536"/>
              <a:gd name="T7" fmla="*/ 0 60000 65536"/>
              <a:gd name="T8" fmla="*/ 0 60000 65536"/>
              <a:gd name="T9" fmla="*/ 0 w 16138"/>
              <a:gd name="T10" fmla="*/ 0 h 21416"/>
              <a:gd name="T11" fmla="*/ 16138 w 16138"/>
              <a:gd name="T12" fmla="*/ 21416 h 21416"/>
            </a:gdLst>
            <a:ahLst/>
            <a:cxnLst>
              <a:cxn ang="T6">
                <a:pos x="T0" y="T1"/>
              </a:cxn>
              <a:cxn ang="T7">
                <a:pos x="T2" y="T3"/>
              </a:cxn>
              <a:cxn ang="T8">
                <a:pos x="T4" y="T5"/>
              </a:cxn>
            </a:cxnLst>
            <a:rect l="T9" t="T10" r="T11" b="T12"/>
            <a:pathLst>
              <a:path w="16138" h="21416" fill="none" extrusionOk="0">
                <a:moveTo>
                  <a:pt x="16138" y="14357"/>
                </a:moveTo>
                <a:cubicBezTo>
                  <a:pt x="12688" y="18234"/>
                  <a:pt x="7957" y="20740"/>
                  <a:pt x="2812" y="21416"/>
                </a:cubicBezTo>
              </a:path>
              <a:path w="16138" h="21416" stroke="0" extrusionOk="0">
                <a:moveTo>
                  <a:pt x="16138" y="14357"/>
                </a:moveTo>
                <a:cubicBezTo>
                  <a:pt x="12688" y="18234"/>
                  <a:pt x="7957" y="20740"/>
                  <a:pt x="2812" y="21416"/>
                </a:cubicBezTo>
                <a:lnTo>
                  <a:pt x="0" y="0"/>
                </a:lnTo>
                <a:lnTo>
                  <a:pt x="16138" y="143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5" name="Line 34"/>
          <p:cNvSpPr>
            <a:spLocks noChangeShapeType="1"/>
          </p:cNvSpPr>
          <p:nvPr/>
        </p:nvSpPr>
        <p:spPr bwMode="auto">
          <a:xfrm>
            <a:off x="4576234" y="2825750"/>
            <a:ext cx="300567" cy="450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Arc 35"/>
          <p:cNvSpPr>
            <a:spLocks/>
          </p:cNvSpPr>
          <p:nvPr/>
        </p:nvSpPr>
        <p:spPr bwMode="auto">
          <a:xfrm>
            <a:off x="3799418" y="4192588"/>
            <a:ext cx="387349" cy="246062"/>
          </a:xfrm>
          <a:custGeom>
            <a:avLst/>
            <a:gdLst>
              <a:gd name="T0" fmla="*/ 2147483647 w 20901"/>
              <a:gd name="T1" fmla="*/ 0 h 17669"/>
              <a:gd name="T2" fmla="*/ 2147483647 w 20901"/>
              <a:gd name="T3" fmla="*/ 2147483647 h 17669"/>
              <a:gd name="T4" fmla="*/ 0 w 20901"/>
              <a:gd name="T5" fmla="*/ 2147483647 h 17669"/>
              <a:gd name="T6" fmla="*/ 0 60000 65536"/>
              <a:gd name="T7" fmla="*/ 0 60000 65536"/>
              <a:gd name="T8" fmla="*/ 0 60000 65536"/>
              <a:gd name="T9" fmla="*/ 0 w 20901"/>
              <a:gd name="T10" fmla="*/ 0 h 17669"/>
              <a:gd name="T11" fmla="*/ 20901 w 20901"/>
              <a:gd name="T12" fmla="*/ 17669 h 17669"/>
            </a:gdLst>
            <a:ahLst/>
            <a:cxnLst>
              <a:cxn ang="T6">
                <a:pos x="T0" y="T1"/>
              </a:cxn>
              <a:cxn ang="T7">
                <a:pos x="T2" y="T3"/>
              </a:cxn>
              <a:cxn ang="T8">
                <a:pos x="T4" y="T5"/>
              </a:cxn>
            </a:cxnLst>
            <a:rect l="T9" t="T10" r="T11" b="T12"/>
            <a:pathLst>
              <a:path w="20901" h="17669" fill="none" extrusionOk="0">
                <a:moveTo>
                  <a:pt x="12424" y="0"/>
                </a:moveTo>
                <a:cubicBezTo>
                  <a:pt x="16607" y="2941"/>
                  <a:pt x="19610" y="7271"/>
                  <a:pt x="20901" y="12218"/>
                </a:cubicBezTo>
              </a:path>
              <a:path w="20901" h="17669" stroke="0" extrusionOk="0">
                <a:moveTo>
                  <a:pt x="12424" y="0"/>
                </a:moveTo>
                <a:cubicBezTo>
                  <a:pt x="16607" y="2941"/>
                  <a:pt x="19610" y="7271"/>
                  <a:pt x="20901" y="12218"/>
                </a:cubicBezTo>
                <a:lnTo>
                  <a:pt x="0" y="17669"/>
                </a:lnTo>
                <a:lnTo>
                  <a:pt x="124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7" name="Line 36"/>
          <p:cNvSpPr>
            <a:spLocks noChangeShapeType="1"/>
          </p:cNvSpPr>
          <p:nvPr/>
        </p:nvSpPr>
        <p:spPr bwMode="auto">
          <a:xfrm flipH="1">
            <a:off x="4099985" y="3911600"/>
            <a:ext cx="698500" cy="3508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8" name="Arc 37"/>
          <p:cNvSpPr>
            <a:spLocks/>
          </p:cNvSpPr>
          <p:nvPr/>
        </p:nvSpPr>
        <p:spPr bwMode="auto">
          <a:xfrm>
            <a:off x="6430434" y="4151313"/>
            <a:ext cx="334433" cy="287337"/>
          </a:xfrm>
          <a:custGeom>
            <a:avLst/>
            <a:gdLst>
              <a:gd name="T0" fmla="*/ 0 w 18117"/>
              <a:gd name="T1" fmla="*/ 2147483647 h 20653"/>
              <a:gd name="T2" fmla="*/ 2147483647 w 18117"/>
              <a:gd name="T3" fmla="*/ 0 h 20653"/>
              <a:gd name="T4" fmla="*/ 2147483647 w 18117"/>
              <a:gd name="T5" fmla="*/ 2147483647 h 20653"/>
              <a:gd name="T6" fmla="*/ 0 60000 65536"/>
              <a:gd name="T7" fmla="*/ 0 60000 65536"/>
              <a:gd name="T8" fmla="*/ 0 60000 65536"/>
              <a:gd name="T9" fmla="*/ 0 w 18117"/>
              <a:gd name="T10" fmla="*/ 0 h 20653"/>
              <a:gd name="T11" fmla="*/ 18117 w 18117"/>
              <a:gd name="T12" fmla="*/ 20653 h 20653"/>
            </a:gdLst>
            <a:ahLst/>
            <a:cxnLst>
              <a:cxn ang="T6">
                <a:pos x="T0" y="T1"/>
              </a:cxn>
              <a:cxn ang="T7">
                <a:pos x="T2" y="T3"/>
              </a:cxn>
              <a:cxn ang="T8">
                <a:pos x="T4" y="T5"/>
              </a:cxn>
            </a:cxnLst>
            <a:rect l="T9" t="T10" r="T11" b="T12"/>
            <a:pathLst>
              <a:path w="18117" h="20653" fill="none" extrusionOk="0">
                <a:moveTo>
                  <a:pt x="0" y="8891"/>
                </a:moveTo>
                <a:cubicBezTo>
                  <a:pt x="2763" y="4634"/>
                  <a:pt x="6938" y="1486"/>
                  <a:pt x="11791" y="0"/>
                </a:cubicBezTo>
              </a:path>
              <a:path w="18117" h="20653" stroke="0" extrusionOk="0">
                <a:moveTo>
                  <a:pt x="0" y="8891"/>
                </a:moveTo>
                <a:cubicBezTo>
                  <a:pt x="2763" y="4634"/>
                  <a:pt x="6938" y="1486"/>
                  <a:pt x="11791" y="0"/>
                </a:cubicBezTo>
                <a:lnTo>
                  <a:pt x="18117" y="20653"/>
                </a:lnTo>
                <a:lnTo>
                  <a:pt x="0" y="88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Line 38"/>
          <p:cNvSpPr>
            <a:spLocks noChangeShapeType="1"/>
          </p:cNvSpPr>
          <p:nvPr/>
        </p:nvSpPr>
        <p:spPr bwMode="auto">
          <a:xfrm>
            <a:off x="6263218" y="3937000"/>
            <a:ext cx="266700" cy="2746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0" name="Arc 39"/>
          <p:cNvSpPr>
            <a:spLocks/>
          </p:cNvSpPr>
          <p:nvPr/>
        </p:nvSpPr>
        <p:spPr bwMode="auto">
          <a:xfrm>
            <a:off x="6568018" y="2724151"/>
            <a:ext cx="359833" cy="276225"/>
          </a:xfrm>
          <a:custGeom>
            <a:avLst/>
            <a:gdLst>
              <a:gd name="T0" fmla="*/ 2147483647 w 19450"/>
              <a:gd name="T1" fmla="*/ 2147483647 h 19777"/>
              <a:gd name="T2" fmla="*/ 0 w 19450"/>
              <a:gd name="T3" fmla="*/ 2147483647 h 19777"/>
              <a:gd name="T4" fmla="*/ 2147483647 w 19450"/>
              <a:gd name="T5" fmla="*/ 0 h 19777"/>
              <a:gd name="T6" fmla="*/ 0 60000 65536"/>
              <a:gd name="T7" fmla="*/ 0 60000 65536"/>
              <a:gd name="T8" fmla="*/ 0 60000 65536"/>
              <a:gd name="T9" fmla="*/ 0 w 19450"/>
              <a:gd name="T10" fmla="*/ 0 h 19777"/>
              <a:gd name="T11" fmla="*/ 19450 w 19450"/>
              <a:gd name="T12" fmla="*/ 19777 h 19777"/>
            </a:gdLst>
            <a:ahLst/>
            <a:cxnLst>
              <a:cxn ang="T6">
                <a:pos x="T0" y="T1"/>
              </a:cxn>
              <a:cxn ang="T7">
                <a:pos x="T2" y="T3"/>
              </a:cxn>
              <a:cxn ang="T8">
                <a:pos x="T4" y="T5"/>
              </a:cxn>
            </a:cxnLst>
            <a:rect l="T9" t="T10" r="T11" b="T12"/>
            <a:pathLst>
              <a:path w="19450" h="19777" fill="none" extrusionOk="0">
                <a:moveTo>
                  <a:pt x="10764" y="19776"/>
                </a:moveTo>
                <a:cubicBezTo>
                  <a:pt x="6054" y="17708"/>
                  <a:pt x="2237" y="14026"/>
                  <a:pt x="0" y="9394"/>
                </a:cubicBezTo>
              </a:path>
              <a:path w="19450" h="19777" stroke="0" extrusionOk="0">
                <a:moveTo>
                  <a:pt x="10764" y="19776"/>
                </a:moveTo>
                <a:cubicBezTo>
                  <a:pt x="6054" y="17708"/>
                  <a:pt x="2237" y="14026"/>
                  <a:pt x="0" y="9394"/>
                </a:cubicBezTo>
                <a:lnTo>
                  <a:pt x="19450" y="0"/>
                </a:lnTo>
                <a:lnTo>
                  <a:pt x="10764" y="197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1" name="Line 40"/>
          <p:cNvSpPr>
            <a:spLocks noChangeShapeType="1"/>
          </p:cNvSpPr>
          <p:nvPr/>
        </p:nvSpPr>
        <p:spPr bwMode="auto">
          <a:xfrm flipH="1">
            <a:off x="6261100" y="2898775"/>
            <a:ext cx="400051" cy="3508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991865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672123" y="803031"/>
            <a:ext cx="11074400" cy="1143000"/>
          </a:xfrm>
        </p:spPr>
        <p:txBody>
          <a:bodyPr>
            <a:normAutofit fontScale="90000"/>
          </a:bodyPr>
          <a:lstStyle/>
          <a:p>
            <a:pPr eaLnBrk="1" hangingPunct="1"/>
            <a:r>
              <a:rPr lang="en-US" altLang="zh-CN" dirty="0" smtClean="0">
                <a:solidFill>
                  <a:srgbClr val="2309E1"/>
                </a:solidFill>
                <a:ea typeface="SimSun" pitchFamily="2" charset="-122"/>
              </a:rPr>
              <a:t>Challenges in Software projects /SE </a:t>
            </a:r>
            <a:r>
              <a:rPr lang="en-US" altLang="zh-CN" sz="3200" dirty="0" smtClean="0">
                <a:solidFill>
                  <a:srgbClr val="2309E1"/>
                </a:solidFill>
                <a:ea typeface="SimSun" pitchFamily="2" charset="-122"/>
              </a:rPr>
              <a:t>(calls for </a:t>
            </a:r>
            <a:r>
              <a:rPr lang="en-US" altLang="zh-CN" sz="3200" dirty="0" smtClean="0">
                <a:solidFill>
                  <a:srgbClr val="2309E1"/>
                </a:solidFill>
                <a:cs typeface="方正姚体"/>
              </a:rPr>
              <a:t> specializations </a:t>
            </a:r>
            <a:endParaRPr lang="en-US" altLang="zh-CN" sz="3200" dirty="0" smtClean="0">
              <a:solidFill>
                <a:srgbClr val="2309E1"/>
              </a:solidFill>
              <a:ea typeface="SimSun" pitchFamily="2" charset="-122"/>
            </a:endParaRPr>
          </a:p>
        </p:txBody>
      </p:sp>
      <p:sp>
        <p:nvSpPr>
          <p:cNvPr id="43012" name="Content Placeholder 2"/>
          <p:cNvSpPr>
            <a:spLocks noGrp="1"/>
          </p:cNvSpPr>
          <p:nvPr>
            <p:ph idx="1"/>
          </p:nvPr>
        </p:nvSpPr>
        <p:spPr>
          <a:xfrm>
            <a:off x="757441" y="2286000"/>
            <a:ext cx="10778067" cy="4572000"/>
          </a:xfrm>
        </p:spPr>
        <p:txBody>
          <a:bodyPr rtlCol="0">
            <a:noAutofit/>
          </a:bodyPr>
          <a:lstStyle/>
          <a:p>
            <a:pPr eaLnBrk="1" fontAlgn="auto" hangingPunct="1">
              <a:spcAft>
                <a:spcPts val="0"/>
              </a:spcAft>
              <a:buClr>
                <a:srgbClr val="0B0349"/>
              </a:buClr>
              <a:buFont typeface="Wingdings" panose="05000000000000000000" pitchFamily="2" charset="2"/>
              <a:buChar char="§"/>
              <a:defRPr/>
            </a:pPr>
            <a:r>
              <a:rPr lang="en-US" sz="2400" dirty="0" smtClean="0">
                <a:solidFill>
                  <a:schemeClr val="tx1">
                    <a:lumMod val="75000"/>
                    <a:lumOff val="25000"/>
                  </a:schemeClr>
                </a:solidFill>
              </a:rPr>
              <a:t>Software </a:t>
            </a:r>
          </a:p>
          <a:p>
            <a:pPr lvl="1" eaLnBrk="1" fontAlgn="auto" hangingPunct="1">
              <a:spcAft>
                <a:spcPts val="0"/>
              </a:spcAft>
              <a:buClr>
                <a:srgbClr val="0B0349"/>
              </a:buClr>
              <a:buFont typeface="Arial" panose="020B0604020202020204" pitchFamily="34" charset="0"/>
              <a:buChar char="•"/>
              <a:defRPr/>
            </a:pPr>
            <a:r>
              <a:rPr lang="en-US" sz="2400" dirty="0" smtClean="0">
                <a:solidFill>
                  <a:schemeClr val="tx1">
                    <a:lumMod val="75000"/>
                    <a:lumOff val="25000"/>
                  </a:schemeClr>
                </a:solidFill>
              </a:rPr>
              <a:t>Was full of error</a:t>
            </a:r>
          </a:p>
          <a:p>
            <a:pPr lvl="1" eaLnBrk="1" fontAlgn="auto" hangingPunct="1">
              <a:spcAft>
                <a:spcPts val="0"/>
              </a:spcAft>
              <a:buClr>
                <a:srgbClr val="0B0349"/>
              </a:buClr>
              <a:buFont typeface="Arial" panose="020B0604020202020204" pitchFamily="34" charset="0"/>
              <a:buChar char="•"/>
              <a:defRPr/>
            </a:pPr>
            <a:r>
              <a:rPr lang="en-US" sz="2400" dirty="0" smtClean="0">
                <a:solidFill>
                  <a:schemeClr val="tx1">
                    <a:lumMod val="75000"/>
                    <a:lumOff val="25000"/>
                  </a:schemeClr>
                </a:solidFill>
              </a:rPr>
              <a:t>Could not be maintained</a:t>
            </a:r>
          </a:p>
          <a:p>
            <a:pPr lvl="1" eaLnBrk="1" fontAlgn="auto" hangingPunct="1">
              <a:spcAft>
                <a:spcPts val="0"/>
              </a:spcAft>
              <a:buClr>
                <a:srgbClr val="0B0349"/>
              </a:buClr>
              <a:buFont typeface="Arial" panose="020B0604020202020204" pitchFamily="34" charset="0"/>
              <a:buChar char="•"/>
              <a:defRPr/>
            </a:pPr>
            <a:r>
              <a:rPr lang="en-US" sz="2400" dirty="0" smtClean="0">
                <a:solidFill>
                  <a:schemeClr val="tx1">
                    <a:lumMod val="75000"/>
                    <a:lumOff val="25000"/>
                  </a:schemeClr>
                </a:solidFill>
              </a:rPr>
              <a:t>Was not delivered on time</a:t>
            </a:r>
          </a:p>
          <a:p>
            <a:pPr lvl="1" eaLnBrk="1" fontAlgn="auto" hangingPunct="1">
              <a:spcAft>
                <a:spcPts val="0"/>
              </a:spcAft>
              <a:buClr>
                <a:srgbClr val="0B0349"/>
              </a:buClr>
              <a:buFont typeface="Arial" panose="020B0604020202020204" pitchFamily="34" charset="0"/>
              <a:buChar char="•"/>
              <a:defRPr/>
            </a:pPr>
            <a:r>
              <a:rPr lang="en-US" sz="2400" dirty="0" smtClean="0">
                <a:solidFill>
                  <a:schemeClr val="tx1">
                    <a:lumMod val="75000"/>
                    <a:lumOff val="25000"/>
                  </a:schemeClr>
                </a:solidFill>
              </a:rPr>
              <a:t>Did not meet requirements</a:t>
            </a:r>
          </a:p>
          <a:p>
            <a:pPr eaLnBrk="1" fontAlgn="auto" hangingPunct="1">
              <a:spcAft>
                <a:spcPts val="0"/>
              </a:spcAft>
              <a:buClr>
                <a:srgbClr val="0B0349"/>
              </a:buClr>
              <a:buFont typeface="Wingdings" panose="05000000000000000000" pitchFamily="2" charset="2"/>
              <a:buChar char="§"/>
              <a:defRPr/>
            </a:pPr>
            <a:r>
              <a:rPr lang="en-US" altLang="zh-CN" sz="2400" dirty="0" smtClean="0">
                <a:solidFill>
                  <a:schemeClr val="tx1">
                    <a:lumMod val="75000"/>
                    <a:lumOff val="25000"/>
                  </a:schemeClr>
                </a:solidFill>
              </a:rPr>
              <a:t>Software Systems are </a:t>
            </a:r>
            <a:r>
              <a:rPr lang="en-US" altLang="zh-CN" sz="2400" dirty="0" smtClean="0">
                <a:solidFill>
                  <a:srgbClr val="FF0000"/>
                </a:solidFill>
              </a:rPr>
              <a:t>Complex</a:t>
            </a:r>
          </a:p>
          <a:p>
            <a:pPr lvl="1" eaLnBrk="1" fontAlgn="auto" hangingPunct="1">
              <a:spcAft>
                <a:spcPts val="0"/>
              </a:spcAft>
              <a:buClr>
                <a:srgbClr val="0B0349"/>
              </a:buClr>
              <a:buFont typeface="Arial" panose="020B0604020202020204" pitchFamily="34" charset="0"/>
              <a:buChar char="•"/>
              <a:defRPr/>
            </a:pPr>
            <a:r>
              <a:rPr lang="en-US" altLang="zh-CN" sz="2400" dirty="0" smtClean="0">
                <a:solidFill>
                  <a:schemeClr val="tx1">
                    <a:lumMod val="75000"/>
                    <a:lumOff val="25000"/>
                  </a:schemeClr>
                </a:solidFill>
              </a:rPr>
              <a:t>Many functions, participants, components</a:t>
            </a:r>
          </a:p>
          <a:p>
            <a:pPr eaLnBrk="1" fontAlgn="auto" hangingPunct="1">
              <a:spcAft>
                <a:spcPts val="0"/>
              </a:spcAft>
              <a:buClr>
                <a:srgbClr val="0B0349"/>
              </a:buClr>
              <a:buFont typeface="Wingdings" panose="05000000000000000000" pitchFamily="2" charset="2"/>
              <a:buChar char="§"/>
              <a:defRPr/>
            </a:pPr>
            <a:r>
              <a:rPr lang="en-US" altLang="zh-CN" sz="2400" dirty="0" smtClean="0">
                <a:solidFill>
                  <a:srgbClr val="FF0000"/>
                </a:solidFill>
              </a:rPr>
              <a:t>Software development projects </a:t>
            </a:r>
            <a:r>
              <a:rPr lang="en-US" altLang="zh-CN" sz="2400" dirty="0" smtClean="0">
                <a:solidFill>
                  <a:schemeClr val="tx1">
                    <a:lumMod val="75000"/>
                    <a:lumOff val="25000"/>
                  </a:schemeClr>
                </a:solidFill>
              </a:rPr>
              <a:t>are subject to change</a:t>
            </a:r>
          </a:p>
          <a:p>
            <a:pPr lvl="1" eaLnBrk="1" fontAlgn="auto" hangingPunct="1">
              <a:spcAft>
                <a:spcPts val="0"/>
              </a:spcAft>
              <a:buClr>
                <a:srgbClr val="0B0349"/>
              </a:buClr>
              <a:buFont typeface="Arial" panose="020B0604020202020204" pitchFamily="34" charset="0"/>
              <a:buChar char="•"/>
              <a:defRPr/>
            </a:pPr>
            <a:r>
              <a:rPr lang="en-US" altLang="zh-CN" sz="2400" dirty="0" smtClean="0">
                <a:solidFill>
                  <a:schemeClr val="tx1">
                    <a:lumMod val="75000"/>
                    <a:lumOff val="25000"/>
                  </a:schemeClr>
                </a:solidFill>
              </a:rPr>
              <a:t>Users requirements are dynamic</a:t>
            </a:r>
          </a:p>
          <a:p>
            <a:pPr marL="319088" lvl="1" indent="0" eaLnBrk="1" fontAlgn="auto" hangingPunct="1">
              <a:spcAft>
                <a:spcPts val="0"/>
              </a:spcAft>
              <a:buFont typeface="Wingdings 2" panose="05020102010507070707" pitchFamily="18" charset="2"/>
              <a:buNone/>
              <a:defRPr/>
            </a:pPr>
            <a:r>
              <a:rPr lang="en-US" altLang="zh-CN" sz="2400" dirty="0" smtClean="0">
                <a:solidFill>
                  <a:schemeClr val="tx1">
                    <a:lumMod val="75000"/>
                    <a:lumOff val="25000"/>
                  </a:schemeClr>
                </a:solidFill>
              </a:rPr>
              <a:t>		</a:t>
            </a:r>
          </a:p>
        </p:txBody>
      </p:sp>
      <p:sp>
        <p:nvSpPr>
          <p:cNvPr id="3277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8603C99D-FA1A-4118-8ABB-2E853CB1CF23}" type="slidenum">
              <a:rPr lang="en-US" altLang="zh-CN" sz="1400">
                <a:solidFill>
                  <a:srgbClr val="FFFFFF"/>
                </a:solidFill>
                <a:latin typeface="Franklin Gothic Book" pitchFamily="34" charset="0"/>
                <a:cs typeface="Arial" pitchFamily="34" charset="0"/>
              </a:rPr>
              <a:pPr>
                <a:spcBef>
                  <a:spcPct val="0"/>
                </a:spcBef>
                <a:buClrTx/>
                <a:buSzTx/>
                <a:buFontTx/>
                <a:buNone/>
              </a:pPr>
              <a:t>17</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15759850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3D22681A-5E84-4F14-87D8-7702806DB32D}" type="slidenum">
              <a:rPr lang="en-US" altLang="zh-CN" sz="1400">
                <a:solidFill>
                  <a:srgbClr val="FFFFFF"/>
                </a:solidFill>
                <a:latin typeface="Franklin Gothic Book" pitchFamily="34" charset="0"/>
                <a:cs typeface="Arial" pitchFamily="34" charset="0"/>
              </a:rPr>
              <a:pPr>
                <a:spcBef>
                  <a:spcPct val="0"/>
                </a:spcBef>
                <a:buClrTx/>
                <a:buSzTx/>
                <a:buFontTx/>
                <a:buNone/>
              </a:pPr>
              <a:t>18</a:t>
            </a:fld>
            <a:endParaRPr lang="en-US" altLang="zh-CN" sz="1400">
              <a:solidFill>
                <a:srgbClr val="FFFFFF"/>
              </a:solidFill>
              <a:latin typeface="Franklin Gothic Book" pitchFamily="34" charset="0"/>
              <a:cs typeface="Arial" pitchFamily="34" charset="0"/>
            </a:endParaRPr>
          </a:p>
        </p:txBody>
      </p:sp>
      <p:pic>
        <p:nvPicPr>
          <p:cNvPr id="34819" name="Picture 5"/>
          <p:cNvPicPr>
            <a:picLocks noChangeAspect="1" noChangeArrowheads="1"/>
          </p:cNvPicPr>
          <p:nvPr/>
        </p:nvPicPr>
        <p:blipFill>
          <a:blip r:embed="rId2">
            <a:extLst>
              <a:ext uri="{28A0092B-C50C-407E-A947-70E740481C1C}">
                <a14:useLocalDpi xmlns:a14="http://schemas.microsoft.com/office/drawing/2010/main" val="0"/>
              </a:ext>
            </a:extLst>
          </a:blip>
          <a:srcRect l="17969" t="27333" r="15625" b="17999"/>
          <a:stretch>
            <a:fillRect/>
          </a:stretch>
        </p:blipFill>
        <p:spPr bwMode="auto">
          <a:xfrm>
            <a:off x="302685" y="381000"/>
            <a:ext cx="11584516"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69912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30554" y="1184031"/>
            <a:ext cx="12192000" cy="1009650"/>
          </a:xfrm>
        </p:spPr>
        <p:txBody>
          <a:bodyPr/>
          <a:lstStyle/>
          <a:p>
            <a:pPr eaLnBrk="1" hangingPunct="1"/>
            <a:r>
              <a:rPr lang="en-US" altLang="zh-CN" dirty="0" smtClean="0">
                <a:solidFill>
                  <a:srgbClr val="2309E1"/>
                </a:solidFill>
                <a:ea typeface="SimSun" pitchFamily="2" charset="-122"/>
              </a:rPr>
              <a:t>Specializations - software engineering</a:t>
            </a:r>
          </a:p>
        </p:txBody>
      </p:sp>
      <p:sp>
        <p:nvSpPr>
          <p:cNvPr id="35843" name="Content Placeholder 2"/>
          <p:cNvSpPr>
            <a:spLocks noGrp="1"/>
          </p:cNvSpPr>
          <p:nvPr>
            <p:ph idx="1"/>
          </p:nvPr>
        </p:nvSpPr>
        <p:spPr>
          <a:xfrm>
            <a:off x="508000" y="2361835"/>
            <a:ext cx="11074400" cy="4953000"/>
          </a:xfrm>
        </p:spPr>
        <p:txBody>
          <a:bodyPr/>
          <a:lstStyle/>
          <a:p>
            <a:pPr eaLnBrk="1" hangingPunct="1">
              <a:buFont typeface="Arial" pitchFamily="34" charset="0"/>
              <a:buNone/>
            </a:pPr>
            <a:r>
              <a:rPr lang="en-US" altLang="zh-CN" dirty="0" smtClean="0">
                <a:cs typeface="华文新魏"/>
              </a:rPr>
              <a:t>Software engineering can be divided into 9 sub-disciplines:</a:t>
            </a:r>
          </a:p>
          <a:p>
            <a:pPr marL="0" indent="0" eaLnBrk="1" hangingPunct="1">
              <a:buNone/>
            </a:pPr>
            <a:r>
              <a:rPr lang="en-US" altLang="zh-CN" dirty="0" smtClean="0">
                <a:solidFill>
                  <a:srgbClr val="FF0000"/>
                </a:solidFill>
                <a:cs typeface="华文新魏"/>
              </a:rPr>
              <a:t>Software requirements</a:t>
            </a:r>
          </a:p>
          <a:p>
            <a:pPr lvl="1" eaLnBrk="1" hangingPunct="1">
              <a:buFont typeface="Arial" pitchFamily="34" charset="0"/>
              <a:buChar char="–"/>
            </a:pPr>
            <a:r>
              <a:rPr lang="en-US" altLang="zh-CN" sz="2400" dirty="0" smtClean="0">
                <a:cs typeface="华文新魏"/>
              </a:rPr>
              <a:t>The elicitation, analysis, specification, and validation of requirements for software. </a:t>
            </a:r>
          </a:p>
          <a:p>
            <a:pPr marL="0" indent="0" eaLnBrk="1" hangingPunct="1">
              <a:buNone/>
            </a:pPr>
            <a:r>
              <a:rPr lang="en-US" altLang="zh-CN" dirty="0" smtClean="0">
                <a:solidFill>
                  <a:srgbClr val="FF0000"/>
                </a:solidFill>
                <a:cs typeface="华文新魏"/>
              </a:rPr>
              <a:t>Software design</a:t>
            </a:r>
          </a:p>
          <a:p>
            <a:pPr lvl="1" eaLnBrk="1" hangingPunct="1">
              <a:buFont typeface="Arial" pitchFamily="34" charset="0"/>
              <a:buChar char="–"/>
            </a:pPr>
            <a:r>
              <a:rPr lang="en-US" altLang="zh-CN" sz="2400" dirty="0" smtClean="0">
                <a:cs typeface="华文新魏"/>
              </a:rPr>
              <a:t>The design of software is usually done with Computer-Aided Software Engineering (CASE) tools and use standards for the format, such as the Unified Modeling Language (UML). </a:t>
            </a:r>
          </a:p>
          <a:p>
            <a:pPr marL="0" indent="0" eaLnBrk="1" hangingPunct="1">
              <a:buNone/>
            </a:pPr>
            <a:r>
              <a:rPr lang="en-US" altLang="zh-CN" dirty="0" smtClean="0">
                <a:solidFill>
                  <a:srgbClr val="FF0000"/>
                </a:solidFill>
                <a:cs typeface="华文新魏"/>
              </a:rPr>
              <a:t>Software development</a:t>
            </a:r>
          </a:p>
          <a:p>
            <a:pPr lvl="1" eaLnBrk="1" hangingPunct="1">
              <a:buFont typeface="Arial" pitchFamily="34" charset="0"/>
              <a:buChar char="–"/>
            </a:pPr>
            <a:r>
              <a:rPr lang="en-US" altLang="zh-CN" sz="2400" dirty="0" smtClean="0">
                <a:cs typeface="华文新魏"/>
              </a:rPr>
              <a:t>The construction of software through the use of programming languages. </a:t>
            </a:r>
          </a:p>
          <a:p>
            <a:pPr eaLnBrk="1" hangingPunct="1">
              <a:buFont typeface="Arial" pitchFamily="34" charset="0"/>
              <a:buChar char="•"/>
            </a:pPr>
            <a:endParaRPr lang="en-US" altLang="zh-CN" sz="2000" dirty="0" smtClean="0">
              <a:cs typeface="华文新魏"/>
            </a:endParaRPr>
          </a:p>
        </p:txBody>
      </p:sp>
      <p:sp>
        <p:nvSpPr>
          <p:cNvPr id="358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E75B67D6-74A8-4858-BDF6-BFE4EF73C046}" type="slidenum">
              <a:rPr lang="en-US" altLang="zh-CN" sz="1400">
                <a:solidFill>
                  <a:srgbClr val="FFFFFF"/>
                </a:solidFill>
                <a:latin typeface="Franklin Gothic Book" pitchFamily="34" charset="0"/>
                <a:cs typeface="Arial" pitchFamily="34" charset="0"/>
              </a:rPr>
              <a:pPr>
                <a:spcBef>
                  <a:spcPct val="0"/>
                </a:spcBef>
                <a:buClrTx/>
                <a:buSzTx/>
                <a:buFontTx/>
                <a:buNone/>
              </a:pPr>
              <a:t>19</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21721873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367323" y="973015"/>
            <a:ext cx="10972800" cy="1143000"/>
          </a:xfrm>
        </p:spPr>
        <p:txBody>
          <a:bodyPr/>
          <a:lstStyle/>
          <a:p>
            <a:pPr eaLnBrk="1" hangingPunct="1"/>
            <a:r>
              <a:rPr lang="en-US" altLang="zh-CN" dirty="0" err="1" smtClean="0">
                <a:solidFill>
                  <a:srgbClr val="7B9899"/>
                </a:solidFill>
                <a:ea typeface="SimSun" pitchFamily="2" charset="-122"/>
              </a:rPr>
              <a:t>Cont</a:t>
            </a:r>
            <a:r>
              <a:rPr lang="en-US" altLang="zh-CN" dirty="0" smtClean="0">
                <a:solidFill>
                  <a:srgbClr val="7B9899"/>
                </a:solidFill>
                <a:ea typeface="SimSun" pitchFamily="2" charset="-122"/>
              </a:rPr>
              <a:t>…</a:t>
            </a:r>
          </a:p>
        </p:txBody>
      </p:sp>
      <p:sp>
        <p:nvSpPr>
          <p:cNvPr id="36867" name="Content Placeholder 2"/>
          <p:cNvSpPr>
            <a:spLocks noGrp="1"/>
          </p:cNvSpPr>
          <p:nvPr>
            <p:ph idx="1"/>
          </p:nvPr>
        </p:nvSpPr>
        <p:spPr>
          <a:xfrm>
            <a:off x="507675" y="2379785"/>
            <a:ext cx="11338984" cy="5029200"/>
          </a:xfrm>
        </p:spPr>
        <p:txBody>
          <a:bodyPr/>
          <a:lstStyle/>
          <a:p>
            <a:pPr marL="0" indent="0" eaLnBrk="1" hangingPunct="1">
              <a:lnSpc>
                <a:spcPct val="90000"/>
              </a:lnSpc>
              <a:buNone/>
            </a:pPr>
            <a:r>
              <a:rPr lang="en-US" altLang="zh-CN" sz="2000" dirty="0" smtClean="0">
                <a:solidFill>
                  <a:srgbClr val="FF0000"/>
                </a:solidFill>
                <a:cs typeface="华文新魏"/>
              </a:rPr>
              <a:t>Software testing</a:t>
            </a:r>
          </a:p>
          <a:p>
            <a:pPr lvl="1" eaLnBrk="1" hangingPunct="1">
              <a:lnSpc>
                <a:spcPct val="90000"/>
              </a:lnSpc>
              <a:buFont typeface="Arial" pitchFamily="34" charset="0"/>
              <a:buChar char="–"/>
            </a:pPr>
            <a:r>
              <a:rPr lang="en-US" altLang="zh-CN" sz="2000" dirty="0" smtClean="0">
                <a:cs typeface="华文新魏"/>
              </a:rPr>
              <a:t>Software Testing is an empirical investigation conducted to provide stakeholders with information about the quality of the product or service under test, with respect to the context in which it is intended to operate.</a:t>
            </a:r>
          </a:p>
          <a:p>
            <a:pPr marL="0" indent="0" eaLnBrk="1" hangingPunct="1">
              <a:lnSpc>
                <a:spcPct val="90000"/>
              </a:lnSpc>
              <a:buNone/>
            </a:pPr>
            <a:r>
              <a:rPr lang="en-US" altLang="zh-CN" sz="2000" dirty="0" smtClean="0">
                <a:solidFill>
                  <a:srgbClr val="FF0000"/>
                </a:solidFill>
                <a:cs typeface="华文新魏"/>
              </a:rPr>
              <a:t>Software maintenance</a:t>
            </a:r>
          </a:p>
          <a:p>
            <a:pPr lvl="1" eaLnBrk="1" hangingPunct="1">
              <a:lnSpc>
                <a:spcPct val="90000"/>
              </a:lnSpc>
              <a:buFont typeface="Arial" pitchFamily="34" charset="0"/>
              <a:buChar char="–"/>
            </a:pPr>
            <a:r>
              <a:rPr lang="en-US" altLang="zh-CN" sz="2000" dirty="0" smtClean="0">
                <a:cs typeface="华文新魏"/>
              </a:rPr>
              <a:t>Software systems often have problems and need enhancements for a long time after they are first completed. This subfield deals with those problems. </a:t>
            </a:r>
          </a:p>
          <a:p>
            <a:pPr marL="0" indent="0" eaLnBrk="1" hangingPunct="1">
              <a:lnSpc>
                <a:spcPct val="90000"/>
              </a:lnSpc>
              <a:buNone/>
            </a:pPr>
            <a:r>
              <a:rPr lang="en-US" altLang="zh-CN" sz="2000" dirty="0" smtClean="0">
                <a:solidFill>
                  <a:srgbClr val="FF0000"/>
                </a:solidFill>
                <a:cs typeface="华文新魏"/>
              </a:rPr>
              <a:t>Software configuration management</a:t>
            </a:r>
          </a:p>
          <a:p>
            <a:pPr lvl="1" eaLnBrk="1" hangingPunct="1">
              <a:lnSpc>
                <a:spcPct val="90000"/>
              </a:lnSpc>
              <a:buFont typeface="Arial" pitchFamily="34" charset="0"/>
              <a:buChar char="–"/>
            </a:pPr>
            <a:r>
              <a:rPr lang="en-US" altLang="zh-CN" sz="2000" dirty="0" smtClean="0">
                <a:cs typeface="华文新魏"/>
              </a:rPr>
              <a:t>Since software systems are very complex, their configuration (such as versioning and source control) have to be managed in a standardized and structured method. </a:t>
            </a:r>
          </a:p>
          <a:p>
            <a:pPr lvl="1" eaLnBrk="1" hangingPunct="1">
              <a:lnSpc>
                <a:spcPct val="90000"/>
              </a:lnSpc>
              <a:buFont typeface="Arial" pitchFamily="34" charset="0"/>
              <a:buChar char="–"/>
            </a:pPr>
            <a:endParaRPr lang="en-US" altLang="zh-CN" sz="2000" dirty="0" smtClean="0">
              <a:cs typeface="华文新魏"/>
            </a:endParaRPr>
          </a:p>
          <a:p>
            <a:pPr eaLnBrk="1" hangingPunct="1">
              <a:lnSpc>
                <a:spcPct val="90000"/>
              </a:lnSpc>
            </a:pPr>
            <a:endParaRPr lang="en-US" altLang="zh-CN" sz="2000" dirty="0" smtClean="0">
              <a:cs typeface="华文新魏"/>
            </a:endParaRPr>
          </a:p>
        </p:txBody>
      </p:sp>
      <p:sp>
        <p:nvSpPr>
          <p:cNvPr id="368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EB10BE2F-9B6F-4D26-A08F-2E64E99F2C42}" type="slidenum">
              <a:rPr lang="en-US" altLang="zh-CN" sz="1400">
                <a:solidFill>
                  <a:srgbClr val="FFFFFF"/>
                </a:solidFill>
                <a:latin typeface="Franklin Gothic Book" pitchFamily="34" charset="0"/>
                <a:cs typeface="Arial" pitchFamily="34" charset="0"/>
              </a:rPr>
              <a:pPr>
                <a:spcBef>
                  <a:spcPct val="0"/>
                </a:spcBef>
                <a:buClrTx/>
                <a:buSzTx/>
                <a:buFontTx/>
                <a:buNone/>
              </a:pPr>
              <a:t>20</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13454483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altLang="zh-CN" dirty="0" err="1" smtClean="0">
                <a:solidFill>
                  <a:srgbClr val="2309E1"/>
                </a:solidFill>
                <a:ea typeface="SimSun" pitchFamily="2" charset="-122"/>
              </a:rPr>
              <a:t>Cont</a:t>
            </a:r>
            <a:r>
              <a:rPr lang="en-US" altLang="zh-CN" dirty="0" smtClean="0">
                <a:solidFill>
                  <a:srgbClr val="2309E1"/>
                </a:solidFill>
                <a:ea typeface="SimSun" pitchFamily="2" charset="-122"/>
              </a:rPr>
              <a:t>…</a:t>
            </a:r>
          </a:p>
        </p:txBody>
      </p:sp>
      <p:sp>
        <p:nvSpPr>
          <p:cNvPr id="37891" name="Content Placeholder 2"/>
          <p:cNvSpPr>
            <a:spLocks noGrp="1"/>
          </p:cNvSpPr>
          <p:nvPr>
            <p:ph idx="1"/>
          </p:nvPr>
        </p:nvSpPr>
        <p:spPr>
          <a:xfrm>
            <a:off x="945662" y="2385646"/>
            <a:ext cx="10160000" cy="3881438"/>
          </a:xfrm>
        </p:spPr>
        <p:txBody>
          <a:bodyPr/>
          <a:lstStyle/>
          <a:p>
            <a:pPr marL="0" indent="0" eaLnBrk="1" hangingPunct="1">
              <a:buNone/>
            </a:pPr>
            <a:r>
              <a:rPr lang="en-US" altLang="zh-CN" sz="2000" dirty="0" smtClean="0">
                <a:solidFill>
                  <a:srgbClr val="FF0000"/>
                </a:solidFill>
                <a:cs typeface="华文新魏"/>
              </a:rPr>
              <a:t>Software project management</a:t>
            </a:r>
          </a:p>
          <a:p>
            <a:pPr lvl="1" eaLnBrk="1" hangingPunct="1">
              <a:buFont typeface="Arial" pitchFamily="34" charset="0"/>
              <a:buChar char="–"/>
            </a:pPr>
            <a:r>
              <a:rPr lang="en-US" altLang="zh-CN" sz="2000" dirty="0" smtClean="0">
                <a:cs typeface="华文新魏"/>
              </a:rPr>
              <a:t>The management of software systems projects borrows heavily from project management, but there are nuances encountered in software not seen in other management disciplines. </a:t>
            </a:r>
          </a:p>
          <a:p>
            <a:pPr marL="0" indent="0" eaLnBrk="1" hangingPunct="1">
              <a:buNone/>
            </a:pPr>
            <a:r>
              <a:rPr lang="en-US" altLang="zh-CN" sz="2000" dirty="0" smtClean="0">
                <a:solidFill>
                  <a:srgbClr val="FF0000"/>
                </a:solidFill>
                <a:cs typeface="华文新魏"/>
              </a:rPr>
              <a:t>Software development process</a:t>
            </a:r>
          </a:p>
          <a:p>
            <a:pPr lvl="1" eaLnBrk="1" hangingPunct="1">
              <a:buFont typeface="Arial" pitchFamily="34" charset="0"/>
              <a:buChar char="–"/>
            </a:pPr>
            <a:r>
              <a:rPr lang="en-US" altLang="zh-CN" sz="2000" dirty="0" smtClean="0">
                <a:cs typeface="华文新魏"/>
              </a:rPr>
              <a:t>is a structure imposed on the development of a software product. </a:t>
            </a:r>
          </a:p>
          <a:p>
            <a:pPr marL="0" indent="0" eaLnBrk="1" hangingPunct="1">
              <a:buNone/>
            </a:pPr>
            <a:r>
              <a:rPr lang="en-US" altLang="zh-CN" sz="2000" dirty="0" smtClean="0">
                <a:solidFill>
                  <a:srgbClr val="FF0000"/>
                </a:solidFill>
                <a:cs typeface="华文新魏"/>
              </a:rPr>
              <a:t>Software quality</a:t>
            </a:r>
          </a:p>
          <a:p>
            <a:pPr lvl="1" eaLnBrk="1" hangingPunct="1">
              <a:buFont typeface="Arial" pitchFamily="34" charset="0"/>
              <a:buChar char="–"/>
            </a:pPr>
            <a:r>
              <a:rPr lang="en-US" altLang="zh-CN" sz="2000" dirty="0" smtClean="0">
                <a:cs typeface="华文新魏"/>
              </a:rPr>
              <a:t>measures how well software is designed (</a:t>
            </a:r>
            <a:r>
              <a:rPr lang="en-US" altLang="zh-CN" sz="2000" i="1" dirty="0" smtClean="0">
                <a:cs typeface="华文新魏"/>
              </a:rPr>
              <a:t>quality of design</a:t>
            </a:r>
            <a:r>
              <a:rPr lang="en-US" altLang="zh-CN" sz="2000" dirty="0" smtClean="0">
                <a:cs typeface="华文新魏"/>
              </a:rPr>
              <a:t>), and how well the software conforms to that design (</a:t>
            </a:r>
            <a:r>
              <a:rPr lang="en-US" altLang="zh-CN" sz="2000" i="1" dirty="0" smtClean="0">
                <a:cs typeface="华文新魏"/>
              </a:rPr>
              <a:t>quality of conformance</a:t>
            </a:r>
            <a:r>
              <a:rPr lang="en-US" altLang="zh-CN" sz="2000" dirty="0" smtClean="0">
                <a:cs typeface="华文新魏"/>
              </a:rPr>
              <a:t>)</a:t>
            </a:r>
            <a:endParaRPr lang="en-US" altLang="zh-CN" sz="2000" baseline="30000" dirty="0" smtClean="0">
              <a:cs typeface="华文新魏"/>
            </a:endParaRPr>
          </a:p>
          <a:p>
            <a:pPr lvl="1" eaLnBrk="1" hangingPunct="1">
              <a:buFont typeface="Wingdings" pitchFamily="2" charset="2"/>
              <a:buNone/>
            </a:pPr>
            <a:endParaRPr lang="en-US" altLang="zh-CN" sz="2000" dirty="0" smtClean="0">
              <a:cs typeface="华文新魏"/>
            </a:endParaRPr>
          </a:p>
          <a:p>
            <a:pPr eaLnBrk="1" hangingPunct="1"/>
            <a:endParaRPr lang="en-US" altLang="zh-CN" sz="2000" dirty="0" smtClean="0">
              <a:cs typeface="华文新魏"/>
            </a:endParaRPr>
          </a:p>
        </p:txBody>
      </p:sp>
      <p:sp>
        <p:nvSpPr>
          <p:cNvPr id="3789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E5E397EE-F7C7-4354-B3A4-FE755DE7E362}" type="slidenum">
              <a:rPr lang="en-US" altLang="zh-CN" sz="1400">
                <a:solidFill>
                  <a:srgbClr val="FFFFFF"/>
                </a:solidFill>
                <a:latin typeface="Franklin Gothic Book" pitchFamily="34" charset="0"/>
                <a:cs typeface="Arial" pitchFamily="34" charset="0"/>
              </a:rPr>
              <a:pPr>
                <a:spcBef>
                  <a:spcPct val="0"/>
                </a:spcBef>
                <a:buClrTx/>
                <a:buSzTx/>
                <a:buFontTx/>
                <a:buNone/>
              </a:pPr>
              <a:t>21</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3981596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801077" y="996461"/>
            <a:ext cx="10972800" cy="838200"/>
          </a:xfrm>
        </p:spPr>
        <p:txBody>
          <a:bodyPr/>
          <a:lstStyle/>
          <a:p>
            <a:pPr eaLnBrk="1" hangingPunct="1"/>
            <a:r>
              <a:rPr lang="en-GB" altLang="zh-CN" sz="3200" dirty="0" smtClean="0">
                <a:solidFill>
                  <a:srgbClr val="2309E1"/>
                </a:solidFill>
                <a:ea typeface="SimSun" pitchFamily="2" charset="-122"/>
              </a:rPr>
              <a:t>Costs of software projects </a:t>
            </a:r>
            <a:endParaRPr lang="en-GB" altLang="zh-CN" dirty="0" smtClean="0">
              <a:solidFill>
                <a:srgbClr val="2309E1"/>
              </a:solidFill>
              <a:ea typeface="SimSun" pitchFamily="2" charset="-122"/>
            </a:endParaRPr>
          </a:p>
        </p:txBody>
      </p:sp>
      <p:sp>
        <p:nvSpPr>
          <p:cNvPr id="38915" name="Rectangle 5"/>
          <p:cNvSpPr>
            <a:spLocks noGrp="1" noChangeArrowheads="1"/>
          </p:cNvSpPr>
          <p:nvPr>
            <p:ph idx="1"/>
          </p:nvPr>
        </p:nvSpPr>
        <p:spPr>
          <a:xfrm>
            <a:off x="895676" y="2379785"/>
            <a:ext cx="9311216" cy="3881438"/>
          </a:xfrm>
        </p:spPr>
        <p:txBody>
          <a:bodyPr>
            <a:normAutofit/>
          </a:bodyPr>
          <a:lstStyle/>
          <a:p>
            <a:pPr eaLnBrk="1" hangingPunct="1"/>
            <a:r>
              <a:rPr lang="en-GB" altLang="zh-CN" sz="2800" dirty="0" smtClean="0">
                <a:cs typeface="华文新魏"/>
              </a:rPr>
              <a:t>Roughly 60% of costs are development costs, 40% are testing costs. For custom software, evolution costs often exceed development costs.</a:t>
            </a:r>
          </a:p>
          <a:p>
            <a:pPr eaLnBrk="1" hangingPunct="1"/>
            <a:r>
              <a:rPr lang="en-GB" altLang="zh-CN" sz="2800" dirty="0" smtClean="0">
                <a:cs typeface="华文新魏"/>
              </a:rPr>
              <a:t>Costs vary depending on the type of system being developed and the requirements of system attributes such as performance and system reliability.</a:t>
            </a:r>
          </a:p>
          <a:p>
            <a:pPr eaLnBrk="1" hangingPunct="1"/>
            <a:r>
              <a:rPr lang="en-GB" altLang="zh-CN" sz="2800" dirty="0" smtClean="0">
                <a:cs typeface="华文新魏"/>
              </a:rPr>
              <a:t>Distribution of costs depends on the development model and </a:t>
            </a:r>
            <a:r>
              <a:rPr lang="en-GB" altLang="zh-CN" sz="2800" dirty="0" smtClean="0">
                <a:solidFill>
                  <a:srgbClr val="FF0000"/>
                </a:solidFill>
                <a:cs typeface="华文新魏"/>
              </a:rPr>
              <a:t>project management </a:t>
            </a:r>
            <a:r>
              <a:rPr lang="en-GB" altLang="zh-CN" sz="2800" dirty="0" smtClean="0">
                <a:cs typeface="华文新魏"/>
              </a:rPr>
              <a:t>that is used.</a:t>
            </a:r>
          </a:p>
        </p:txBody>
      </p:sp>
      <p:sp>
        <p:nvSpPr>
          <p:cNvPr id="389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Trebuchet MS"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Trebuchet MS"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Trebuchet MS"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Trebuchet MS"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Trebuchet MS" pitchFamily="34" charset="0"/>
              </a:defRPr>
            </a:lvl9pPr>
          </a:lstStyle>
          <a:p>
            <a:pPr>
              <a:spcBef>
                <a:spcPct val="0"/>
              </a:spcBef>
              <a:buClrTx/>
              <a:buSzTx/>
              <a:buFontTx/>
              <a:buNone/>
            </a:pPr>
            <a:fld id="{A7302382-1E4E-4D25-94D9-13DFD80A75F3}" type="slidenum">
              <a:rPr lang="en-US" altLang="zh-CN" sz="1400">
                <a:solidFill>
                  <a:srgbClr val="FFFFFF"/>
                </a:solidFill>
                <a:latin typeface="Franklin Gothic Book" pitchFamily="34" charset="0"/>
                <a:cs typeface="Arial" pitchFamily="34" charset="0"/>
              </a:rPr>
              <a:pPr>
                <a:spcBef>
                  <a:spcPct val="0"/>
                </a:spcBef>
                <a:buClrTx/>
                <a:buSzTx/>
                <a:buFontTx/>
                <a:buNone/>
              </a:pPr>
              <a:t>22</a:t>
            </a:fld>
            <a:endParaRPr lang="en-US" altLang="zh-CN" sz="1400">
              <a:solidFill>
                <a:srgbClr val="FFFFFF"/>
              </a:solidFill>
              <a:latin typeface="Franklin Gothic Book" pitchFamily="34" charset="0"/>
              <a:cs typeface="Arial" pitchFamily="34" charset="0"/>
            </a:endParaRPr>
          </a:p>
        </p:txBody>
      </p:sp>
    </p:spTree>
    <p:extLst>
      <p:ext uri="{BB962C8B-B14F-4D97-AF65-F5344CB8AC3E}">
        <p14:creationId xmlns:p14="http://schemas.microsoft.com/office/powerpoint/2010/main" val="7448972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68500" y="1252539"/>
            <a:ext cx="7543800" cy="714375"/>
          </a:xfrm>
        </p:spPr>
        <p:txBody>
          <a:bodyPr>
            <a:normAutofit fontScale="90000"/>
          </a:bodyPr>
          <a:lstStyle/>
          <a:p>
            <a:r>
              <a:rPr lang="en-US" dirty="0" smtClean="0">
                <a:solidFill>
                  <a:srgbClr val="2309E1"/>
                </a:solidFill>
              </a:rPr>
              <a:t>What is a Project?</a:t>
            </a:r>
          </a:p>
        </p:txBody>
      </p:sp>
      <p:sp>
        <p:nvSpPr>
          <p:cNvPr id="10243" name="Rectangle 3"/>
          <p:cNvSpPr>
            <a:spLocks noGrp="1" noChangeArrowheads="1"/>
          </p:cNvSpPr>
          <p:nvPr>
            <p:ph idx="1"/>
          </p:nvPr>
        </p:nvSpPr>
        <p:spPr>
          <a:xfrm>
            <a:off x="1752600" y="2692400"/>
            <a:ext cx="8229600" cy="3165476"/>
          </a:xfrm>
        </p:spPr>
        <p:txBody>
          <a:bodyPr>
            <a:normAutofit/>
          </a:bodyPr>
          <a:lstStyle/>
          <a:p>
            <a:pPr>
              <a:lnSpc>
                <a:spcPct val="150000"/>
              </a:lnSpc>
            </a:pPr>
            <a:r>
              <a:rPr lang="en-US" sz="3200" dirty="0" smtClean="0"/>
              <a:t>A project is a temporary endeavor undertaken to create a unique product or service.</a:t>
            </a:r>
          </a:p>
          <a:p>
            <a:pPr lvl="1">
              <a:lnSpc>
                <a:spcPct val="150000"/>
              </a:lnSpc>
            </a:pPr>
            <a:endParaRPr lang="en-US" sz="2800" dirty="0" smtClean="0"/>
          </a:p>
        </p:txBody>
      </p:sp>
      <p:sp>
        <p:nvSpPr>
          <p:cNvPr id="9220"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A19A32BF-AE0D-4021-8ECD-83A3C1E2C3FA}" type="slidenum">
              <a:rPr lang="en-GB" altLang="en-US">
                <a:solidFill>
                  <a:srgbClr val="FFFFFF"/>
                </a:solidFill>
              </a:rPr>
              <a:pPr>
                <a:defRPr/>
              </a:pPr>
              <a:t>23</a:t>
            </a:fld>
            <a:endParaRPr lang="en-GB" altLang="en-US">
              <a:solidFill>
                <a:srgbClr val="FFFFFF"/>
              </a:solidFill>
            </a:endParaRPr>
          </a:p>
        </p:txBody>
      </p:sp>
    </p:spTree>
    <p:extLst>
      <p:ext uri="{BB962C8B-B14F-4D97-AF65-F5344CB8AC3E}">
        <p14:creationId xmlns:p14="http://schemas.microsoft.com/office/powerpoint/2010/main" val="1819444691"/>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2309E1"/>
                </a:solidFill>
              </a:rPr>
              <a:t>Attributes of </a:t>
            </a:r>
            <a:r>
              <a:rPr lang="en-US" dirty="0" smtClean="0">
                <a:solidFill>
                  <a:srgbClr val="2309E1"/>
                </a:solidFill>
              </a:rPr>
              <a:t>projects</a:t>
            </a:r>
            <a:endParaRPr lang="en-US" dirty="0">
              <a:solidFill>
                <a:srgbClr val="2309E1"/>
              </a:solidFill>
            </a:endParaRPr>
          </a:p>
        </p:txBody>
      </p:sp>
      <p:sp>
        <p:nvSpPr>
          <p:cNvPr id="3" name="Content Placeholder 2"/>
          <p:cNvSpPr>
            <a:spLocks noGrp="1"/>
          </p:cNvSpPr>
          <p:nvPr>
            <p:ph idx="1"/>
          </p:nvPr>
        </p:nvSpPr>
        <p:spPr/>
        <p:txBody>
          <a:bodyPr>
            <a:normAutofit/>
          </a:bodyPr>
          <a:lstStyle/>
          <a:p>
            <a:pPr lvl="1"/>
            <a:r>
              <a:rPr lang="en-US" sz="2800" dirty="0" smtClean="0"/>
              <a:t>unique </a:t>
            </a:r>
            <a:r>
              <a:rPr lang="en-US" sz="2800" dirty="0"/>
              <a:t>purpose</a:t>
            </a:r>
          </a:p>
          <a:p>
            <a:pPr lvl="1"/>
            <a:r>
              <a:rPr lang="en-US" sz="2800" dirty="0"/>
              <a:t>temporariness </a:t>
            </a:r>
          </a:p>
          <a:p>
            <a:pPr lvl="1"/>
            <a:r>
              <a:rPr lang="en-US" sz="2800" dirty="0"/>
              <a:t>require resources, often from various areas</a:t>
            </a:r>
          </a:p>
          <a:p>
            <a:pPr lvl="1"/>
            <a:r>
              <a:rPr lang="en-US" sz="2800" dirty="0"/>
              <a:t>should have a primary sponsor and/or customer</a:t>
            </a:r>
          </a:p>
          <a:p>
            <a:pPr lvl="1"/>
            <a:r>
              <a:rPr lang="en-US" sz="2800" dirty="0"/>
              <a:t>involve uncertainty</a:t>
            </a:r>
          </a:p>
          <a:p>
            <a:endParaRPr lang="en-US" dirty="0"/>
          </a:p>
        </p:txBody>
      </p:sp>
      <p:sp>
        <p:nvSpPr>
          <p:cNvPr id="4" name="Slide Number Placeholder 3"/>
          <p:cNvSpPr>
            <a:spLocks noGrp="1"/>
          </p:cNvSpPr>
          <p:nvPr>
            <p:ph type="sldNum" sz="quarter" idx="12"/>
          </p:nvPr>
        </p:nvSpPr>
        <p:spPr/>
        <p:txBody>
          <a:bodyPr/>
          <a:lstStyle/>
          <a:p>
            <a:fld id="{80BBB6C9-A94A-4C19-A541-06B730F5974C}" type="slidenum">
              <a:rPr lang="en-US" smtClean="0"/>
              <a:pPr/>
              <a:t>24</a:t>
            </a:fld>
            <a:endParaRPr lang="en-US"/>
          </a:p>
        </p:txBody>
      </p:sp>
    </p:spTree>
    <p:extLst>
      <p:ext uri="{BB962C8B-B14F-4D97-AF65-F5344CB8AC3E}">
        <p14:creationId xmlns:p14="http://schemas.microsoft.com/office/powerpoint/2010/main" val="4867318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30400" y="1087439"/>
            <a:ext cx="7543800" cy="866775"/>
          </a:xfrm>
        </p:spPr>
        <p:txBody>
          <a:bodyPr/>
          <a:lstStyle/>
          <a:p>
            <a:r>
              <a:rPr lang="en-US" dirty="0" smtClean="0">
                <a:solidFill>
                  <a:srgbClr val="2309E1"/>
                </a:solidFill>
              </a:rPr>
              <a:t>The Triple Constraint</a:t>
            </a:r>
          </a:p>
        </p:txBody>
      </p:sp>
      <p:sp>
        <p:nvSpPr>
          <p:cNvPr id="11267" name="Rectangle 3"/>
          <p:cNvSpPr>
            <a:spLocks noGrp="1" noChangeArrowheads="1"/>
          </p:cNvSpPr>
          <p:nvPr>
            <p:ph idx="1"/>
          </p:nvPr>
        </p:nvSpPr>
        <p:spPr>
          <a:xfrm>
            <a:off x="1447800" y="2311400"/>
            <a:ext cx="8763000" cy="3568700"/>
          </a:xfrm>
        </p:spPr>
        <p:txBody>
          <a:bodyPr>
            <a:noAutofit/>
          </a:bodyPr>
          <a:lstStyle/>
          <a:p>
            <a:pPr lvl="1">
              <a:lnSpc>
                <a:spcPct val="160000"/>
              </a:lnSpc>
            </a:pPr>
            <a:r>
              <a:rPr lang="en-US" sz="2800" dirty="0"/>
              <a:t>Every project is constrained in different ways by its</a:t>
            </a:r>
          </a:p>
          <a:p>
            <a:pPr lvl="2">
              <a:lnSpc>
                <a:spcPct val="160000"/>
              </a:lnSpc>
            </a:pPr>
            <a:r>
              <a:rPr lang="en-US" b="1" dirty="0" smtClean="0"/>
              <a:t>Scope goals:  What is the project trying to accomplish?</a:t>
            </a:r>
          </a:p>
          <a:p>
            <a:pPr lvl="2">
              <a:lnSpc>
                <a:spcPct val="160000"/>
              </a:lnSpc>
            </a:pPr>
            <a:r>
              <a:rPr lang="en-US" b="1" dirty="0" smtClean="0"/>
              <a:t>Time goals:  How long should it take to complete?</a:t>
            </a:r>
          </a:p>
          <a:p>
            <a:pPr lvl="2">
              <a:lnSpc>
                <a:spcPct val="160000"/>
              </a:lnSpc>
            </a:pPr>
            <a:r>
              <a:rPr lang="en-US" b="1" dirty="0" smtClean="0"/>
              <a:t>Cost goals:  What should it cost?</a:t>
            </a:r>
          </a:p>
          <a:p>
            <a:pPr lvl="1"/>
            <a:r>
              <a:rPr lang="en-US" sz="2800" dirty="0"/>
              <a:t>It is the project manager’s duty to balance these three often competing goals</a:t>
            </a:r>
          </a:p>
        </p:txBody>
      </p:sp>
      <p:sp>
        <p:nvSpPr>
          <p:cNvPr id="10244"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06447A89-1ECD-4EDE-9E53-5CF23ED56F03}" type="slidenum">
              <a:rPr lang="en-GB" altLang="en-US">
                <a:solidFill>
                  <a:srgbClr val="FFFFFF"/>
                </a:solidFill>
              </a:rPr>
              <a:pPr>
                <a:defRPr/>
              </a:pPr>
              <a:t>25</a:t>
            </a:fld>
            <a:endParaRPr lang="en-GB" altLang="en-US">
              <a:solidFill>
                <a:srgbClr val="FFFFFF"/>
              </a:solidFill>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185" y="2552700"/>
            <a:ext cx="9390184" cy="4106008"/>
          </a:xfrm>
          <a:prstGeom prst="rect">
            <a:avLst/>
          </a:prstGeom>
          <a:noFill/>
          <a:ln>
            <a:noFill/>
          </a:ln>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5985371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11267">
                                            <p:txEl>
                                              <p:pRg st="0" end="0"/>
                                            </p:txEl>
                                          </p:spTgt>
                                        </p:tgtEl>
                                      </p:cBhvr>
                                    </p:animEffect>
                                    <p:anim calcmode="lin" valueType="num">
                                      <p:cBhvr>
                                        <p:cTn id="7" dur="1000"/>
                                        <p:tgtEl>
                                          <p:spTgt spid="11267">
                                            <p:txEl>
                                              <p:pRg st="0" end="0"/>
                                            </p:txEl>
                                          </p:spTgt>
                                        </p:tgtEl>
                                        <p:attrNameLst>
                                          <p:attrName>ppt_x</p:attrName>
                                        </p:attrNameLst>
                                      </p:cBhvr>
                                      <p:tavLst>
                                        <p:tav tm="0">
                                          <p:val>
                                            <p:strVal val="ppt_x"/>
                                          </p:val>
                                        </p:tav>
                                        <p:tav tm="100000">
                                          <p:val>
                                            <p:strVal val="ppt_x"/>
                                          </p:val>
                                        </p:tav>
                                      </p:tavLst>
                                    </p:anim>
                                    <p:anim calcmode="lin" valueType="num">
                                      <p:cBhvr>
                                        <p:cTn id="8" dur="1000"/>
                                        <p:tgtEl>
                                          <p:spTgt spid="11267">
                                            <p:txEl>
                                              <p:pRg st="0" end="0"/>
                                            </p:txEl>
                                          </p:spTgt>
                                        </p:tgtEl>
                                        <p:attrNameLst>
                                          <p:attrName>ppt_y</p:attrName>
                                        </p:attrNameLst>
                                      </p:cBhvr>
                                      <p:tavLst>
                                        <p:tav tm="0">
                                          <p:val>
                                            <p:strVal val="ppt_y"/>
                                          </p:val>
                                        </p:tav>
                                        <p:tav tm="100000">
                                          <p:val>
                                            <p:strVal val="ppt_y+.1"/>
                                          </p:val>
                                        </p:tav>
                                      </p:tavLst>
                                    </p:anim>
                                    <p:set>
                                      <p:cBhvr>
                                        <p:cTn id="9" dur="1" fill="hold">
                                          <p:stCondLst>
                                            <p:cond delay="999"/>
                                          </p:stCondLst>
                                        </p:cTn>
                                        <p:tgtEl>
                                          <p:spTgt spid="11267">
                                            <p:txEl>
                                              <p:pRg st="0" end="0"/>
                                            </p:txEl>
                                          </p:spTgt>
                                        </p:tgtEl>
                                        <p:attrNameLst>
                                          <p:attrName>style.visibility</p:attrName>
                                        </p:attrNameLst>
                                      </p:cBhvr>
                                      <p:to>
                                        <p:strVal val="hidden"/>
                                      </p:to>
                                    </p:set>
                                  </p:childTnLst>
                                </p:cTn>
                              </p:par>
                              <p:par>
                                <p:cTn id="10" presetID="42" presetClass="exit" presetSubtype="0" fill="hold" nodeType="withEffect">
                                  <p:stCondLst>
                                    <p:cond delay="0"/>
                                  </p:stCondLst>
                                  <p:childTnLst>
                                    <p:animEffect transition="out" filter="fade">
                                      <p:cBhvr>
                                        <p:cTn id="11" dur="1000"/>
                                        <p:tgtEl>
                                          <p:spTgt spid="11267">
                                            <p:txEl>
                                              <p:pRg st="1" end="1"/>
                                            </p:txEl>
                                          </p:spTgt>
                                        </p:tgtEl>
                                      </p:cBhvr>
                                    </p:animEffect>
                                    <p:anim calcmode="lin" valueType="num">
                                      <p:cBhvr>
                                        <p:cTn id="12" dur="1000"/>
                                        <p:tgtEl>
                                          <p:spTgt spid="11267">
                                            <p:txEl>
                                              <p:pRg st="1" end="1"/>
                                            </p:txEl>
                                          </p:spTgt>
                                        </p:tgtEl>
                                        <p:attrNameLst>
                                          <p:attrName>ppt_x</p:attrName>
                                        </p:attrNameLst>
                                      </p:cBhvr>
                                      <p:tavLst>
                                        <p:tav tm="0">
                                          <p:val>
                                            <p:strVal val="ppt_x"/>
                                          </p:val>
                                        </p:tav>
                                        <p:tav tm="100000">
                                          <p:val>
                                            <p:strVal val="ppt_x"/>
                                          </p:val>
                                        </p:tav>
                                      </p:tavLst>
                                    </p:anim>
                                    <p:anim calcmode="lin" valueType="num">
                                      <p:cBhvr>
                                        <p:cTn id="13" dur="1000"/>
                                        <p:tgtEl>
                                          <p:spTgt spid="11267">
                                            <p:txEl>
                                              <p:pRg st="1" end="1"/>
                                            </p:txEl>
                                          </p:spTgt>
                                        </p:tgtEl>
                                        <p:attrNameLst>
                                          <p:attrName>ppt_y</p:attrName>
                                        </p:attrNameLst>
                                      </p:cBhvr>
                                      <p:tavLst>
                                        <p:tav tm="0">
                                          <p:val>
                                            <p:strVal val="ppt_y"/>
                                          </p:val>
                                        </p:tav>
                                        <p:tav tm="100000">
                                          <p:val>
                                            <p:strVal val="ppt_y+.1"/>
                                          </p:val>
                                        </p:tav>
                                      </p:tavLst>
                                    </p:anim>
                                    <p:set>
                                      <p:cBhvr>
                                        <p:cTn id="14" dur="1" fill="hold">
                                          <p:stCondLst>
                                            <p:cond delay="999"/>
                                          </p:stCondLst>
                                        </p:cTn>
                                        <p:tgtEl>
                                          <p:spTgt spid="11267">
                                            <p:txEl>
                                              <p:pRg st="1" end="1"/>
                                            </p:txEl>
                                          </p:spTgt>
                                        </p:tgtEl>
                                        <p:attrNameLst>
                                          <p:attrName>style.visibility</p:attrName>
                                        </p:attrNameLst>
                                      </p:cBhvr>
                                      <p:to>
                                        <p:strVal val="hidden"/>
                                      </p:to>
                                    </p:set>
                                  </p:childTnLst>
                                </p:cTn>
                              </p:par>
                              <p:par>
                                <p:cTn id="15" presetID="42" presetClass="exit" presetSubtype="0" fill="hold" nodeType="withEffect">
                                  <p:stCondLst>
                                    <p:cond delay="0"/>
                                  </p:stCondLst>
                                  <p:childTnLst>
                                    <p:animEffect transition="out" filter="fade">
                                      <p:cBhvr>
                                        <p:cTn id="16" dur="1000"/>
                                        <p:tgtEl>
                                          <p:spTgt spid="11267">
                                            <p:txEl>
                                              <p:pRg st="2" end="2"/>
                                            </p:txEl>
                                          </p:spTgt>
                                        </p:tgtEl>
                                      </p:cBhvr>
                                    </p:animEffect>
                                    <p:anim calcmode="lin" valueType="num">
                                      <p:cBhvr>
                                        <p:cTn id="17" dur="1000"/>
                                        <p:tgtEl>
                                          <p:spTgt spid="11267">
                                            <p:txEl>
                                              <p:pRg st="2" end="2"/>
                                            </p:txEl>
                                          </p:spTgt>
                                        </p:tgtEl>
                                        <p:attrNameLst>
                                          <p:attrName>ppt_x</p:attrName>
                                        </p:attrNameLst>
                                      </p:cBhvr>
                                      <p:tavLst>
                                        <p:tav tm="0">
                                          <p:val>
                                            <p:strVal val="ppt_x"/>
                                          </p:val>
                                        </p:tav>
                                        <p:tav tm="100000">
                                          <p:val>
                                            <p:strVal val="ppt_x"/>
                                          </p:val>
                                        </p:tav>
                                      </p:tavLst>
                                    </p:anim>
                                    <p:anim calcmode="lin" valueType="num">
                                      <p:cBhvr>
                                        <p:cTn id="18" dur="1000"/>
                                        <p:tgtEl>
                                          <p:spTgt spid="11267">
                                            <p:txEl>
                                              <p:pRg st="2" end="2"/>
                                            </p:txEl>
                                          </p:spTgt>
                                        </p:tgtEl>
                                        <p:attrNameLst>
                                          <p:attrName>ppt_y</p:attrName>
                                        </p:attrNameLst>
                                      </p:cBhvr>
                                      <p:tavLst>
                                        <p:tav tm="0">
                                          <p:val>
                                            <p:strVal val="ppt_y"/>
                                          </p:val>
                                        </p:tav>
                                        <p:tav tm="100000">
                                          <p:val>
                                            <p:strVal val="ppt_y+.1"/>
                                          </p:val>
                                        </p:tav>
                                      </p:tavLst>
                                    </p:anim>
                                    <p:set>
                                      <p:cBhvr>
                                        <p:cTn id="19" dur="1" fill="hold">
                                          <p:stCondLst>
                                            <p:cond delay="999"/>
                                          </p:stCondLst>
                                        </p:cTn>
                                        <p:tgtEl>
                                          <p:spTgt spid="11267">
                                            <p:txEl>
                                              <p:pRg st="2" end="2"/>
                                            </p:txEl>
                                          </p:spTgt>
                                        </p:tgtEl>
                                        <p:attrNameLst>
                                          <p:attrName>style.visibility</p:attrName>
                                        </p:attrNameLst>
                                      </p:cBhvr>
                                      <p:to>
                                        <p:strVal val="hidden"/>
                                      </p:to>
                                    </p:set>
                                  </p:childTnLst>
                                </p:cTn>
                              </p:par>
                              <p:par>
                                <p:cTn id="20" presetID="42" presetClass="exit" presetSubtype="0" fill="hold" nodeType="withEffect">
                                  <p:stCondLst>
                                    <p:cond delay="0"/>
                                  </p:stCondLst>
                                  <p:childTnLst>
                                    <p:animEffect transition="out" filter="fade">
                                      <p:cBhvr>
                                        <p:cTn id="21" dur="1000"/>
                                        <p:tgtEl>
                                          <p:spTgt spid="11267">
                                            <p:txEl>
                                              <p:pRg st="3" end="3"/>
                                            </p:txEl>
                                          </p:spTgt>
                                        </p:tgtEl>
                                      </p:cBhvr>
                                    </p:animEffect>
                                    <p:anim calcmode="lin" valueType="num">
                                      <p:cBhvr>
                                        <p:cTn id="22" dur="1000"/>
                                        <p:tgtEl>
                                          <p:spTgt spid="11267">
                                            <p:txEl>
                                              <p:pRg st="3" end="3"/>
                                            </p:txEl>
                                          </p:spTgt>
                                        </p:tgtEl>
                                        <p:attrNameLst>
                                          <p:attrName>ppt_x</p:attrName>
                                        </p:attrNameLst>
                                      </p:cBhvr>
                                      <p:tavLst>
                                        <p:tav tm="0">
                                          <p:val>
                                            <p:strVal val="ppt_x"/>
                                          </p:val>
                                        </p:tav>
                                        <p:tav tm="100000">
                                          <p:val>
                                            <p:strVal val="ppt_x"/>
                                          </p:val>
                                        </p:tav>
                                      </p:tavLst>
                                    </p:anim>
                                    <p:anim calcmode="lin" valueType="num">
                                      <p:cBhvr>
                                        <p:cTn id="23" dur="1000"/>
                                        <p:tgtEl>
                                          <p:spTgt spid="11267">
                                            <p:txEl>
                                              <p:pRg st="3" end="3"/>
                                            </p:txEl>
                                          </p:spTgt>
                                        </p:tgtEl>
                                        <p:attrNameLst>
                                          <p:attrName>ppt_y</p:attrName>
                                        </p:attrNameLst>
                                      </p:cBhvr>
                                      <p:tavLst>
                                        <p:tav tm="0">
                                          <p:val>
                                            <p:strVal val="ppt_y"/>
                                          </p:val>
                                        </p:tav>
                                        <p:tav tm="100000">
                                          <p:val>
                                            <p:strVal val="ppt_y+.1"/>
                                          </p:val>
                                        </p:tav>
                                      </p:tavLst>
                                    </p:anim>
                                    <p:set>
                                      <p:cBhvr>
                                        <p:cTn id="24" dur="1" fill="hold">
                                          <p:stCondLst>
                                            <p:cond delay="999"/>
                                          </p:stCondLst>
                                        </p:cTn>
                                        <p:tgtEl>
                                          <p:spTgt spid="11267">
                                            <p:txEl>
                                              <p:pRg st="3" end="3"/>
                                            </p:txEl>
                                          </p:spTgt>
                                        </p:tgtEl>
                                        <p:attrNameLst>
                                          <p:attrName>style.visibility</p:attrName>
                                        </p:attrNameLst>
                                      </p:cBhvr>
                                      <p:to>
                                        <p:strVal val="hidden"/>
                                      </p:to>
                                    </p:set>
                                  </p:childTnLst>
                                </p:cTn>
                              </p:par>
                              <p:par>
                                <p:cTn id="25" presetID="42" presetClass="exit" presetSubtype="0" fill="hold" nodeType="withEffect">
                                  <p:stCondLst>
                                    <p:cond delay="0"/>
                                  </p:stCondLst>
                                  <p:childTnLst>
                                    <p:animEffect transition="out" filter="fade">
                                      <p:cBhvr>
                                        <p:cTn id="26" dur="1000"/>
                                        <p:tgtEl>
                                          <p:spTgt spid="11267">
                                            <p:txEl>
                                              <p:pRg st="4" end="4"/>
                                            </p:txEl>
                                          </p:spTgt>
                                        </p:tgtEl>
                                      </p:cBhvr>
                                    </p:animEffect>
                                    <p:anim calcmode="lin" valueType="num">
                                      <p:cBhvr>
                                        <p:cTn id="27" dur="1000"/>
                                        <p:tgtEl>
                                          <p:spTgt spid="11267">
                                            <p:txEl>
                                              <p:pRg st="4" end="4"/>
                                            </p:txEl>
                                          </p:spTgt>
                                        </p:tgtEl>
                                        <p:attrNameLst>
                                          <p:attrName>ppt_x</p:attrName>
                                        </p:attrNameLst>
                                      </p:cBhvr>
                                      <p:tavLst>
                                        <p:tav tm="0">
                                          <p:val>
                                            <p:strVal val="ppt_x"/>
                                          </p:val>
                                        </p:tav>
                                        <p:tav tm="100000">
                                          <p:val>
                                            <p:strVal val="ppt_x"/>
                                          </p:val>
                                        </p:tav>
                                      </p:tavLst>
                                    </p:anim>
                                    <p:anim calcmode="lin" valueType="num">
                                      <p:cBhvr>
                                        <p:cTn id="28" dur="1000"/>
                                        <p:tgtEl>
                                          <p:spTgt spid="11267">
                                            <p:txEl>
                                              <p:pRg st="4" end="4"/>
                                            </p:txEl>
                                          </p:spTgt>
                                        </p:tgtEl>
                                        <p:attrNameLst>
                                          <p:attrName>ppt_y</p:attrName>
                                        </p:attrNameLst>
                                      </p:cBhvr>
                                      <p:tavLst>
                                        <p:tav tm="0">
                                          <p:val>
                                            <p:strVal val="ppt_y"/>
                                          </p:val>
                                        </p:tav>
                                        <p:tav tm="100000">
                                          <p:val>
                                            <p:strVal val="ppt_y+.1"/>
                                          </p:val>
                                        </p:tav>
                                      </p:tavLst>
                                    </p:anim>
                                    <p:set>
                                      <p:cBhvr>
                                        <p:cTn id="29" dur="1" fill="hold">
                                          <p:stCondLst>
                                            <p:cond delay="999"/>
                                          </p:stCondLst>
                                        </p:cTn>
                                        <p:tgtEl>
                                          <p:spTgt spid="11267">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133600" y="1213426"/>
            <a:ext cx="7426325" cy="792162"/>
          </a:xfrm>
        </p:spPr>
        <p:txBody>
          <a:bodyPr/>
          <a:lstStyle/>
          <a:p>
            <a:r>
              <a:rPr lang="en-US" dirty="0" smtClean="0">
                <a:solidFill>
                  <a:srgbClr val="2309E1"/>
                </a:solidFill>
              </a:rPr>
              <a:t>What is Project Management? </a:t>
            </a:r>
          </a:p>
        </p:txBody>
      </p:sp>
      <p:sp>
        <p:nvSpPr>
          <p:cNvPr id="13315" name="Rectangle 3"/>
          <p:cNvSpPr>
            <a:spLocks noGrp="1" noChangeArrowheads="1"/>
          </p:cNvSpPr>
          <p:nvPr>
            <p:ph idx="1"/>
          </p:nvPr>
        </p:nvSpPr>
        <p:spPr>
          <a:xfrm>
            <a:off x="1743301" y="2424400"/>
            <a:ext cx="8610600" cy="3125788"/>
          </a:xfrm>
        </p:spPr>
        <p:txBody>
          <a:bodyPr>
            <a:normAutofit fontScale="85000" lnSpcReduction="20000"/>
          </a:bodyPr>
          <a:lstStyle/>
          <a:p>
            <a:pPr>
              <a:lnSpc>
                <a:spcPct val="150000"/>
              </a:lnSpc>
              <a:buFont typeface="Wingdings" panose="05000000000000000000" pitchFamily="2" charset="2"/>
              <a:buNone/>
            </a:pPr>
            <a:r>
              <a:rPr lang="en-US" sz="2800" dirty="0" smtClean="0"/>
              <a:t>Project management is “the application of knowledge, skills, tools, and techniques to project activities in order to meet project requirements.” (PMI*)</a:t>
            </a:r>
          </a:p>
          <a:p>
            <a:pPr>
              <a:lnSpc>
                <a:spcPct val="150000"/>
              </a:lnSpc>
              <a:buFont typeface="Wingdings" panose="05000000000000000000" pitchFamily="2" charset="2"/>
              <a:buNone/>
            </a:pPr>
            <a:r>
              <a:rPr lang="en-US" sz="2800" dirty="0" smtClean="0"/>
              <a:t>Project </a:t>
            </a:r>
            <a:r>
              <a:rPr lang="en-US" sz="2800" dirty="0"/>
              <a:t>Management is the discipline of planning, organizing, and managing resources to bring about the successful completion of specific project goals and objectives.</a:t>
            </a:r>
            <a:endParaRPr lang="en-US" sz="2800" dirty="0" smtClean="0"/>
          </a:p>
        </p:txBody>
      </p:sp>
      <p:sp>
        <p:nvSpPr>
          <p:cNvPr id="12292"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13261B17-16B3-492F-8595-16105A27DDB4}" type="slidenum">
              <a:rPr lang="en-GB" altLang="en-US">
                <a:solidFill>
                  <a:srgbClr val="FFFFFF"/>
                </a:solidFill>
              </a:rPr>
              <a:pPr>
                <a:defRPr/>
              </a:pPr>
              <a:t>26</a:t>
            </a:fld>
            <a:endParaRPr lang="en-GB" altLang="en-US">
              <a:solidFill>
                <a:srgbClr val="FFFFFF"/>
              </a:solidFill>
            </a:endParaRPr>
          </a:p>
        </p:txBody>
      </p:sp>
      <p:sp>
        <p:nvSpPr>
          <p:cNvPr id="13317" name="Text Box 4"/>
          <p:cNvSpPr txBox="1">
            <a:spLocks noChangeArrowheads="1"/>
          </p:cNvSpPr>
          <p:nvPr/>
        </p:nvSpPr>
        <p:spPr bwMode="auto">
          <a:xfrm>
            <a:off x="2133600" y="5533373"/>
            <a:ext cx="8153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sz="1600" i="1" dirty="0">
                <a:latin typeface="Times New Roman" panose="02020603050405020304" pitchFamily="18" charset="0"/>
              </a:rPr>
              <a:t>*The Project Management Institute (PMI) is an international professional society.  Their web site is www.pmi.org.  </a:t>
            </a:r>
          </a:p>
        </p:txBody>
      </p:sp>
    </p:spTree>
    <p:extLst>
      <p:ext uri="{BB962C8B-B14F-4D97-AF65-F5344CB8AC3E}">
        <p14:creationId xmlns:p14="http://schemas.microsoft.com/office/powerpoint/2010/main" val="1537800809"/>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43100" y="1193800"/>
            <a:ext cx="7924800" cy="863600"/>
          </a:xfrm>
        </p:spPr>
        <p:txBody>
          <a:bodyPr/>
          <a:lstStyle/>
          <a:p>
            <a:r>
              <a:rPr lang="en-US" dirty="0" smtClean="0">
                <a:solidFill>
                  <a:srgbClr val="2309E1"/>
                </a:solidFill>
              </a:rPr>
              <a:t>Project Management Framework</a:t>
            </a:r>
          </a:p>
        </p:txBody>
      </p:sp>
      <p:sp>
        <p:nvSpPr>
          <p:cNvPr id="13315" name="Slide Number Placeholder 4"/>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E8AE41C5-3EA1-4F1E-999C-540D1FD02303}" type="slidenum">
              <a:rPr lang="en-GB" altLang="en-US">
                <a:solidFill>
                  <a:srgbClr val="FFFFFF"/>
                </a:solidFill>
              </a:rPr>
              <a:pPr>
                <a:defRPr/>
              </a:pPr>
              <a:t>27</a:t>
            </a:fld>
            <a:endParaRPr lang="en-GB" altLang="en-US">
              <a:solidFill>
                <a:srgbClr val="FFFFFF"/>
              </a:solidFill>
            </a:endParaRPr>
          </a:p>
        </p:txBody>
      </p:sp>
      <p:pic>
        <p:nvPicPr>
          <p:cNvPr id="1434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9500" y="2603500"/>
            <a:ext cx="8543699" cy="3238501"/>
          </a:xfrm>
          <a:prstGeom prst="rect">
            <a:avLst/>
          </a:prstGeom>
          <a:noFill/>
          <a:ln>
            <a:noFill/>
          </a:ln>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4839638"/>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17700" y="1138238"/>
            <a:ext cx="7543800" cy="792162"/>
          </a:xfrm>
        </p:spPr>
        <p:txBody>
          <a:bodyPr/>
          <a:lstStyle/>
          <a:p>
            <a:r>
              <a:rPr lang="en-US" dirty="0" smtClean="0">
                <a:solidFill>
                  <a:srgbClr val="2309E1"/>
                </a:solidFill>
              </a:rPr>
              <a:t>Project Stakeholders</a:t>
            </a:r>
          </a:p>
        </p:txBody>
      </p:sp>
      <p:sp>
        <p:nvSpPr>
          <p:cNvPr id="14339" name="Rectangle 3"/>
          <p:cNvSpPr>
            <a:spLocks noGrp="1" noChangeArrowheads="1"/>
          </p:cNvSpPr>
          <p:nvPr>
            <p:ph idx="1"/>
          </p:nvPr>
        </p:nvSpPr>
        <p:spPr>
          <a:xfrm>
            <a:off x="1828800" y="2565400"/>
            <a:ext cx="8186738" cy="3444876"/>
          </a:xfrm>
        </p:spPr>
        <p:txBody>
          <a:bodyPr rtlCol="0">
            <a:noAutofit/>
          </a:bodyPr>
          <a:lstStyle/>
          <a:p>
            <a:pPr defTabSz="457207">
              <a:spcAft>
                <a:spcPts val="0"/>
              </a:spcAft>
              <a:buClr>
                <a:schemeClr val="accent4">
                  <a:lumMod val="75000"/>
                </a:schemeClr>
              </a:buClr>
              <a:buFont typeface="Wingdings" panose="05000000000000000000" pitchFamily="2" charset="2"/>
              <a:buChar char="§"/>
              <a:defRPr/>
            </a:pPr>
            <a:r>
              <a:rPr lang="en-US" dirty="0" smtClean="0"/>
              <a:t>Stakeholders are the people involved in or affected by project activities</a:t>
            </a:r>
          </a:p>
          <a:p>
            <a:pPr defTabSz="457207">
              <a:spcAft>
                <a:spcPts val="0"/>
              </a:spcAft>
              <a:buClr>
                <a:schemeClr val="accent4">
                  <a:lumMod val="75000"/>
                </a:schemeClr>
              </a:buClr>
              <a:buFont typeface="Wingdings" panose="05000000000000000000" pitchFamily="2" charset="2"/>
              <a:buChar char="§"/>
              <a:defRPr/>
            </a:pPr>
            <a:r>
              <a:rPr lang="en-US" dirty="0" smtClean="0"/>
              <a:t>Stakeholders include</a:t>
            </a:r>
          </a:p>
          <a:p>
            <a:pPr marL="800107" lvl="1" indent="-342900" defTabSz="457207">
              <a:spcAft>
                <a:spcPts val="0"/>
              </a:spcAft>
              <a:buClr>
                <a:schemeClr val="accent4">
                  <a:lumMod val="75000"/>
                </a:schemeClr>
              </a:buClr>
              <a:buFont typeface="Wingdings" panose="05000000000000000000" pitchFamily="2" charset="2"/>
              <a:buChar char="§"/>
              <a:defRPr/>
            </a:pPr>
            <a:r>
              <a:rPr lang="en-US" dirty="0" smtClean="0"/>
              <a:t>the project sponsor and project team</a:t>
            </a:r>
          </a:p>
          <a:p>
            <a:pPr marL="800107" lvl="1" indent="-342900" defTabSz="457207">
              <a:spcAft>
                <a:spcPts val="0"/>
              </a:spcAft>
              <a:buClr>
                <a:schemeClr val="accent4">
                  <a:lumMod val="75000"/>
                </a:schemeClr>
              </a:buClr>
              <a:buFont typeface="Wingdings" panose="05000000000000000000" pitchFamily="2" charset="2"/>
              <a:buChar char="§"/>
              <a:defRPr/>
            </a:pPr>
            <a:r>
              <a:rPr lang="en-US" dirty="0" smtClean="0"/>
              <a:t>support staff</a:t>
            </a:r>
          </a:p>
          <a:p>
            <a:pPr marL="800107" lvl="1" indent="-342900" defTabSz="457207">
              <a:spcAft>
                <a:spcPts val="0"/>
              </a:spcAft>
              <a:buClr>
                <a:schemeClr val="accent4">
                  <a:lumMod val="75000"/>
                </a:schemeClr>
              </a:buClr>
              <a:buFont typeface="Wingdings" panose="05000000000000000000" pitchFamily="2" charset="2"/>
              <a:buChar char="§"/>
              <a:defRPr/>
            </a:pPr>
            <a:r>
              <a:rPr lang="en-US" dirty="0" smtClean="0"/>
              <a:t>customers</a:t>
            </a:r>
          </a:p>
          <a:p>
            <a:pPr marL="800107" lvl="1" indent="-342900" defTabSz="457207">
              <a:spcAft>
                <a:spcPts val="0"/>
              </a:spcAft>
              <a:buClr>
                <a:schemeClr val="accent4">
                  <a:lumMod val="75000"/>
                </a:schemeClr>
              </a:buClr>
              <a:buFont typeface="Wingdings" panose="05000000000000000000" pitchFamily="2" charset="2"/>
              <a:buChar char="§"/>
              <a:defRPr/>
            </a:pPr>
            <a:r>
              <a:rPr lang="en-US" dirty="0" smtClean="0"/>
              <a:t>users</a:t>
            </a:r>
          </a:p>
          <a:p>
            <a:pPr marL="800107" lvl="1" indent="-342900" defTabSz="457207">
              <a:spcAft>
                <a:spcPts val="0"/>
              </a:spcAft>
              <a:buClr>
                <a:schemeClr val="accent4">
                  <a:lumMod val="75000"/>
                </a:schemeClr>
              </a:buClr>
              <a:buFont typeface="Wingdings" panose="05000000000000000000" pitchFamily="2" charset="2"/>
              <a:buChar char="§"/>
              <a:defRPr/>
            </a:pPr>
            <a:r>
              <a:rPr lang="en-US" dirty="0" smtClean="0"/>
              <a:t>suppliers</a:t>
            </a:r>
          </a:p>
          <a:p>
            <a:pPr marL="800107" lvl="1" indent="-342900" defTabSz="457207">
              <a:spcAft>
                <a:spcPts val="0"/>
              </a:spcAft>
              <a:buClr>
                <a:schemeClr val="accent4">
                  <a:lumMod val="75000"/>
                </a:schemeClr>
              </a:buClr>
              <a:buFont typeface="Wingdings" panose="05000000000000000000" pitchFamily="2" charset="2"/>
              <a:buChar char="§"/>
              <a:defRPr/>
            </a:pPr>
            <a:r>
              <a:rPr lang="en-US" dirty="0" smtClean="0"/>
              <a:t>opponents to the project</a:t>
            </a:r>
          </a:p>
        </p:txBody>
      </p:sp>
      <p:sp>
        <p:nvSpPr>
          <p:cNvPr id="14340"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1B4A8F55-B60D-417C-AEA9-AE21925E6996}" type="slidenum">
              <a:rPr lang="en-GB" altLang="en-US">
                <a:solidFill>
                  <a:srgbClr val="FFFFFF"/>
                </a:solidFill>
              </a:rPr>
              <a:pPr>
                <a:defRPr/>
              </a:pPr>
              <a:t>28</a:t>
            </a:fld>
            <a:endParaRPr lang="en-GB" altLang="en-US">
              <a:solidFill>
                <a:srgbClr val="FFFFFF"/>
              </a:solidFill>
            </a:endParaRPr>
          </a:p>
        </p:txBody>
      </p:sp>
    </p:spTree>
    <p:extLst>
      <p:ext uri="{BB962C8B-B14F-4D97-AF65-F5344CB8AC3E}">
        <p14:creationId xmlns:p14="http://schemas.microsoft.com/office/powerpoint/2010/main" val="419520756"/>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790700" y="1130300"/>
            <a:ext cx="8229600" cy="914400"/>
          </a:xfrm>
        </p:spPr>
        <p:txBody>
          <a:bodyPr rtlCol="0">
            <a:normAutofit/>
          </a:bodyPr>
          <a:lstStyle/>
          <a:p>
            <a:pPr defTabSz="457207">
              <a:defRPr/>
            </a:pPr>
            <a:r>
              <a:rPr lang="en-US" sz="3200" dirty="0">
                <a:solidFill>
                  <a:srgbClr val="2309E1"/>
                </a:solidFill>
              </a:rPr>
              <a:t>9 Project Management Knowledge Areas</a:t>
            </a:r>
          </a:p>
        </p:txBody>
      </p:sp>
      <p:sp>
        <p:nvSpPr>
          <p:cNvPr id="16387" name="Rectangle 3"/>
          <p:cNvSpPr>
            <a:spLocks noGrp="1" noChangeArrowheads="1"/>
          </p:cNvSpPr>
          <p:nvPr>
            <p:ph idx="1"/>
          </p:nvPr>
        </p:nvSpPr>
        <p:spPr>
          <a:xfrm>
            <a:off x="1435100" y="2527300"/>
            <a:ext cx="9220200" cy="3721101"/>
          </a:xfrm>
        </p:spPr>
        <p:txBody>
          <a:bodyPr>
            <a:normAutofit lnSpcReduction="10000"/>
          </a:bodyPr>
          <a:lstStyle/>
          <a:p>
            <a:r>
              <a:rPr lang="en-US" sz="2600" dirty="0"/>
              <a:t>Knowledge areas describe the key competencies that project managers must develop</a:t>
            </a:r>
          </a:p>
          <a:p>
            <a:pPr lvl="1"/>
            <a:r>
              <a:rPr lang="en-US" sz="2200" dirty="0"/>
              <a:t>4 core knowledge areas lead to specific project objectives (scope, time, cost, and quality)</a:t>
            </a:r>
          </a:p>
          <a:p>
            <a:pPr lvl="1"/>
            <a:r>
              <a:rPr lang="en-US" sz="2200" dirty="0"/>
              <a:t>4 facilitating knowledge areas are the means through which the project objectives are achieved (human resources, communication, risk, and procurement management</a:t>
            </a:r>
          </a:p>
          <a:p>
            <a:pPr lvl="1"/>
            <a:r>
              <a:rPr lang="en-US" sz="2200" dirty="0"/>
              <a:t>1 knowledge area (project integration management) affects and is affected by all of the other knowledge areas</a:t>
            </a:r>
          </a:p>
          <a:p>
            <a:pPr lvl="1"/>
            <a:endParaRPr lang="en-US" dirty="0" smtClean="0"/>
          </a:p>
          <a:p>
            <a:endParaRPr lang="en-US" dirty="0" smtClean="0"/>
          </a:p>
        </p:txBody>
      </p:sp>
      <p:sp>
        <p:nvSpPr>
          <p:cNvPr id="15364"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2BC268CF-A523-418A-80D8-6F1E55D1A9F7}" type="slidenum">
              <a:rPr lang="en-GB" altLang="en-US">
                <a:solidFill>
                  <a:srgbClr val="FFFFFF"/>
                </a:solidFill>
              </a:rPr>
              <a:pPr>
                <a:defRPr/>
              </a:pPr>
              <a:t>29</a:t>
            </a:fld>
            <a:endParaRPr lang="en-GB" altLang="en-US">
              <a:solidFill>
                <a:srgbClr val="FFFFFF"/>
              </a:solidFill>
            </a:endParaRPr>
          </a:p>
        </p:txBody>
      </p:sp>
    </p:spTree>
    <p:extLst>
      <p:ext uri="{BB962C8B-B14F-4D97-AF65-F5344CB8AC3E}">
        <p14:creationId xmlns:p14="http://schemas.microsoft.com/office/powerpoint/2010/main" val="905866345"/>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smtClean="0">
                <a:solidFill>
                  <a:srgbClr val="2309E1"/>
                </a:solidFill>
              </a:rPr>
              <a:t>Project Management Tools and Techniques</a:t>
            </a:r>
          </a:p>
        </p:txBody>
      </p:sp>
      <p:sp>
        <p:nvSpPr>
          <p:cNvPr id="16387" name="Rectangle 3"/>
          <p:cNvSpPr>
            <a:spLocks noGrp="1" noChangeArrowheads="1"/>
          </p:cNvSpPr>
          <p:nvPr>
            <p:ph idx="1"/>
          </p:nvPr>
        </p:nvSpPr>
        <p:spPr/>
        <p:txBody>
          <a:bodyPr rtlCol="0">
            <a:normAutofit lnSpcReduction="10000"/>
          </a:bodyPr>
          <a:lstStyle/>
          <a:p>
            <a:pPr defTabSz="457207">
              <a:lnSpc>
                <a:spcPct val="150000"/>
              </a:lnSpc>
              <a:spcAft>
                <a:spcPts val="0"/>
              </a:spcAft>
              <a:buClr>
                <a:schemeClr val="accent4">
                  <a:lumMod val="75000"/>
                </a:schemeClr>
              </a:buClr>
              <a:buFont typeface="Wingdings" panose="05000000000000000000" pitchFamily="2" charset="2"/>
              <a:buChar char="§"/>
              <a:defRPr/>
            </a:pPr>
            <a:r>
              <a:rPr lang="en-US" dirty="0" smtClean="0"/>
              <a:t>Project management tools and techniques assist project managers and their teams in various aspects of project management</a:t>
            </a:r>
          </a:p>
          <a:p>
            <a:pPr defTabSz="457207">
              <a:lnSpc>
                <a:spcPct val="150000"/>
              </a:lnSpc>
              <a:spcAft>
                <a:spcPts val="0"/>
              </a:spcAft>
              <a:buClr>
                <a:schemeClr val="accent4">
                  <a:lumMod val="75000"/>
                </a:schemeClr>
              </a:buClr>
              <a:buFont typeface="Wingdings" panose="05000000000000000000" pitchFamily="2" charset="2"/>
              <a:buChar char="§"/>
              <a:defRPr/>
            </a:pPr>
            <a:r>
              <a:rPr lang="en-US" dirty="0" smtClean="0"/>
              <a:t>Some specific ones include</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dirty="0" smtClean="0"/>
              <a:t>Project Charter and WBS (scope)</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dirty="0" smtClean="0"/>
              <a:t>Gantt charts, network diagrams, critical path analysis, critical chain scheduling (time)</a:t>
            </a:r>
          </a:p>
          <a:p>
            <a:pPr marL="800107" lvl="1" indent="-342900" defTabSz="457207">
              <a:lnSpc>
                <a:spcPct val="150000"/>
              </a:lnSpc>
              <a:spcAft>
                <a:spcPts val="0"/>
              </a:spcAft>
              <a:buClr>
                <a:schemeClr val="accent4">
                  <a:lumMod val="75000"/>
                </a:schemeClr>
              </a:buClr>
              <a:buFont typeface="Wingdings" panose="05000000000000000000" pitchFamily="2" charset="2"/>
              <a:buChar char="§"/>
              <a:defRPr/>
            </a:pPr>
            <a:r>
              <a:rPr lang="en-US" dirty="0" smtClean="0"/>
              <a:t>Cost estimates and earned value management (cost)</a:t>
            </a:r>
            <a:endParaRPr lang="en-US" sz="3000" dirty="0"/>
          </a:p>
          <a:p>
            <a:pPr marL="742962" lvl="1" indent="-285755" defTabSz="457207">
              <a:lnSpc>
                <a:spcPct val="150000"/>
              </a:lnSpc>
              <a:spcAft>
                <a:spcPts val="0"/>
              </a:spcAft>
              <a:buClr>
                <a:schemeClr val="bg2">
                  <a:lumMod val="40000"/>
                  <a:lumOff val="60000"/>
                </a:schemeClr>
              </a:buClr>
              <a:buFont typeface="Wingdings 3" charset="2"/>
              <a:buChar char=""/>
              <a:defRPr/>
            </a:pPr>
            <a:endParaRPr lang="en-US" dirty="0" smtClean="0"/>
          </a:p>
        </p:txBody>
      </p:sp>
      <p:sp>
        <p:nvSpPr>
          <p:cNvPr id="16388"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F3B3940E-0029-43DF-BADC-CD3275A21B42}" type="slidenum">
              <a:rPr lang="en-GB" altLang="en-US">
                <a:solidFill>
                  <a:srgbClr val="FFFFFF"/>
                </a:solidFill>
              </a:rPr>
              <a:pPr>
                <a:defRPr/>
              </a:pPr>
              <a:t>30</a:t>
            </a:fld>
            <a:endParaRPr lang="en-GB" altLang="en-US">
              <a:solidFill>
                <a:srgbClr val="FFFFFF"/>
              </a:solidFill>
            </a:endParaRPr>
          </a:p>
        </p:txBody>
      </p:sp>
    </p:spTree>
    <p:extLst>
      <p:ext uri="{BB962C8B-B14F-4D97-AF65-F5344CB8AC3E}">
        <p14:creationId xmlns:p14="http://schemas.microsoft.com/office/powerpoint/2010/main" val="3791045507"/>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032000" y="1138238"/>
            <a:ext cx="7543800" cy="1022350"/>
          </a:xfrm>
        </p:spPr>
        <p:txBody>
          <a:bodyPr rtlCol="0">
            <a:normAutofit fontScale="90000"/>
          </a:bodyPr>
          <a:lstStyle/>
          <a:p>
            <a:pPr defTabSz="457207">
              <a:defRPr/>
            </a:pPr>
            <a:r>
              <a:rPr lang="en-US" sz="3500" dirty="0">
                <a:solidFill>
                  <a:srgbClr val="2309E1"/>
                </a:solidFill>
              </a:rPr>
              <a:t>More Advantages of Project Management</a:t>
            </a:r>
            <a:r>
              <a:rPr lang="en-US" sz="3500" dirty="0"/>
              <a:t>*</a:t>
            </a:r>
          </a:p>
        </p:txBody>
      </p:sp>
      <p:sp>
        <p:nvSpPr>
          <p:cNvPr id="18435" name="Rectangle 3"/>
          <p:cNvSpPr>
            <a:spLocks noGrp="1" noChangeArrowheads="1"/>
          </p:cNvSpPr>
          <p:nvPr>
            <p:ph idx="1"/>
          </p:nvPr>
        </p:nvSpPr>
        <p:spPr>
          <a:xfrm>
            <a:off x="1828800" y="2451100"/>
            <a:ext cx="8153400" cy="3657600"/>
          </a:xfrm>
        </p:spPr>
        <p:txBody>
          <a:bodyPr>
            <a:normAutofit fontScale="62500" lnSpcReduction="20000"/>
          </a:bodyPr>
          <a:lstStyle/>
          <a:p>
            <a:pPr>
              <a:lnSpc>
                <a:spcPct val="120000"/>
              </a:lnSpc>
            </a:pPr>
            <a:r>
              <a:rPr lang="en-US" sz="3400" dirty="0" smtClean="0"/>
              <a:t>Bosses, customers, and other stakeholders do not like surprises</a:t>
            </a:r>
          </a:p>
          <a:p>
            <a:pPr>
              <a:lnSpc>
                <a:spcPct val="120000"/>
              </a:lnSpc>
            </a:pPr>
            <a:r>
              <a:rPr lang="en-US" sz="3400" dirty="0" smtClean="0"/>
              <a:t>Good project management (PM) provides assurance and reduces risk</a:t>
            </a:r>
            <a:endParaRPr lang="en-US" sz="3400" u="sng" dirty="0" smtClean="0"/>
          </a:p>
          <a:p>
            <a:pPr>
              <a:lnSpc>
                <a:spcPct val="120000"/>
              </a:lnSpc>
            </a:pPr>
            <a:r>
              <a:rPr lang="en-US" sz="3400" dirty="0" smtClean="0"/>
              <a:t>PM provides the tools and environment to plan, monitor, track, and manage schedules, resources, costs, and quality </a:t>
            </a:r>
          </a:p>
          <a:p>
            <a:pPr>
              <a:lnSpc>
                <a:spcPct val="120000"/>
              </a:lnSpc>
            </a:pPr>
            <a:r>
              <a:rPr lang="en-US" sz="3400" dirty="0" smtClean="0"/>
              <a:t>PM provides a history or metrics base for future planning as well as good documentation</a:t>
            </a:r>
          </a:p>
          <a:p>
            <a:pPr>
              <a:lnSpc>
                <a:spcPct val="120000"/>
              </a:lnSpc>
            </a:pPr>
            <a:r>
              <a:rPr lang="en-US" sz="3400" dirty="0" smtClean="0"/>
              <a:t>Project members learn and grow by working in a cross-functional team environment</a:t>
            </a:r>
          </a:p>
          <a:p>
            <a:pPr algn="r">
              <a:lnSpc>
                <a:spcPct val="120000"/>
              </a:lnSpc>
              <a:buFont typeface="Wingdings" panose="05000000000000000000" pitchFamily="2" charset="2"/>
              <a:buNone/>
            </a:pPr>
            <a:r>
              <a:rPr lang="en-US" sz="1700" dirty="0">
                <a:solidFill>
                  <a:schemeClr val="tx2"/>
                </a:solidFill>
              </a:rPr>
              <a:t>*Knutson, Joan, </a:t>
            </a:r>
            <a:r>
              <a:rPr lang="en-US" sz="1700" i="1" dirty="0">
                <a:solidFill>
                  <a:schemeClr val="tx2"/>
                </a:solidFill>
              </a:rPr>
              <a:t>PM Network</a:t>
            </a:r>
            <a:r>
              <a:rPr lang="en-US" sz="1700" dirty="0">
                <a:solidFill>
                  <a:schemeClr val="tx2"/>
                </a:solidFill>
              </a:rPr>
              <a:t>, December 1997, p. 13</a:t>
            </a:r>
            <a:endParaRPr lang="en-US" sz="4600" dirty="0">
              <a:solidFill>
                <a:schemeClr val="bg2"/>
              </a:solidFill>
            </a:endParaRPr>
          </a:p>
          <a:p>
            <a:pPr>
              <a:lnSpc>
                <a:spcPct val="140000"/>
              </a:lnSpc>
            </a:pPr>
            <a:endParaRPr lang="en-US" sz="3000" dirty="0"/>
          </a:p>
        </p:txBody>
      </p:sp>
      <p:sp>
        <p:nvSpPr>
          <p:cNvPr id="17412"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CC3411CD-9F08-495E-8EA5-7CF63948C543}" type="slidenum">
              <a:rPr lang="en-GB" altLang="en-US">
                <a:solidFill>
                  <a:srgbClr val="FFFFFF"/>
                </a:solidFill>
              </a:rPr>
              <a:pPr>
                <a:defRPr/>
              </a:pPr>
              <a:t>31</a:t>
            </a:fld>
            <a:endParaRPr lang="en-GB" altLang="en-US">
              <a:solidFill>
                <a:srgbClr val="FFFFFF"/>
              </a:solidFill>
            </a:endParaRPr>
          </a:p>
        </p:txBody>
      </p:sp>
    </p:spTree>
    <p:extLst>
      <p:ext uri="{BB962C8B-B14F-4D97-AF65-F5344CB8AC3E}">
        <p14:creationId xmlns:p14="http://schemas.microsoft.com/office/powerpoint/2010/main" val="230117527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sz="3200" dirty="0">
                <a:solidFill>
                  <a:srgbClr val="2309E1"/>
                </a:solidFill>
              </a:rPr>
              <a:t>How Project Management (PM) Relates to Other Disciplines</a:t>
            </a:r>
          </a:p>
        </p:txBody>
      </p:sp>
      <p:sp>
        <p:nvSpPr>
          <p:cNvPr id="19459" name="Rectangle 3"/>
          <p:cNvSpPr>
            <a:spLocks noGrp="1" noChangeArrowheads="1"/>
          </p:cNvSpPr>
          <p:nvPr>
            <p:ph idx="1"/>
          </p:nvPr>
        </p:nvSpPr>
        <p:spPr/>
        <p:txBody>
          <a:bodyPr/>
          <a:lstStyle/>
          <a:p>
            <a:pPr>
              <a:lnSpc>
                <a:spcPct val="150000"/>
              </a:lnSpc>
            </a:pPr>
            <a:r>
              <a:rPr lang="en-US" smtClean="0"/>
              <a:t>Much of the knowledge needed to manage projects is unique to PM</a:t>
            </a:r>
          </a:p>
          <a:p>
            <a:pPr>
              <a:lnSpc>
                <a:spcPct val="150000"/>
              </a:lnSpc>
            </a:pPr>
            <a:r>
              <a:rPr lang="en-US" smtClean="0"/>
              <a:t>However, project managers must also have knowledge and experience in</a:t>
            </a:r>
          </a:p>
          <a:p>
            <a:pPr lvl="1">
              <a:lnSpc>
                <a:spcPct val="150000"/>
              </a:lnSpc>
            </a:pPr>
            <a:r>
              <a:rPr lang="en-US" smtClean="0"/>
              <a:t>general management</a:t>
            </a:r>
          </a:p>
          <a:p>
            <a:pPr lvl="1">
              <a:lnSpc>
                <a:spcPct val="150000"/>
              </a:lnSpc>
            </a:pPr>
            <a:r>
              <a:rPr lang="en-US" smtClean="0"/>
              <a:t>the application area of the project</a:t>
            </a:r>
          </a:p>
          <a:p>
            <a:pPr>
              <a:lnSpc>
                <a:spcPct val="150000"/>
              </a:lnSpc>
            </a:pPr>
            <a:r>
              <a:rPr lang="en-US" smtClean="0"/>
              <a:t>Project managers must focus on meeting specific project objectives</a:t>
            </a:r>
          </a:p>
        </p:txBody>
      </p:sp>
      <p:sp>
        <p:nvSpPr>
          <p:cNvPr id="18436" name="Slide Number Placeholder 5"/>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BD6D2E32-0058-4347-B5BC-C9FBFC769862}" type="slidenum">
              <a:rPr lang="en-GB" altLang="en-US">
                <a:solidFill>
                  <a:srgbClr val="FFFFFF"/>
                </a:solidFill>
              </a:rPr>
              <a:pPr>
                <a:defRPr/>
              </a:pPr>
              <a:t>32</a:t>
            </a:fld>
            <a:endParaRPr lang="en-GB" altLang="en-US">
              <a:solidFill>
                <a:srgbClr val="FFFFFF"/>
              </a:solidFill>
            </a:endParaRPr>
          </a:p>
        </p:txBody>
      </p:sp>
    </p:spTree>
    <p:extLst>
      <p:ext uri="{BB962C8B-B14F-4D97-AF65-F5344CB8AC3E}">
        <p14:creationId xmlns:p14="http://schemas.microsoft.com/office/powerpoint/2010/main" val="453918931"/>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095500" y="1130300"/>
            <a:ext cx="7543800" cy="808038"/>
          </a:xfrm>
        </p:spPr>
        <p:txBody>
          <a:bodyPr rtlCol="0">
            <a:normAutofit fontScale="90000"/>
          </a:bodyPr>
          <a:lstStyle/>
          <a:p>
            <a:pPr defTabSz="457207">
              <a:defRPr/>
            </a:pPr>
            <a:r>
              <a:rPr lang="en-US" dirty="0">
                <a:solidFill>
                  <a:srgbClr val="2309E1"/>
                </a:solidFill>
              </a:rPr>
              <a:t>Project Management and Other Disciplines</a:t>
            </a:r>
          </a:p>
        </p:txBody>
      </p:sp>
      <p:sp>
        <p:nvSpPr>
          <p:cNvPr id="19459" name="Slide Number Placeholder 4"/>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EB4B3F72-B100-4043-9C2A-01AD63F757DF}" type="slidenum">
              <a:rPr lang="en-GB" altLang="en-US">
                <a:solidFill>
                  <a:srgbClr val="FFFFFF"/>
                </a:solidFill>
              </a:rPr>
              <a:pPr>
                <a:defRPr/>
              </a:pPr>
              <a:t>33</a:t>
            </a:fld>
            <a:endParaRPr lang="en-GB" altLang="en-US">
              <a:solidFill>
                <a:srgbClr val="FFFFFF"/>
              </a:solidFill>
            </a:endParaRPr>
          </a:p>
        </p:txBody>
      </p:sp>
      <p:graphicFrame>
        <p:nvGraphicFramePr>
          <p:cNvPr id="2" name="Diagram 1"/>
          <p:cNvGraphicFramePr/>
          <p:nvPr>
            <p:extLst>
              <p:ext uri="{D42A27DB-BD31-4B8C-83A1-F6EECF244321}">
                <p14:modId xmlns:p14="http://schemas.microsoft.com/office/powerpoint/2010/main" val="3926361307"/>
              </p:ext>
            </p:extLst>
          </p:nvPr>
        </p:nvGraphicFramePr>
        <p:xfrm>
          <a:off x="3098800" y="2599267"/>
          <a:ext cx="5651500" cy="35094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3234324"/>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2309E1"/>
                </a:solidFill>
              </a:rPr>
              <a:t>Q &amp; A</a:t>
            </a:r>
            <a:endParaRPr lang="en-US" dirty="0">
              <a:solidFill>
                <a:srgbClr val="2309E1"/>
              </a:solidFill>
            </a:endParaRPr>
          </a:p>
        </p:txBody>
      </p:sp>
      <p:sp>
        <p:nvSpPr>
          <p:cNvPr id="3" name="Content Placeholder 2"/>
          <p:cNvSpPr>
            <a:spLocks noGrp="1"/>
          </p:cNvSpPr>
          <p:nvPr>
            <p:ph idx="1"/>
          </p:nvPr>
        </p:nvSpPr>
        <p:spPr/>
        <p:txBody>
          <a:bodyPr>
            <a:noAutofit/>
          </a:bodyPr>
          <a:lstStyle/>
          <a:p>
            <a:pPr marL="0" indent="0" algn="ctr">
              <a:buNone/>
            </a:pPr>
            <a:r>
              <a:rPr lang="en-US" sz="9600" baseline="-25000" dirty="0" smtClean="0"/>
              <a:t>I thank you.</a:t>
            </a:r>
          </a:p>
        </p:txBody>
      </p:sp>
      <p:sp>
        <p:nvSpPr>
          <p:cNvPr id="4" name="Slide Number Placeholder 3"/>
          <p:cNvSpPr>
            <a:spLocks noGrp="1"/>
          </p:cNvSpPr>
          <p:nvPr>
            <p:ph type="sldNum" sz="quarter" idx="12"/>
          </p:nvPr>
        </p:nvSpPr>
        <p:spPr/>
        <p:txBody>
          <a:bodyPr/>
          <a:lstStyle/>
          <a:p>
            <a:fld id="{80BBB6C9-A94A-4C19-A541-06B730F5974C}" type="slidenum">
              <a:rPr lang="en-US" smtClean="0"/>
              <a:pPr/>
              <a:t>34</a:t>
            </a:fld>
            <a:endParaRPr lang="en-US"/>
          </a:p>
        </p:txBody>
      </p:sp>
    </p:spTree>
    <p:extLst>
      <p:ext uri="{BB962C8B-B14F-4D97-AF65-F5344CB8AC3E}">
        <p14:creationId xmlns:p14="http://schemas.microsoft.com/office/powerpoint/2010/main" val="332839469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2">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5295</TotalTime>
  <Words>1655</Words>
  <Application>Microsoft Office PowerPoint</Application>
  <PresentationFormat>Custom</PresentationFormat>
  <Paragraphs>243</Paragraphs>
  <Slides>34</Slides>
  <Notes>6</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Theme2</vt:lpstr>
      <vt:lpstr>SW Project Management</vt:lpstr>
      <vt:lpstr>Chapter one</vt:lpstr>
      <vt:lpstr>Management Spectrum</vt:lpstr>
      <vt:lpstr>PowerPoint Presentation</vt:lpstr>
      <vt:lpstr>Why need to study SPM?</vt:lpstr>
      <vt:lpstr>Causes of Project Management Failure</vt:lpstr>
      <vt:lpstr>Causes of Project Management Failure</vt:lpstr>
      <vt:lpstr>Advantages of Using Formal SPM</vt:lpstr>
      <vt:lpstr>Advantages of Using Formal SPM</vt:lpstr>
      <vt:lpstr>Software engineering and project management: What is software?</vt:lpstr>
      <vt:lpstr>What is software engineering?</vt:lpstr>
      <vt:lpstr>What is a software process?</vt:lpstr>
      <vt:lpstr>The Nature of Software</vt:lpstr>
      <vt:lpstr>The Nature of Software ...</vt:lpstr>
      <vt:lpstr>The Nature of Software</vt:lpstr>
      <vt:lpstr>Software Quality and the Stakeholders</vt:lpstr>
      <vt:lpstr>Challenges in Software projects /SE (calls for  specializations </vt:lpstr>
      <vt:lpstr>PowerPoint Presentation</vt:lpstr>
      <vt:lpstr>Specializations - software engineering</vt:lpstr>
      <vt:lpstr>Cont…</vt:lpstr>
      <vt:lpstr>Cont…</vt:lpstr>
      <vt:lpstr>Costs of software projects </vt:lpstr>
      <vt:lpstr>What is a Project?</vt:lpstr>
      <vt:lpstr>Attributes of projects</vt:lpstr>
      <vt:lpstr>The Triple Constraint</vt:lpstr>
      <vt:lpstr>What is Project Management? </vt:lpstr>
      <vt:lpstr>Project Management Framework</vt:lpstr>
      <vt:lpstr>Project Stakeholders</vt:lpstr>
      <vt:lpstr>9 Project Management Knowledge Areas</vt:lpstr>
      <vt:lpstr>Project Management Tools and Techniques</vt:lpstr>
      <vt:lpstr>More Advantages of Project Management*</vt:lpstr>
      <vt:lpstr>How Project Management (PM) Relates to Other Disciplines</vt:lpstr>
      <vt:lpstr>Project Management and Other Disciplines</vt:lpstr>
      <vt:lpstr>Q &amp; A</vt:lpstr>
    </vt:vector>
  </TitlesOfParts>
  <Company>BIT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Managent</dc:title>
  <dc:creator>Caleb</dc:creator>
  <cp:lastModifiedBy>hp</cp:lastModifiedBy>
  <cp:revision>104</cp:revision>
  <dcterms:created xsi:type="dcterms:W3CDTF">2014-04-03T01:50:49Z</dcterms:created>
  <dcterms:modified xsi:type="dcterms:W3CDTF">2026-02-11T08:38:01Z</dcterms:modified>
</cp:coreProperties>
</file>