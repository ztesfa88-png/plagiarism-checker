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obster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obster-regular.fnt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b6ee5e9e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b6ee5e9e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b6ee5e9e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b6ee5e9e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b6ee5e9e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b6ee5e9e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b6ee5e9e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b6ee5e9e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b6ee5e9e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b6ee5e9e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b6ee5e9e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b6ee5e9e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b6ee5e9e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b6ee5e9e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b6ee5e9e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b6ee5e9e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accent2"/>
                </a:solidFill>
                <a:latin typeface="Lobster"/>
                <a:ea typeface="Lobster"/>
                <a:cs typeface="Lobster"/>
                <a:sym typeface="Lobster"/>
              </a:rPr>
              <a:t>The Proxy Design Pattern</a:t>
            </a:r>
            <a:endParaRPr sz="5400">
              <a:solidFill>
                <a:schemeClr val="accent2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Structural Design Patterns in Java</a:t>
            </a:r>
            <a:endParaRPr sz="39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233475" y="2236225"/>
            <a:ext cx="50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latin typeface="Lobster"/>
                <a:ea typeface="Lobster"/>
                <a:cs typeface="Lobster"/>
                <a:sym typeface="Lobster"/>
              </a:rPr>
              <a:t> What is the Intent?</a:t>
            </a:r>
            <a:endParaRPr sz="3600" u="sng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90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Definition:</a:t>
            </a:r>
            <a:r>
              <a:rPr lang="en" sz="2400">
                <a:solidFill>
                  <a:schemeClr val="dk1"/>
                </a:solidFill>
              </a:rPr>
              <a:t> To provide a surrogate or placeholder for another object to control access to it.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The Goal:</a:t>
            </a:r>
            <a:r>
              <a:rPr lang="en" sz="2400">
                <a:solidFill>
                  <a:schemeClr val="dk1"/>
                </a:solidFill>
              </a:rPr>
              <a:t> The Proxy acts as a "Gatekeeper" or "Agent" for the Real Object.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Transparency:</a:t>
            </a:r>
            <a:r>
              <a:rPr lang="en" sz="2400">
                <a:solidFill>
                  <a:schemeClr val="dk1"/>
                </a:solidFill>
              </a:rPr>
              <a:t> The Client interacts with the Proxy as if it were the Real Object, using the same interface.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Real-World Analogy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"Credit Card" Analogy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Real Subject:</a:t>
            </a:r>
            <a:r>
              <a:rPr lang="en" sz="2400">
                <a:solidFill>
                  <a:schemeClr val="dk1"/>
                </a:solidFill>
              </a:rPr>
              <a:t> The actual Cash in your bank vault. (Heavy/Protected)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Proxy:</a:t>
            </a:r>
            <a:r>
              <a:rPr lang="en" sz="2400">
                <a:solidFill>
                  <a:schemeClr val="dk1"/>
                </a:solidFill>
              </a:rPr>
              <a:t> The Plastic Credit Card. (Lightweight/Access Control)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How it works:</a:t>
            </a:r>
            <a:r>
              <a:rPr lang="en" sz="2400">
                <a:solidFill>
                  <a:schemeClr val="dk1"/>
                </a:solidFill>
              </a:rPr>
              <a:t> You don't carry $5,000 in cash to the store. You carry the Card. The store "talks" to the Card, and the Card authorizes the bank to release the funds.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Key Participants (UML)</a:t>
            </a:r>
            <a:endParaRPr sz="30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lang="en" sz="2400"/>
              <a:t> Structure and Participants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Subject (Interface):</a:t>
            </a:r>
            <a:r>
              <a:rPr lang="en" sz="2400">
                <a:solidFill>
                  <a:schemeClr val="dk1"/>
                </a:solidFill>
              </a:rPr>
              <a:t> Defines the common methods for both RealSubject and Proxy.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RealSubject:</a:t>
            </a:r>
            <a:r>
              <a:rPr lang="en" sz="2400">
                <a:solidFill>
                  <a:schemeClr val="dk1"/>
                </a:solidFill>
              </a:rPr>
              <a:t> The actual object that performs the core business logic.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Proxy:</a:t>
            </a:r>
            <a:r>
              <a:rPr lang="en" sz="2400">
                <a:solidFill>
                  <a:schemeClr val="dk1"/>
                </a:solidFill>
              </a:rPr>
              <a:t> Maintains a reference to the RealSubject and controls its lifecycle.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0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Variations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Three Flavors of Proxy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352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400">
                <a:solidFill>
                  <a:schemeClr val="dk1"/>
                </a:solidFill>
              </a:rPr>
              <a:t>Virtual Proxy:</a:t>
            </a:r>
            <a:r>
              <a:rPr lang="en" sz="2400">
                <a:solidFill>
                  <a:schemeClr val="dk1"/>
                </a:solidFill>
              </a:rPr>
              <a:t> Used for "Lazy Loading." It creates expensive objects only when they are actually needed.</a:t>
            </a:r>
            <a:endParaRPr sz="2400">
              <a:solidFill>
                <a:schemeClr val="dk1"/>
              </a:solidFill>
            </a:endParaRPr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400">
                <a:solidFill>
                  <a:schemeClr val="dk1"/>
                </a:solidFill>
              </a:rPr>
              <a:t>Protection Proxy:</a:t>
            </a:r>
            <a:r>
              <a:rPr lang="en" sz="2400">
                <a:solidFill>
                  <a:schemeClr val="dk1"/>
                </a:solidFill>
              </a:rPr>
              <a:t> Used for Security. It checks the caller’s permissions before allowing access to the RealSubject.</a:t>
            </a:r>
            <a:endParaRPr sz="2400">
              <a:solidFill>
                <a:schemeClr val="dk1"/>
              </a:solidFill>
            </a:endParaRPr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400">
                <a:solidFill>
                  <a:schemeClr val="dk1"/>
                </a:solidFill>
              </a:rPr>
              <a:t>Remote Proxy:</a:t>
            </a:r>
            <a:r>
              <a:rPr lang="en" sz="2400">
                <a:solidFill>
                  <a:schemeClr val="dk1"/>
                </a:solidFill>
              </a:rPr>
              <a:t> Used for Networking. It represents an object that exists on a different server or JVM.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Implementation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 title="carb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625" y="1351650"/>
            <a:ext cx="4590750" cy="379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It? (The Benefits)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Benefits of the Proxy Pattern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Security:</a:t>
            </a:r>
            <a:r>
              <a:rPr lang="en" sz="2400">
                <a:solidFill>
                  <a:schemeClr val="dk1"/>
                </a:solidFill>
              </a:rPr>
              <a:t> Adds a protective layer without modifying the original code.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Performance:</a:t>
            </a:r>
            <a:r>
              <a:rPr lang="en" sz="2400">
                <a:solidFill>
                  <a:schemeClr val="dk1"/>
                </a:solidFill>
              </a:rPr>
              <a:t> Avoids memory waste by deferring the creation of "heavy" objects.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Single Responsibility:</a:t>
            </a:r>
            <a:r>
              <a:rPr lang="en" sz="2400">
                <a:solidFill>
                  <a:schemeClr val="dk1"/>
                </a:solidFill>
              </a:rPr>
              <a:t> Keeps the RealSubject focused on logic while the Proxy handles "housekeeping" (logging, security, caching).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Proxy vs. Decorator</a:t>
            </a:r>
            <a:endParaRPr sz="24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Key Differences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Proxy Pattern:</a:t>
            </a:r>
            <a:r>
              <a:rPr lang="en" sz="2400">
                <a:solidFill>
                  <a:schemeClr val="dk1"/>
                </a:solidFill>
              </a:rPr>
              <a:t> Focuses on </a:t>
            </a:r>
            <a:r>
              <a:rPr b="1" lang="en" sz="2400">
                <a:solidFill>
                  <a:schemeClr val="dk1"/>
                </a:solidFill>
              </a:rPr>
              <a:t>Access Control</a:t>
            </a:r>
            <a:r>
              <a:rPr lang="en" sz="2400">
                <a:solidFill>
                  <a:schemeClr val="dk1"/>
                </a:solidFill>
              </a:rPr>
              <a:t>. It decides IF and WHEN a client can use the object.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Decorator Pattern:</a:t>
            </a:r>
            <a:r>
              <a:rPr lang="en" sz="2400">
                <a:solidFill>
                  <a:schemeClr val="dk1"/>
                </a:solidFill>
              </a:rPr>
              <a:t> Focuses on </a:t>
            </a:r>
            <a:r>
              <a:rPr b="1" lang="en" sz="2400">
                <a:solidFill>
                  <a:schemeClr val="dk1"/>
                </a:solidFill>
              </a:rPr>
              <a:t>Adding Behavior</a:t>
            </a:r>
            <a:r>
              <a:rPr lang="en" sz="2400">
                <a:solidFill>
                  <a:schemeClr val="dk1"/>
                </a:solidFill>
              </a:rPr>
              <a:t>. It adds extra features to the object (like adding sugar to coffee).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Summary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The Proxy pattern is a powerful tool for </a:t>
            </a:r>
            <a:r>
              <a:rPr b="1" lang="en" sz="2400">
                <a:solidFill>
                  <a:schemeClr val="dk1"/>
                </a:solidFill>
              </a:rPr>
              <a:t>optimization</a:t>
            </a:r>
            <a:r>
              <a:rPr lang="en" sz="2400">
                <a:solidFill>
                  <a:schemeClr val="dk1"/>
                </a:solidFill>
              </a:rPr>
              <a:t> and </a:t>
            </a:r>
            <a:r>
              <a:rPr b="1" lang="en" sz="2400">
                <a:solidFill>
                  <a:schemeClr val="dk1"/>
                </a:solidFill>
              </a:rPr>
              <a:t>security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It promotes the </a:t>
            </a:r>
            <a:r>
              <a:rPr b="1" lang="en" sz="2400">
                <a:solidFill>
                  <a:schemeClr val="dk1"/>
                </a:solidFill>
              </a:rPr>
              <a:t>Open/Closed Principle</a:t>
            </a:r>
            <a:r>
              <a:rPr lang="en" sz="2400">
                <a:solidFill>
                  <a:schemeClr val="dk1"/>
                </a:solidFill>
              </a:rPr>
              <a:t>—extending behavior without modifying existing code.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It is a fundamental pattern used in Java Frameworks like </a:t>
            </a:r>
            <a:r>
              <a:rPr b="1" lang="en" sz="2400">
                <a:solidFill>
                  <a:schemeClr val="dk1"/>
                </a:solidFill>
              </a:rPr>
              <a:t>Spring</a:t>
            </a:r>
            <a:r>
              <a:rPr lang="en" sz="2400">
                <a:solidFill>
                  <a:schemeClr val="dk1"/>
                </a:solidFill>
              </a:rPr>
              <a:t> (for AOP) and </a:t>
            </a:r>
            <a:r>
              <a:rPr b="1" lang="en" sz="2400">
                <a:solidFill>
                  <a:schemeClr val="dk1"/>
                </a:solidFill>
              </a:rPr>
              <a:t>Hibernate</a:t>
            </a:r>
            <a:r>
              <a:rPr lang="en" sz="2400">
                <a:solidFill>
                  <a:schemeClr val="dk1"/>
                </a:solidFill>
              </a:rPr>
              <a:t> (for Lazy Loading).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