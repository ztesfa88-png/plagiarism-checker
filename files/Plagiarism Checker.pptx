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elegraf Medium" charset="1" panose="00000600000000000000"/>
      <p:regular r:id="rId12"/>
    </p:embeddedFont>
    <p:embeddedFont>
      <p:font typeface="Telegraf Bold" charset="1" panose="00000800000000000000"/>
      <p:regular r:id="rId13"/>
    </p:embeddedFont>
    <p:embeddedFont>
      <p:font typeface="Garet" charset="1" panose="00000000000000000000"/>
      <p:regular r:id="rId14"/>
    </p:embeddedFont>
    <p:embeddedFont>
      <p:font typeface="Telegraf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https://github.com/ztesfa88-png/Plagiarism-Checker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2.png" Type="http://schemas.openxmlformats.org/officeDocument/2006/relationships/image"/><Relationship Id="rId12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2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22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994038" y="3006185"/>
            <a:ext cx="6333340" cy="10305731"/>
          </a:xfrm>
          <a:custGeom>
            <a:avLst/>
            <a:gdLst/>
            <a:ahLst/>
            <a:cxnLst/>
            <a:rect r="r" b="b" t="t" l="l"/>
            <a:pathLst>
              <a:path h="10305731" w="6333340">
                <a:moveTo>
                  <a:pt x="0" y="0"/>
                </a:moveTo>
                <a:lnTo>
                  <a:pt x="6333340" y="0"/>
                </a:lnTo>
                <a:lnTo>
                  <a:pt x="6333340" y="10305732"/>
                </a:lnTo>
                <a:lnTo>
                  <a:pt x="0" y="1030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1454" y="4754192"/>
            <a:ext cx="7912770" cy="6296182"/>
          </a:xfrm>
          <a:custGeom>
            <a:avLst/>
            <a:gdLst/>
            <a:ahLst/>
            <a:cxnLst/>
            <a:rect r="r" b="b" t="t" l="l"/>
            <a:pathLst>
              <a:path h="6296182" w="7912770">
                <a:moveTo>
                  <a:pt x="0" y="0"/>
                </a:moveTo>
                <a:lnTo>
                  <a:pt x="7912770" y="0"/>
                </a:lnTo>
                <a:lnTo>
                  <a:pt x="7912770" y="6296182"/>
                </a:lnTo>
                <a:lnTo>
                  <a:pt x="0" y="6296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01001" y="1243875"/>
            <a:ext cx="2865401" cy="286540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3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60708" y="1243875"/>
            <a:ext cx="2865401" cy="28654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4306" y="8153890"/>
            <a:ext cx="6355367" cy="1104410"/>
            <a:chOff x="0" y="0"/>
            <a:chExt cx="1715089" cy="29804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5089" cy="298041"/>
            </a:xfrm>
            <a:custGeom>
              <a:avLst/>
              <a:gdLst/>
              <a:ahLst/>
              <a:cxnLst/>
              <a:rect r="r" b="b" t="t" l="l"/>
              <a:pathLst>
                <a:path h="298041" w="1715089">
                  <a:moveTo>
                    <a:pt x="121817" y="0"/>
                  </a:moveTo>
                  <a:lnTo>
                    <a:pt x="1593272" y="0"/>
                  </a:lnTo>
                  <a:cubicBezTo>
                    <a:pt x="1625580" y="0"/>
                    <a:pt x="1656565" y="12834"/>
                    <a:pt x="1679410" y="35679"/>
                  </a:cubicBezTo>
                  <a:cubicBezTo>
                    <a:pt x="1702255" y="58525"/>
                    <a:pt x="1715089" y="89509"/>
                    <a:pt x="1715089" y="121817"/>
                  </a:cubicBezTo>
                  <a:lnTo>
                    <a:pt x="1715089" y="176224"/>
                  </a:lnTo>
                  <a:cubicBezTo>
                    <a:pt x="1715089" y="208532"/>
                    <a:pt x="1702255" y="239517"/>
                    <a:pt x="1679410" y="262362"/>
                  </a:cubicBezTo>
                  <a:cubicBezTo>
                    <a:pt x="1656565" y="285207"/>
                    <a:pt x="1625580" y="298041"/>
                    <a:pt x="1593272" y="298041"/>
                  </a:cubicBezTo>
                  <a:lnTo>
                    <a:pt x="121817" y="298041"/>
                  </a:lnTo>
                  <a:cubicBezTo>
                    <a:pt x="89509" y="298041"/>
                    <a:pt x="58525" y="285207"/>
                    <a:pt x="35679" y="262362"/>
                  </a:cubicBezTo>
                  <a:cubicBezTo>
                    <a:pt x="12834" y="239517"/>
                    <a:pt x="0" y="208532"/>
                    <a:pt x="0" y="176224"/>
                  </a:cubicBezTo>
                  <a:lnTo>
                    <a:pt x="0" y="121817"/>
                  </a:lnTo>
                  <a:cubicBezTo>
                    <a:pt x="0" y="89509"/>
                    <a:pt x="12834" y="58525"/>
                    <a:pt x="35679" y="35679"/>
                  </a:cubicBezTo>
                  <a:cubicBezTo>
                    <a:pt x="58525" y="12834"/>
                    <a:pt x="89509" y="0"/>
                    <a:pt x="121817" y="0"/>
                  </a:cubicBezTo>
                  <a:close/>
                </a:path>
              </a:pathLst>
            </a:custGeom>
            <a:solidFill>
              <a:srgbClr val="4589D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15089" cy="336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8592407" y="1256991"/>
            <a:ext cx="9423806" cy="7773019"/>
            <a:chOff x="0" y="0"/>
            <a:chExt cx="2543153" cy="20976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3153" cy="2097664"/>
            </a:xfrm>
            <a:custGeom>
              <a:avLst/>
              <a:gdLst/>
              <a:ahLst/>
              <a:cxnLst/>
              <a:rect r="r" b="b" t="t" l="l"/>
              <a:pathLst>
                <a:path h="2097664" w="2543153">
                  <a:moveTo>
                    <a:pt x="82153" y="0"/>
                  </a:moveTo>
                  <a:lnTo>
                    <a:pt x="2461000" y="0"/>
                  </a:lnTo>
                  <a:cubicBezTo>
                    <a:pt x="2482788" y="0"/>
                    <a:pt x="2503684" y="8655"/>
                    <a:pt x="2519091" y="24062"/>
                  </a:cubicBezTo>
                  <a:cubicBezTo>
                    <a:pt x="2534498" y="39469"/>
                    <a:pt x="2543153" y="60365"/>
                    <a:pt x="2543153" y="82153"/>
                  </a:cubicBezTo>
                  <a:lnTo>
                    <a:pt x="2543153" y="2015511"/>
                  </a:lnTo>
                  <a:cubicBezTo>
                    <a:pt x="2543153" y="2037299"/>
                    <a:pt x="2534498" y="2058195"/>
                    <a:pt x="2519091" y="2073602"/>
                  </a:cubicBezTo>
                  <a:cubicBezTo>
                    <a:pt x="2503684" y="2089008"/>
                    <a:pt x="2482788" y="2097664"/>
                    <a:pt x="2461000" y="2097664"/>
                  </a:cubicBezTo>
                  <a:lnTo>
                    <a:pt x="82153" y="2097664"/>
                  </a:lnTo>
                  <a:cubicBezTo>
                    <a:pt x="60365" y="2097664"/>
                    <a:pt x="39469" y="2089008"/>
                    <a:pt x="24062" y="2073602"/>
                  </a:cubicBezTo>
                  <a:cubicBezTo>
                    <a:pt x="8655" y="2058195"/>
                    <a:pt x="0" y="2037299"/>
                    <a:pt x="0" y="2015511"/>
                  </a:cubicBezTo>
                  <a:lnTo>
                    <a:pt x="0" y="82153"/>
                  </a:lnTo>
                  <a:cubicBezTo>
                    <a:pt x="0" y="60365"/>
                    <a:pt x="8655" y="39469"/>
                    <a:pt x="24062" y="24062"/>
                  </a:cubicBezTo>
                  <a:cubicBezTo>
                    <a:pt x="39469" y="8655"/>
                    <a:pt x="60365" y="0"/>
                    <a:pt x="82153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3153" cy="213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417265">
            <a:off x="14571127" y="1989091"/>
            <a:ext cx="2044563" cy="1374969"/>
          </a:xfrm>
          <a:custGeom>
            <a:avLst/>
            <a:gdLst/>
            <a:ahLst/>
            <a:cxnLst/>
            <a:rect r="r" b="b" t="t" l="l"/>
            <a:pathLst>
              <a:path h="1374969" w="2044563">
                <a:moveTo>
                  <a:pt x="0" y="0"/>
                </a:moveTo>
                <a:lnTo>
                  <a:pt x="2044563" y="0"/>
                </a:lnTo>
                <a:lnTo>
                  <a:pt x="2044563" y="1374969"/>
                </a:lnTo>
                <a:lnTo>
                  <a:pt x="0" y="1374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359150" y="1965555"/>
            <a:ext cx="2349104" cy="1515172"/>
          </a:xfrm>
          <a:custGeom>
            <a:avLst/>
            <a:gdLst/>
            <a:ahLst/>
            <a:cxnLst/>
            <a:rect r="r" b="b" t="t" l="l"/>
            <a:pathLst>
              <a:path h="1515172" w="2349104">
                <a:moveTo>
                  <a:pt x="0" y="0"/>
                </a:moveTo>
                <a:lnTo>
                  <a:pt x="2349103" y="0"/>
                </a:lnTo>
                <a:lnTo>
                  <a:pt x="2349103" y="1515172"/>
                </a:lnTo>
                <a:lnTo>
                  <a:pt x="0" y="1515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8133964" y="6475946"/>
            <a:ext cx="1237330" cy="1257914"/>
          </a:xfrm>
          <a:custGeom>
            <a:avLst/>
            <a:gdLst/>
            <a:ahLst/>
            <a:cxnLst/>
            <a:rect r="r" b="b" t="t" l="l"/>
            <a:pathLst>
              <a:path h="1257914" w="1237330">
                <a:moveTo>
                  <a:pt x="0" y="0"/>
                </a:moveTo>
                <a:lnTo>
                  <a:pt x="1237330" y="0"/>
                </a:lnTo>
                <a:lnTo>
                  <a:pt x="1237330" y="1257914"/>
                </a:lnTo>
                <a:lnTo>
                  <a:pt x="0" y="1257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433121" y="-1728206"/>
            <a:ext cx="3747982" cy="3693761"/>
          </a:xfrm>
          <a:custGeom>
            <a:avLst/>
            <a:gdLst/>
            <a:ahLst/>
            <a:cxnLst/>
            <a:rect r="r" b="b" t="t" l="l"/>
            <a:pathLst>
              <a:path h="3693761" w="3747982">
                <a:moveTo>
                  <a:pt x="0" y="0"/>
                </a:moveTo>
                <a:lnTo>
                  <a:pt x="3747982" y="0"/>
                </a:lnTo>
                <a:lnTo>
                  <a:pt x="3747982" y="3693761"/>
                </a:lnTo>
                <a:lnTo>
                  <a:pt x="0" y="3693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399971">
            <a:off x="1573590" y="7464714"/>
            <a:ext cx="962268" cy="950021"/>
          </a:xfrm>
          <a:custGeom>
            <a:avLst/>
            <a:gdLst/>
            <a:ahLst/>
            <a:cxnLst/>
            <a:rect r="r" b="b" t="t" l="l"/>
            <a:pathLst>
              <a:path h="950021" w="962268">
                <a:moveTo>
                  <a:pt x="0" y="0"/>
                </a:moveTo>
                <a:lnTo>
                  <a:pt x="962268" y="0"/>
                </a:lnTo>
                <a:lnTo>
                  <a:pt x="962268" y="950021"/>
                </a:lnTo>
                <a:lnTo>
                  <a:pt x="0" y="9500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810710">
            <a:off x="16577969" y="393064"/>
            <a:ext cx="2458369" cy="925241"/>
          </a:xfrm>
          <a:custGeom>
            <a:avLst/>
            <a:gdLst/>
            <a:ahLst/>
            <a:cxnLst/>
            <a:rect r="r" b="b" t="t" l="l"/>
            <a:pathLst>
              <a:path h="925241" w="2458369">
                <a:moveTo>
                  <a:pt x="0" y="0"/>
                </a:moveTo>
                <a:lnTo>
                  <a:pt x="2458369" y="0"/>
                </a:lnTo>
                <a:lnTo>
                  <a:pt x="2458369" y="925241"/>
                </a:lnTo>
                <a:lnTo>
                  <a:pt x="0" y="925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684306" y="5646192"/>
            <a:ext cx="6449658" cy="1815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 b="true">
                <a:solidFill>
                  <a:srgbClr val="353535"/>
                </a:solidFill>
                <a:latin typeface="Telegraf Medium"/>
                <a:ea typeface="Telegraf Medium"/>
                <a:cs typeface="Telegraf Medium"/>
                <a:sym typeface="Telegraf Medium"/>
              </a:rPr>
              <a:t>hybrid unsupervised machine learning approach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4306" y="2977827"/>
            <a:ext cx="7967148" cy="2718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29"/>
              </a:lnSpc>
            </a:pPr>
            <a:r>
              <a:rPr lang="en-US" sz="92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  <a:hlinkClick r:id="rId15" tooltip="https://github.com/ztesfa88-png/Plagiarism-Checker"/>
              </a:rPr>
              <a:t>Plagiarism Checker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049210" y="8457851"/>
            <a:ext cx="5625558" cy="48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3191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GROUP 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9675086">
            <a:off x="11731558" y="3743195"/>
            <a:ext cx="5883877" cy="9574356"/>
          </a:xfrm>
          <a:custGeom>
            <a:avLst/>
            <a:gdLst/>
            <a:ahLst/>
            <a:cxnLst/>
            <a:rect r="r" b="b" t="t" l="l"/>
            <a:pathLst>
              <a:path h="9574356" w="5883877">
                <a:moveTo>
                  <a:pt x="5883877" y="0"/>
                </a:moveTo>
                <a:lnTo>
                  <a:pt x="0" y="0"/>
                </a:lnTo>
                <a:lnTo>
                  <a:pt x="0" y="9574356"/>
                </a:lnTo>
                <a:lnTo>
                  <a:pt x="5883877" y="9574356"/>
                </a:lnTo>
                <a:lnTo>
                  <a:pt x="58838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52921" y="3797943"/>
            <a:ext cx="6493926" cy="6169230"/>
          </a:xfrm>
          <a:custGeom>
            <a:avLst/>
            <a:gdLst/>
            <a:ahLst/>
            <a:cxnLst/>
            <a:rect r="r" b="b" t="t" l="l"/>
            <a:pathLst>
              <a:path h="6169230" w="6493926">
                <a:moveTo>
                  <a:pt x="0" y="0"/>
                </a:moveTo>
                <a:lnTo>
                  <a:pt x="6493926" y="0"/>
                </a:lnTo>
                <a:lnTo>
                  <a:pt x="6493926" y="6169230"/>
                </a:lnTo>
                <a:lnTo>
                  <a:pt x="0" y="61692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-230064" y="10083694"/>
            <a:ext cx="9423806" cy="7773019"/>
            <a:chOff x="0" y="0"/>
            <a:chExt cx="2543153" cy="209766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43153" cy="2097664"/>
            </a:xfrm>
            <a:custGeom>
              <a:avLst/>
              <a:gdLst/>
              <a:ahLst/>
              <a:cxnLst/>
              <a:rect r="r" b="b" t="t" l="l"/>
              <a:pathLst>
                <a:path h="2097664" w="2543153">
                  <a:moveTo>
                    <a:pt x="82153" y="0"/>
                  </a:moveTo>
                  <a:lnTo>
                    <a:pt x="2461000" y="0"/>
                  </a:lnTo>
                  <a:cubicBezTo>
                    <a:pt x="2482788" y="0"/>
                    <a:pt x="2503684" y="8655"/>
                    <a:pt x="2519091" y="24062"/>
                  </a:cubicBezTo>
                  <a:cubicBezTo>
                    <a:pt x="2534498" y="39469"/>
                    <a:pt x="2543153" y="60365"/>
                    <a:pt x="2543153" y="82153"/>
                  </a:cubicBezTo>
                  <a:lnTo>
                    <a:pt x="2543153" y="2015511"/>
                  </a:lnTo>
                  <a:cubicBezTo>
                    <a:pt x="2543153" y="2037299"/>
                    <a:pt x="2534498" y="2058195"/>
                    <a:pt x="2519091" y="2073602"/>
                  </a:cubicBezTo>
                  <a:cubicBezTo>
                    <a:pt x="2503684" y="2089008"/>
                    <a:pt x="2482788" y="2097664"/>
                    <a:pt x="2461000" y="2097664"/>
                  </a:cubicBezTo>
                  <a:lnTo>
                    <a:pt x="82153" y="2097664"/>
                  </a:lnTo>
                  <a:cubicBezTo>
                    <a:pt x="60365" y="2097664"/>
                    <a:pt x="39469" y="2089008"/>
                    <a:pt x="24062" y="2073602"/>
                  </a:cubicBezTo>
                  <a:cubicBezTo>
                    <a:pt x="8655" y="2058195"/>
                    <a:pt x="0" y="2037299"/>
                    <a:pt x="0" y="2015511"/>
                  </a:cubicBezTo>
                  <a:lnTo>
                    <a:pt x="0" y="82153"/>
                  </a:lnTo>
                  <a:cubicBezTo>
                    <a:pt x="0" y="60365"/>
                    <a:pt x="8655" y="39469"/>
                    <a:pt x="24062" y="24062"/>
                  </a:cubicBezTo>
                  <a:cubicBezTo>
                    <a:pt x="39469" y="8655"/>
                    <a:pt x="60365" y="0"/>
                    <a:pt x="82153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543153" cy="213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438966">
            <a:off x="9449427" y="8871425"/>
            <a:ext cx="1799123" cy="1829053"/>
          </a:xfrm>
          <a:custGeom>
            <a:avLst/>
            <a:gdLst/>
            <a:ahLst/>
            <a:cxnLst/>
            <a:rect r="r" b="b" t="t" l="l"/>
            <a:pathLst>
              <a:path h="1829053" w="1799123">
                <a:moveTo>
                  <a:pt x="0" y="0"/>
                </a:moveTo>
                <a:lnTo>
                  <a:pt x="1799123" y="0"/>
                </a:lnTo>
                <a:lnTo>
                  <a:pt x="1799123" y="1829053"/>
                </a:lnTo>
                <a:lnTo>
                  <a:pt x="0" y="18290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99971">
            <a:off x="1080589" y="8783289"/>
            <a:ext cx="962268" cy="950021"/>
          </a:xfrm>
          <a:custGeom>
            <a:avLst/>
            <a:gdLst/>
            <a:ahLst/>
            <a:cxnLst/>
            <a:rect r="r" b="b" t="t" l="l"/>
            <a:pathLst>
              <a:path h="950021" w="962268">
                <a:moveTo>
                  <a:pt x="0" y="0"/>
                </a:moveTo>
                <a:lnTo>
                  <a:pt x="962268" y="0"/>
                </a:lnTo>
                <a:lnTo>
                  <a:pt x="962268" y="950022"/>
                </a:lnTo>
                <a:lnTo>
                  <a:pt x="0" y="9500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1653236" y="-1754572"/>
            <a:ext cx="3747982" cy="3693761"/>
          </a:xfrm>
          <a:custGeom>
            <a:avLst/>
            <a:gdLst/>
            <a:ahLst/>
            <a:cxnLst/>
            <a:rect r="r" b="b" t="t" l="l"/>
            <a:pathLst>
              <a:path h="3693761" w="3747982">
                <a:moveTo>
                  <a:pt x="0" y="0"/>
                </a:moveTo>
                <a:lnTo>
                  <a:pt x="3747982" y="0"/>
                </a:lnTo>
                <a:lnTo>
                  <a:pt x="3747982" y="3693762"/>
                </a:lnTo>
                <a:lnTo>
                  <a:pt x="0" y="3693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277488">
            <a:off x="8520645" y="-136024"/>
            <a:ext cx="2177511" cy="819536"/>
          </a:xfrm>
          <a:custGeom>
            <a:avLst/>
            <a:gdLst/>
            <a:ahLst/>
            <a:cxnLst/>
            <a:rect r="r" b="b" t="t" l="l"/>
            <a:pathLst>
              <a:path h="819536" w="2177511">
                <a:moveTo>
                  <a:pt x="0" y="0"/>
                </a:moveTo>
                <a:lnTo>
                  <a:pt x="2177510" y="0"/>
                </a:lnTo>
                <a:lnTo>
                  <a:pt x="2177510" y="819536"/>
                </a:lnTo>
                <a:lnTo>
                  <a:pt x="0" y="81953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2355" y="2031959"/>
            <a:ext cx="13706433" cy="204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What probl</a:t>
            </a:r>
            <a:r>
              <a:rPr lang="en-US" sz="69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em does this solve?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292355" y="3386018"/>
            <a:ext cx="11053737" cy="4147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090" indent="-334545" lvl="1">
              <a:lnSpc>
                <a:spcPts val="5485"/>
              </a:lnSpc>
              <a:buFont typeface="Arial"/>
              <a:buChar char="•"/>
            </a:pP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Acad</a:t>
            </a: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emic plagiarism is hard to catch manually at scale</a:t>
            </a:r>
          </a:p>
          <a:p>
            <a:pPr algn="l" marL="669090" indent="-334545" lvl="1">
              <a:lnSpc>
                <a:spcPts val="5485"/>
              </a:lnSpc>
              <a:buFont typeface="Arial"/>
              <a:buChar char="•"/>
            </a:pP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Existing tools (Turnitin) are expensive and opaque black boxes</a:t>
            </a:r>
          </a:p>
          <a:p>
            <a:pPr algn="l" marL="669090" indent="-334545" lvl="1">
              <a:lnSpc>
                <a:spcPts val="5485"/>
              </a:lnSpc>
              <a:buFont typeface="Arial"/>
              <a:buChar char="•"/>
            </a:pP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Our system is open, explainable, and built from scratch</a:t>
            </a:r>
          </a:p>
          <a:p>
            <a:pPr algn="l">
              <a:lnSpc>
                <a:spcPts val="5485"/>
              </a:lnSpc>
            </a:pPr>
          </a:p>
          <a:p>
            <a:pPr algn="l">
              <a:lnSpc>
                <a:spcPts val="5485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true" flipV="false" rot="3176049">
            <a:off x="16768834" y="-3103847"/>
            <a:ext cx="3928367" cy="6392313"/>
          </a:xfrm>
          <a:custGeom>
            <a:avLst/>
            <a:gdLst/>
            <a:ahLst/>
            <a:cxnLst/>
            <a:rect r="r" b="b" t="t" l="l"/>
            <a:pathLst>
              <a:path h="6392313" w="3928367">
                <a:moveTo>
                  <a:pt x="3928366" y="0"/>
                </a:moveTo>
                <a:lnTo>
                  <a:pt x="0" y="0"/>
                </a:lnTo>
                <a:lnTo>
                  <a:pt x="0" y="6392312"/>
                </a:lnTo>
                <a:lnTo>
                  <a:pt x="3928366" y="6392312"/>
                </a:lnTo>
                <a:lnTo>
                  <a:pt x="392836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5206744">
            <a:off x="15043107" y="-2579758"/>
            <a:ext cx="5883877" cy="9574356"/>
          </a:xfrm>
          <a:custGeom>
            <a:avLst/>
            <a:gdLst/>
            <a:ahLst/>
            <a:cxnLst/>
            <a:rect r="r" b="b" t="t" l="l"/>
            <a:pathLst>
              <a:path h="9574356" w="5883877">
                <a:moveTo>
                  <a:pt x="5883877" y="0"/>
                </a:moveTo>
                <a:lnTo>
                  <a:pt x="0" y="0"/>
                </a:lnTo>
                <a:lnTo>
                  <a:pt x="0" y="9574356"/>
                </a:lnTo>
                <a:lnTo>
                  <a:pt x="5883877" y="9574356"/>
                </a:lnTo>
                <a:lnTo>
                  <a:pt x="588387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67954" y="6281793"/>
            <a:ext cx="6333309" cy="6333309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105957" y="9322007"/>
            <a:ext cx="5956983" cy="1213248"/>
            <a:chOff x="0" y="0"/>
            <a:chExt cx="1593883" cy="32462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93883" cy="324623"/>
            </a:xfrm>
            <a:custGeom>
              <a:avLst/>
              <a:gdLst/>
              <a:ahLst/>
              <a:cxnLst/>
              <a:rect r="r" b="b" t="t" l="l"/>
              <a:pathLst>
                <a:path h="324623" w="1593883">
                  <a:moveTo>
                    <a:pt x="129964" y="0"/>
                  </a:moveTo>
                  <a:lnTo>
                    <a:pt x="1463919" y="0"/>
                  </a:lnTo>
                  <a:cubicBezTo>
                    <a:pt x="1535696" y="0"/>
                    <a:pt x="1593883" y="58187"/>
                    <a:pt x="1593883" y="129964"/>
                  </a:cubicBezTo>
                  <a:lnTo>
                    <a:pt x="1593883" y="194659"/>
                  </a:lnTo>
                  <a:cubicBezTo>
                    <a:pt x="1593883" y="229128"/>
                    <a:pt x="1580190" y="262185"/>
                    <a:pt x="1555817" y="286558"/>
                  </a:cubicBezTo>
                  <a:cubicBezTo>
                    <a:pt x="1531444" y="310931"/>
                    <a:pt x="1498388" y="324623"/>
                    <a:pt x="1463919" y="324623"/>
                  </a:cubicBezTo>
                  <a:lnTo>
                    <a:pt x="129964" y="324623"/>
                  </a:lnTo>
                  <a:cubicBezTo>
                    <a:pt x="95495" y="324623"/>
                    <a:pt x="62438" y="310931"/>
                    <a:pt x="38066" y="286558"/>
                  </a:cubicBezTo>
                  <a:cubicBezTo>
                    <a:pt x="13693" y="262185"/>
                    <a:pt x="0" y="229128"/>
                    <a:pt x="0" y="194659"/>
                  </a:cubicBezTo>
                  <a:lnTo>
                    <a:pt x="0" y="129964"/>
                  </a:lnTo>
                  <a:cubicBezTo>
                    <a:pt x="0" y="95495"/>
                    <a:pt x="13693" y="62438"/>
                    <a:pt x="38066" y="38066"/>
                  </a:cubicBezTo>
                  <a:cubicBezTo>
                    <a:pt x="62438" y="13693"/>
                    <a:pt x="95495" y="0"/>
                    <a:pt x="129964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93883" cy="35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855421" y="-925264"/>
            <a:ext cx="6184712" cy="1850529"/>
            <a:chOff x="0" y="0"/>
            <a:chExt cx="1518203" cy="4542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8203" cy="454262"/>
            </a:xfrm>
            <a:custGeom>
              <a:avLst/>
              <a:gdLst/>
              <a:ahLst/>
              <a:cxnLst/>
              <a:rect r="r" b="b" t="t" l="l"/>
              <a:pathLst>
                <a:path h="454262" w="1518203">
                  <a:moveTo>
                    <a:pt x="63841" y="0"/>
                  </a:moveTo>
                  <a:lnTo>
                    <a:pt x="1454362" y="0"/>
                  </a:lnTo>
                  <a:cubicBezTo>
                    <a:pt x="1471293" y="0"/>
                    <a:pt x="1487532" y="6726"/>
                    <a:pt x="1499504" y="18699"/>
                  </a:cubicBezTo>
                  <a:cubicBezTo>
                    <a:pt x="1511477" y="30671"/>
                    <a:pt x="1518203" y="46909"/>
                    <a:pt x="1518203" y="63841"/>
                  </a:cubicBezTo>
                  <a:lnTo>
                    <a:pt x="1518203" y="390421"/>
                  </a:lnTo>
                  <a:cubicBezTo>
                    <a:pt x="1518203" y="407352"/>
                    <a:pt x="1511477" y="423591"/>
                    <a:pt x="1499504" y="435563"/>
                  </a:cubicBezTo>
                  <a:cubicBezTo>
                    <a:pt x="1487532" y="447536"/>
                    <a:pt x="1471293" y="454262"/>
                    <a:pt x="1454362" y="454262"/>
                  </a:cubicBezTo>
                  <a:lnTo>
                    <a:pt x="63841" y="454262"/>
                  </a:lnTo>
                  <a:cubicBezTo>
                    <a:pt x="46909" y="454262"/>
                    <a:pt x="30671" y="447536"/>
                    <a:pt x="18699" y="435563"/>
                  </a:cubicBezTo>
                  <a:cubicBezTo>
                    <a:pt x="6726" y="423591"/>
                    <a:pt x="0" y="407352"/>
                    <a:pt x="0" y="390421"/>
                  </a:cubicBezTo>
                  <a:lnTo>
                    <a:pt x="0" y="63841"/>
                  </a:lnTo>
                  <a:cubicBezTo>
                    <a:pt x="0" y="46909"/>
                    <a:pt x="6726" y="30671"/>
                    <a:pt x="18699" y="18699"/>
                  </a:cubicBezTo>
                  <a:cubicBezTo>
                    <a:pt x="30671" y="6726"/>
                    <a:pt x="46909" y="0"/>
                    <a:pt x="63841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518203" cy="482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0759747" y="2161484"/>
            <a:ext cx="6793267" cy="6976397"/>
          </a:xfrm>
          <a:custGeom>
            <a:avLst/>
            <a:gdLst/>
            <a:ahLst/>
            <a:cxnLst/>
            <a:rect r="r" b="b" t="t" l="l"/>
            <a:pathLst>
              <a:path h="6976397" w="6793267">
                <a:moveTo>
                  <a:pt x="0" y="0"/>
                </a:moveTo>
                <a:lnTo>
                  <a:pt x="6793266" y="0"/>
                </a:lnTo>
                <a:lnTo>
                  <a:pt x="6793266" y="6976397"/>
                </a:lnTo>
                <a:lnTo>
                  <a:pt x="0" y="69763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117260">
            <a:off x="-1419567" y="-3456093"/>
            <a:ext cx="4529298" cy="7370160"/>
          </a:xfrm>
          <a:custGeom>
            <a:avLst/>
            <a:gdLst/>
            <a:ahLst/>
            <a:cxnLst/>
            <a:rect r="r" b="b" t="t" l="l"/>
            <a:pathLst>
              <a:path h="7370160" w="4529298">
                <a:moveTo>
                  <a:pt x="0" y="0"/>
                </a:moveTo>
                <a:lnTo>
                  <a:pt x="4529298" y="0"/>
                </a:lnTo>
                <a:lnTo>
                  <a:pt x="4529298" y="7370159"/>
                </a:lnTo>
                <a:lnTo>
                  <a:pt x="0" y="737015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588678" y="1609548"/>
            <a:ext cx="7838029" cy="106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System overview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8178" y="3340378"/>
            <a:ext cx="8980615" cy="4261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9289" indent="-334645" lvl="1">
              <a:lnSpc>
                <a:spcPts val="5641"/>
              </a:lnSpc>
              <a:buFont typeface="Arial"/>
              <a:buChar char="•"/>
            </a:pP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Paste text or upload .txt / .pdf / .docx files</a:t>
            </a:r>
          </a:p>
          <a:p>
            <a:pPr algn="l" marL="669289" indent="-334645" lvl="1">
              <a:lnSpc>
                <a:spcPts val="5641"/>
              </a:lnSpc>
              <a:buFont typeface="Arial"/>
              <a:buChar char="•"/>
            </a:pP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Compare against a corpus OR directly file-to-file</a:t>
            </a:r>
          </a:p>
          <a:p>
            <a:pPr algn="l" marL="669289" indent="-334645" lvl="1">
              <a:lnSpc>
                <a:spcPts val="5641"/>
              </a:lnSpc>
              <a:buFont typeface="Arial"/>
              <a:buChar char="•"/>
            </a:pPr>
            <a:r>
              <a:rPr lang="en-US" sz="3099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Get an ensemble score + risk level + flagged sentences</a:t>
            </a:r>
          </a:p>
          <a:p>
            <a:pPr algn="l">
              <a:lnSpc>
                <a:spcPts val="5641"/>
              </a:lnSpc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-8912616">
            <a:off x="9480538" y="1536646"/>
            <a:ext cx="2177511" cy="819536"/>
          </a:xfrm>
          <a:custGeom>
            <a:avLst/>
            <a:gdLst/>
            <a:ahLst/>
            <a:cxnLst/>
            <a:rect r="r" b="b" t="t" l="l"/>
            <a:pathLst>
              <a:path h="819536" w="2177511">
                <a:moveTo>
                  <a:pt x="0" y="0"/>
                </a:moveTo>
                <a:lnTo>
                  <a:pt x="2177510" y="0"/>
                </a:lnTo>
                <a:lnTo>
                  <a:pt x="2177510" y="819536"/>
                </a:lnTo>
                <a:lnTo>
                  <a:pt x="0" y="819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808042" y="8508924"/>
            <a:ext cx="1237330" cy="1257914"/>
          </a:xfrm>
          <a:custGeom>
            <a:avLst/>
            <a:gdLst/>
            <a:ahLst/>
            <a:cxnLst/>
            <a:rect r="r" b="b" t="t" l="l"/>
            <a:pathLst>
              <a:path h="1257914" w="1237330">
                <a:moveTo>
                  <a:pt x="0" y="0"/>
                </a:moveTo>
                <a:lnTo>
                  <a:pt x="1237330" y="0"/>
                </a:lnTo>
                <a:lnTo>
                  <a:pt x="1237330" y="1257914"/>
                </a:lnTo>
                <a:lnTo>
                  <a:pt x="0" y="125791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791672" y="9073752"/>
            <a:ext cx="5956983" cy="1213248"/>
            <a:chOff x="0" y="0"/>
            <a:chExt cx="1593883" cy="32462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93883" cy="324623"/>
            </a:xfrm>
            <a:custGeom>
              <a:avLst/>
              <a:gdLst/>
              <a:ahLst/>
              <a:cxnLst/>
              <a:rect r="r" b="b" t="t" l="l"/>
              <a:pathLst>
                <a:path h="324623" w="1593883">
                  <a:moveTo>
                    <a:pt x="129964" y="0"/>
                  </a:moveTo>
                  <a:lnTo>
                    <a:pt x="1463919" y="0"/>
                  </a:lnTo>
                  <a:cubicBezTo>
                    <a:pt x="1535696" y="0"/>
                    <a:pt x="1593883" y="58187"/>
                    <a:pt x="1593883" y="129964"/>
                  </a:cubicBezTo>
                  <a:lnTo>
                    <a:pt x="1593883" y="194659"/>
                  </a:lnTo>
                  <a:cubicBezTo>
                    <a:pt x="1593883" y="229128"/>
                    <a:pt x="1580190" y="262185"/>
                    <a:pt x="1555817" y="286558"/>
                  </a:cubicBezTo>
                  <a:cubicBezTo>
                    <a:pt x="1531444" y="310931"/>
                    <a:pt x="1498388" y="324623"/>
                    <a:pt x="1463919" y="324623"/>
                  </a:cubicBezTo>
                  <a:lnTo>
                    <a:pt x="129964" y="324623"/>
                  </a:lnTo>
                  <a:cubicBezTo>
                    <a:pt x="95495" y="324623"/>
                    <a:pt x="62438" y="310931"/>
                    <a:pt x="38066" y="286558"/>
                  </a:cubicBezTo>
                  <a:cubicBezTo>
                    <a:pt x="13693" y="262185"/>
                    <a:pt x="0" y="229128"/>
                    <a:pt x="0" y="194659"/>
                  </a:cubicBezTo>
                  <a:lnTo>
                    <a:pt x="0" y="129964"/>
                  </a:lnTo>
                  <a:cubicBezTo>
                    <a:pt x="0" y="95495"/>
                    <a:pt x="13693" y="62438"/>
                    <a:pt x="38066" y="38066"/>
                  </a:cubicBezTo>
                  <a:cubicBezTo>
                    <a:pt x="62438" y="13693"/>
                    <a:pt x="95495" y="0"/>
                    <a:pt x="129964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593883" cy="353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116722" y="-3177989"/>
            <a:ext cx="7717501" cy="4564050"/>
            <a:chOff x="0" y="0"/>
            <a:chExt cx="1894467" cy="112036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894467" cy="1120368"/>
            </a:xfrm>
            <a:custGeom>
              <a:avLst/>
              <a:gdLst/>
              <a:ahLst/>
              <a:cxnLst/>
              <a:rect r="r" b="b" t="t" l="l"/>
              <a:pathLst>
                <a:path h="1120368" w="1894467">
                  <a:moveTo>
                    <a:pt x="51161" y="0"/>
                  </a:moveTo>
                  <a:lnTo>
                    <a:pt x="1843305" y="0"/>
                  </a:lnTo>
                  <a:cubicBezTo>
                    <a:pt x="1871561" y="0"/>
                    <a:pt x="1894467" y="22906"/>
                    <a:pt x="1894467" y="51161"/>
                  </a:cubicBezTo>
                  <a:lnTo>
                    <a:pt x="1894467" y="1069206"/>
                  </a:lnTo>
                  <a:cubicBezTo>
                    <a:pt x="1894467" y="1097462"/>
                    <a:pt x="1871561" y="1120368"/>
                    <a:pt x="1843305" y="1120368"/>
                  </a:cubicBezTo>
                  <a:lnTo>
                    <a:pt x="51161" y="1120368"/>
                  </a:lnTo>
                  <a:cubicBezTo>
                    <a:pt x="22906" y="1120368"/>
                    <a:pt x="0" y="1097462"/>
                    <a:pt x="0" y="1069206"/>
                  </a:cubicBezTo>
                  <a:lnTo>
                    <a:pt x="0" y="51161"/>
                  </a:lnTo>
                  <a:cubicBezTo>
                    <a:pt x="0" y="22906"/>
                    <a:pt x="22906" y="0"/>
                    <a:pt x="51161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894467" cy="1148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074630" y="601954"/>
            <a:ext cx="1052299" cy="105229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4E8F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9479034">
            <a:off x="463303" y="2834747"/>
            <a:ext cx="5883877" cy="9574356"/>
          </a:xfrm>
          <a:custGeom>
            <a:avLst/>
            <a:gdLst/>
            <a:ahLst/>
            <a:cxnLst/>
            <a:rect r="r" b="b" t="t" l="l"/>
            <a:pathLst>
              <a:path h="9574356" w="5883877">
                <a:moveTo>
                  <a:pt x="0" y="0"/>
                </a:moveTo>
                <a:lnTo>
                  <a:pt x="5883877" y="0"/>
                </a:lnTo>
                <a:lnTo>
                  <a:pt x="5883877" y="9574356"/>
                </a:lnTo>
                <a:lnTo>
                  <a:pt x="0" y="957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0" y="2358406"/>
            <a:ext cx="7399463" cy="7628312"/>
          </a:xfrm>
          <a:custGeom>
            <a:avLst/>
            <a:gdLst/>
            <a:ahLst/>
            <a:cxnLst/>
            <a:rect r="r" b="b" t="t" l="l"/>
            <a:pathLst>
              <a:path h="7628312" w="7399463">
                <a:moveTo>
                  <a:pt x="7399463" y="0"/>
                </a:moveTo>
                <a:lnTo>
                  <a:pt x="0" y="0"/>
                </a:lnTo>
                <a:lnTo>
                  <a:pt x="0" y="7628312"/>
                </a:lnTo>
                <a:lnTo>
                  <a:pt x="7399463" y="7628312"/>
                </a:lnTo>
                <a:lnTo>
                  <a:pt x="7399463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936011" y="7217259"/>
            <a:ext cx="1463452" cy="1487798"/>
          </a:xfrm>
          <a:custGeom>
            <a:avLst/>
            <a:gdLst/>
            <a:ahLst/>
            <a:cxnLst/>
            <a:rect r="r" b="b" t="t" l="l"/>
            <a:pathLst>
              <a:path h="1487798" w="1463452">
                <a:moveTo>
                  <a:pt x="0" y="0"/>
                </a:moveTo>
                <a:lnTo>
                  <a:pt x="1463452" y="0"/>
                </a:lnTo>
                <a:lnTo>
                  <a:pt x="1463452" y="1487797"/>
                </a:lnTo>
                <a:lnTo>
                  <a:pt x="0" y="1487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954205">
            <a:off x="12750496" y="8781971"/>
            <a:ext cx="2177511" cy="819536"/>
          </a:xfrm>
          <a:custGeom>
            <a:avLst/>
            <a:gdLst/>
            <a:ahLst/>
            <a:cxnLst/>
            <a:rect r="r" b="b" t="t" l="l"/>
            <a:pathLst>
              <a:path h="819536" w="2177511">
                <a:moveTo>
                  <a:pt x="0" y="0"/>
                </a:moveTo>
                <a:lnTo>
                  <a:pt x="2177510" y="0"/>
                </a:lnTo>
                <a:lnTo>
                  <a:pt x="2177510" y="819536"/>
                </a:lnTo>
                <a:lnTo>
                  <a:pt x="0" y="8195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15714" y="-1436816"/>
            <a:ext cx="3747982" cy="3693761"/>
          </a:xfrm>
          <a:custGeom>
            <a:avLst/>
            <a:gdLst/>
            <a:ahLst/>
            <a:cxnLst/>
            <a:rect r="r" b="b" t="t" l="l"/>
            <a:pathLst>
              <a:path h="3693761" w="3747982">
                <a:moveTo>
                  <a:pt x="0" y="0"/>
                </a:moveTo>
                <a:lnTo>
                  <a:pt x="3747981" y="0"/>
                </a:lnTo>
                <a:lnTo>
                  <a:pt x="3747981" y="3693762"/>
                </a:lnTo>
                <a:lnTo>
                  <a:pt x="0" y="36937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5725463" y="7830566"/>
            <a:ext cx="2802931" cy="2722347"/>
          </a:xfrm>
          <a:custGeom>
            <a:avLst/>
            <a:gdLst/>
            <a:ahLst/>
            <a:cxnLst/>
            <a:rect r="r" b="b" t="t" l="l"/>
            <a:pathLst>
              <a:path h="2722347" w="2802931">
                <a:moveTo>
                  <a:pt x="2802931" y="0"/>
                </a:moveTo>
                <a:lnTo>
                  <a:pt x="0" y="0"/>
                </a:lnTo>
                <a:lnTo>
                  <a:pt x="0" y="2722347"/>
                </a:lnTo>
                <a:lnTo>
                  <a:pt x="2802931" y="2722347"/>
                </a:lnTo>
                <a:lnTo>
                  <a:pt x="2802931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498192" y="1709671"/>
            <a:ext cx="9483352" cy="301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The ML engine: two algorithms, one score</a:t>
            </a: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5423930"/>
            <a:ext cx="7626164" cy="127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369" indent="-318685" lvl="1">
              <a:lnSpc>
                <a:spcPts val="3247"/>
              </a:lnSpc>
              <a:buFont typeface="Arial"/>
              <a:buChar char="•"/>
            </a:pPr>
            <a:r>
              <a:rPr lang="en-US" sz="2952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MinHash Jaccard similarity — measures word-sequence overlap (40% weight)</a:t>
            </a:r>
          </a:p>
          <a:p>
            <a:pPr algn="l">
              <a:lnSpc>
                <a:spcPts val="3247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0" y="6574625"/>
            <a:ext cx="7626164" cy="127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369" indent="-318685" lvl="1">
              <a:lnSpc>
                <a:spcPts val="3247"/>
              </a:lnSpc>
              <a:buFont typeface="Arial"/>
              <a:buChar char="•"/>
            </a:pPr>
            <a:r>
              <a:rPr lang="en-US" sz="2952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Combined into a single 0–1 ensemble score</a:t>
            </a:r>
          </a:p>
          <a:p>
            <a:pPr algn="l">
              <a:lnSpc>
                <a:spcPts val="3247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0" y="4295933"/>
            <a:ext cx="7626164" cy="1275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7369" indent="-318685" lvl="1">
              <a:lnSpc>
                <a:spcPts val="3247"/>
              </a:lnSpc>
              <a:buFont typeface="Arial"/>
              <a:buChar char="•"/>
            </a:pPr>
            <a:r>
              <a:rPr lang="en-US" sz="2952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TF-IDF cosine similarity — measures vocabulary overlap (60% weight)</a:t>
            </a:r>
          </a:p>
          <a:p>
            <a:pPr algn="l">
              <a:lnSpc>
                <a:spcPts val="324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546559">
            <a:off x="13815720" y="5222177"/>
            <a:ext cx="4529298" cy="7370160"/>
          </a:xfrm>
          <a:custGeom>
            <a:avLst/>
            <a:gdLst/>
            <a:ahLst/>
            <a:cxnLst/>
            <a:rect r="r" b="b" t="t" l="l"/>
            <a:pathLst>
              <a:path h="7370160" w="4529298">
                <a:moveTo>
                  <a:pt x="0" y="0"/>
                </a:moveTo>
                <a:lnTo>
                  <a:pt x="4529298" y="0"/>
                </a:lnTo>
                <a:lnTo>
                  <a:pt x="4529298" y="7370159"/>
                </a:lnTo>
                <a:lnTo>
                  <a:pt x="0" y="7370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779319">
            <a:off x="11779107" y="-3201661"/>
            <a:ext cx="5883877" cy="9574356"/>
          </a:xfrm>
          <a:custGeom>
            <a:avLst/>
            <a:gdLst/>
            <a:ahLst/>
            <a:cxnLst/>
            <a:rect r="r" b="b" t="t" l="l"/>
            <a:pathLst>
              <a:path h="9574356" w="5883877">
                <a:moveTo>
                  <a:pt x="0" y="0"/>
                </a:moveTo>
                <a:lnTo>
                  <a:pt x="5883877" y="0"/>
                </a:lnTo>
                <a:lnTo>
                  <a:pt x="5883877" y="9574356"/>
                </a:lnTo>
                <a:lnTo>
                  <a:pt x="0" y="95743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9571828" y="1088023"/>
            <a:ext cx="7292404" cy="4521291"/>
          </a:xfrm>
          <a:custGeom>
            <a:avLst/>
            <a:gdLst/>
            <a:ahLst/>
            <a:cxnLst/>
            <a:rect r="r" b="b" t="t" l="l"/>
            <a:pathLst>
              <a:path h="4521291" w="7292404">
                <a:moveTo>
                  <a:pt x="7292405" y="0"/>
                </a:moveTo>
                <a:lnTo>
                  <a:pt x="0" y="0"/>
                </a:lnTo>
                <a:lnTo>
                  <a:pt x="0" y="4521291"/>
                </a:lnTo>
                <a:lnTo>
                  <a:pt x="7292405" y="4521291"/>
                </a:lnTo>
                <a:lnTo>
                  <a:pt x="729240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117260">
            <a:off x="-1419567" y="-3456093"/>
            <a:ext cx="4529298" cy="7370160"/>
          </a:xfrm>
          <a:custGeom>
            <a:avLst/>
            <a:gdLst/>
            <a:ahLst/>
            <a:cxnLst/>
            <a:rect r="r" b="b" t="t" l="l"/>
            <a:pathLst>
              <a:path h="7370160" w="4529298">
                <a:moveTo>
                  <a:pt x="0" y="0"/>
                </a:moveTo>
                <a:lnTo>
                  <a:pt x="4529298" y="0"/>
                </a:lnTo>
                <a:lnTo>
                  <a:pt x="4529298" y="7370159"/>
                </a:lnTo>
                <a:lnTo>
                  <a:pt x="0" y="73701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13148" y="1575992"/>
            <a:ext cx="8013086" cy="301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H</a:t>
            </a:r>
            <a:r>
              <a:rPr lang="en-US" sz="6999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ow well does it work?</a:t>
            </a:r>
          </a:p>
          <a:p>
            <a:pPr algn="l">
              <a:lnSpc>
                <a:spcPts val="769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313148" y="3772552"/>
            <a:ext cx="7395383" cy="2508770"/>
            <a:chOff x="0" y="0"/>
            <a:chExt cx="1978749" cy="6712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978749" cy="671260"/>
            </a:xfrm>
            <a:custGeom>
              <a:avLst/>
              <a:gdLst/>
              <a:ahLst/>
              <a:cxnLst/>
              <a:rect r="r" b="b" t="t" l="l"/>
              <a:pathLst>
                <a:path h="671260" w="1978749">
                  <a:moveTo>
                    <a:pt x="34546" y="0"/>
                  </a:moveTo>
                  <a:lnTo>
                    <a:pt x="1944202" y="0"/>
                  </a:lnTo>
                  <a:cubicBezTo>
                    <a:pt x="1953365" y="0"/>
                    <a:pt x="1962152" y="3640"/>
                    <a:pt x="1968630" y="10118"/>
                  </a:cubicBezTo>
                  <a:cubicBezTo>
                    <a:pt x="1975109" y="16597"/>
                    <a:pt x="1978749" y="25384"/>
                    <a:pt x="1978749" y="34546"/>
                  </a:cubicBezTo>
                  <a:lnTo>
                    <a:pt x="1978749" y="636714"/>
                  </a:lnTo>
                  <a:cubicBezTo>
                    <a:pt x="1978749" y="645876"/>
                    <a:pt x="1975109" y="654663"/>
                    <a:pt x="1968630" y="661142"/>
                  </a:cubicBezTo>
                  <a:cubicBezTo>
                    <a:pt x="1962152" y="667621"/>
                    <a:pt x="1953365" y="671260"/>
                    <a:pt x="1944202" y="671260"/>
                  </a:cubicBezTo>
                  <a:lnTo>
                    <a:pt x="34546" y="671260"/>
                  </a:lnTo>
                  <a:cubicBezTo>
                    <a:pt x="25384" y="671260"/>
                    <a:pt x="16597" y="667621"/>
                    <a:pt x="10118" y="661142"/>
                  </a:cubicBezTo>
                  <a:cubicBezTo>
                    <a:pt x="3640" y="654663"/>
                    <a:pt x="0" y="645876"/>
                    <a:pt x="0" y="636714"/>
                  </a:cubicBezTo>
                  <a:lnTo>
                    <a:pt x="0" y="34546"/>
                  </a:lnTo>
                  <a:cubicBezTo>
                    <a:pt x="0" y="25384"/>
                    <a:pt x="3640" y="16597"/>
                    <a:pt x="10118" y="10118"/>
                  </a:cubicBezTo>
                  <a:cubicBezTo>
                    <a:pt x="16597" y="3640"/>
                    <a:pt x="25384" y="0"/>
                    <a:pt x="34546" y="0"/>
                  </a:cubicBezTo>
                  <a:close/>
                </a:path>
              </a:pathLst>
            </a:custGeom>
            <a:solidFill>
              <a:srgbClr val="4589D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978749" cy="6998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24730" y="4795292"/>
            <a:ext cx="6537459" cy="107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554" indent="-269777" lvl="1">
              <a:lnSpc>
                <a:spcPts val="2748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Low </a:t>
            </a:r>
          </a:p>
          <a:p>
            <a:pPr algn="l" marL="539554" indent="-269777" lvl="1">
              <a:lnSpc>
                <a:spcPts val="2748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Moderate / High</a:t>
            </a:r>
          </a:p>
          <a:p>
            <a:pPr algn="l" marL="539554" indent="-269777" lvl="1">
              <a:lnSpc>
                <a:spcPts val="2748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Critical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5582" y="7498749"/>
            <a:ext cx="6537459" cy="107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4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Sentence-level highlighting shows exactly what matched</a:t>
            </a:r>
          </a:p>
          <a:p>
            <a:pPr algn="l">
              <a:lnSpc>
                <a:spcPts val="274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91805" y="4191207"/>
            <a:ext cx="3974084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Four risk levels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522657" y="6894663"/>
            <a:ext cx="3974084" cy="43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</a:t>
            </a:r>
            <a:r>
              <a:rPr lang="en-US" sz="27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isks and Issues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574277" y="458757"/>
            <a:ext cx="1463452" cy="1487798"/>
          </a:xfrm>
          <a:custGeom>
            <a:avLst/>
            <a:gdLst/>
            <a:ahLst/>
            <a:cxnLst/>
            <a:rect r="r" b="b" t="t" l="l"/>
            <a:pathLst>
              <a:path h="1487798" w="1463452">
                <a:moveTo>
                  <a:pt x="0" y="0"/>
                </a:moveTo>
                <a:lnTo>
                  <a:pt x="1463452" y="0"/>
                </a:lnTo>
                <a:lnTo>
                  <a:pt x="1463452" y="1487797"/>
                </a:lnTo>
                <a:lnTo>
                  <a:pt x="0" y="14877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7242075">
            <a:off x="-669127" y="9002677"/>
            <a:ext cx="2610283" cy="982416"/>
          </a:xfrm>
          <a:custGeom>
            <a:avLst/>
            <a:gdLst/>
            <a:ahLst/>
            <a:cxnLst/>
            <a:rect r="r" b="b" t="t" l="l"/>
            <a:pathLst>
              <a:path h="982416" w="2610283">
                <a:moveTo>
                  <a:pt x="0" y="0"/>
                </a:moveTo>
                <a:lnTo>
                  <a:pt x="2610283" y="0"/>
                </a:lnTo>
                <a:lnTo>
                  <a:pt x="2610283" y="982416"/>
                </a:lnTo>
                <a:lnTo>
                  <a:pt x="0" y="98241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5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3980148" y="6652797"/>
            <a:ext cx="7395383" cy="3138886"/>
            <a:chOff x="0" y="0"/>
            <a:chExt cx="1978749" cy="83985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78749" cy="839857"/>
            </a:xfrm>
            <a:custGeom>
              <a:avLst/>
              <a:gdLst/>
              <a:ahLst/>
              <a:cxnLst/>
              <a:rect r="r" b="b" t="t" l="l"/>
              <a:pathLst>
                <a:path h="839857" w="1978749">
                  <a:moveTo>
                    <a:pt x="34546" y="0"/>
                  </a:moveTo>
                  <a:lnTo>
                    <a:pt x="1944202" y="0"/>
                  </a:lnTo>
                  <a:cubicBezTo>
                    <a:pt x="1953365" y="0"/>
                    <a:pt x="1962152" y="3640"/>
                    <a:pt x="1968630" y="10118"/>
                  </a:cubicBezTo>
                  <a:cubicBezTo>
                    <a:pt x="1975109" y="16597"/>
                    <a:pt x="1978749" y="25384"/>
                    <a:pt x="1978749" y="34546"/>
                  </a:cubicBezTo>
                  <a:lnTo>
                    <a:pt x="1978749" y="805311"/>
                  </a:lnTo>
                  <a:cubicBezTo>
                    <a:pt x="1978749" y="824390"/>
                    <a:pt x="1963282" y="839857"/>
                    <a:pt x="1944202" y="839857"/>
                  </a:cubicBezTo>
                  <a:lnTo>
                    <a:pt x="34546" y="839857"/>
                  </a:lnTo>
                  <a:cubicBezTo>
                    <a:pt x="25384" y="839857"/>
                    <a:pt x="16597" y="836218"/>
                    <a:pt x="10118" y="829739"/>
                  </a:cubicBezTo>
                  <a:cubicBezTo>
                    <a:pt x="3640" y="823260"/>
                    <a:pt x="0" y="814473"/>
                    <a:pt x="0" y="805311"/>
                  </a:cubicBezTo>
                  <a:lnTo>
                    <a:pt x="0" y="34546"/>
                  </a:lnTo>
                  <a:cubicBezTo>
                    <a:pt x="0" y="25384"/>
                    <a:pt x="3640" y="16597"/>
                    <a:pt x="10118" y="10118"/>
                  </a:cubicBezTo>
                  <a:cubicBezTo>
                    <a:pt x="16597" y="3640"/>
                    <a:pt x="25384" y="0"/>
                    <a:pt x="34546" y="0"/>
                  </a:cubicBezTo>
                  <a:close/>
                </a:path>
              </a:pathLst>
            </a:custGeom>
            <a:solidFill>
              <a:srgbClr val="4589D4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978749" cy="8684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68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4391730" y="7675537"/>
            <a:ext cx="6537459" cy="107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8"/>
              </a:lnSpc>
            </a:pPr>
            <a:r>
              <a:rPr lang="en-US" sz="2499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Sentence-level highlighting shows exactly what matched</a:t>
            </a:r>
          </a:p>
          <a:p>
            <a:pPr algn="l">
              <a:lnSpc>
                <a:spcPts val="2748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4358805" y="7071452"/>
            <a:ext cx="3974084" cy="43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799" b="true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Matching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10994038" y="3006185"/>
            <a:ext cx="6333340" cy="10305731"/>
          </a:xfrm>
          <a:custGeom>
            <a:avLst/>
            <a:gdLst/>
            <a:ahLst/>
            <a:cxnLst/>
            <a:rect r="r" b="b" t="t" l="l"/>
            <a:pathLst>
              <a:path h="10305731" w="6333340">
                <a:moveTo>
                  <a:pt x="0" y="0"/>
                </a:moveTo>
                <a:lnTo>
                  <a:pt x="6333340" y="0"/>
                </a:lnTo>
                <a:lnTo>
                  <a:pt x="6333340" y="10305732"/>
                </a:lnTo>
                <a:lnTo>
                  <a:pt x="0" y="10305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51454" y="4754192"/>
            <a:ext cx="7912770" cy="6296182"/>
          </a:xfrm>
          <a:custGeom>
            <a:avLst/>
            <a:gdLst/>
            <a:ahLst/>
            <a:cxnLst/>
            <a:rect r="r" b="b" t="t" l="l"/>
            <a:pathLst>
              <a:path h="6296182" w="7912770">
                <a:moveTo>
                  <a:pt x="0" y="0"/>
                </a:moveTo>
                <a:lnTo>
                  <a:pt x="7912770" y="0"/>
                </a:lnTo>
                <a:lnTo>
                  <a:pt x="7912770" y="6296182"/>
                </a:lnTo>
                <a:lnTo>
                  <a:pt x="0" y="62961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101001" y="1243875"/>
            <a:ext cx="2865401" cy="286540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2F3F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160708" y="1243875"/>
            <a:ext cx="2865401" cy="2865401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8592407" y="1256991"/>
            <a:ext cx="9423806" cy="7773019"/>
            <a:chOff x="0" y="0"/>
            <a:chExt cx="2543153" cy="209766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43153" cy="2097664"/>
            </a:xfrm>
            <a:custGeom>
              <a:avLst/>
              <a:gdLst/>
              <a:ahLst/>
              <a:cxnLst/>
              <a:rect r="r" b="b" t="t" l="l"/>
              <a:pathLst>
                <a:path h="2097664" w="2543153">
                  <a:moveTo>
                    <a:pt x="82153" y="0"/>
                  </a:moveTo>
                  <a:lnTo>
                    <a:pt x="2461000" y="0"/>
                  </a:lnTo>
                  <a:cubicBezTo>
                    <a:pt x="2482788" y="0"/>
                    <a:pt x="2503684" y="8655"/>
                    <a:pt x="2519091" y="24062"/>
                  </a:cubicBezTo>
                  <a:cubicBezTo>
                    <a:pt x="2534498" y="39469"/>
                    <a:pt x="2543153" y="60365"/>
                    <a:pt x="2543153" y="82153"/>
                  </a:cubicBezTo>
                  <a:lnTo>
                    <a:pt x="2543153" y="2015511"/>
                  </a:lnTo>
                  <a:cubicBezTo>
                    <a:pt x="2543153" y="2037299"/>
                    <a:pt x="2534498" y="2058195"/>
                    <a:pt x="2519091" y="2073602"/>
                  </a:cubicBezTo>
                  <a:cubicBezTo>
                    <a:pt x="2503684" y="2089008"/>
                    <a:pt x="2482788" y="2097664"/>
                    <a:pt x="2461000" y="2097664"/>
                  </a:cubicBezTo>
                  <a:lnTo>
                    <a:pt x="82153" y="2097664"/>
                  </a:lnTo>
                  <a:cubicBezTo>
                    <a:pt x="60365" y="2097664"/>
                    <a:pt x="39469" y="2089008"/>
                    <a:pt x="24062" y="2073602"/>
                  </a:cubicBezTo>
                  <a:cubicBezTo>
                    <a:pt x="8655" y="2058195"/>
                    <a:pt x="0" y="2037299"/>
                    <a:pt x="0" y="2015511"/>
                  </a:cubicBezTo>
                  <a:lnTo>
                    <a:pt x="0" y="82153"/>
                  </a:lnTo>
                  <a:cubicBezTo>
                    <a:pt x="0" y="60365"/>
                    <a:pt x="8655" y="39469"/>
                    <a:pt x="24062" y="24062"/>
                  </a:cubicBezTo>
                  <a:cubicBezTo>
                    <a:pt x="39469" y="8655"/>
                    <a:pt x="60365" y="0"/>
                    <a:pt x="82153" y="0"/>
                  </a:cubicBezTo>
                  <a:close/>
                </a:path>
              </a:pathLst>
            </a:custGeom>
            <a:solidFill>
              <a:srgbClr val="579AE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543153" cy="21357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571127" y="1989091"/>
            <a:ext cx="2044563" cy="1374969"/>
          </a:xfrm>
          <a:custGeom>
            <a:avLst/>
            <a:gdLst/>
            <a:ahLst/>
            <a:cxnLst/>
            <a:rect r="r" b="b" t="t" l="l"/>
            <a:pathLst>
              <a:path h="1374969" w="2044563">
                <a:moveTo>
                  <a:pt x="0" y="0"/>
                </a:moveTo>
                <a:lnTo>
                  <a:pt x="2044563" y="0"/>
                </a:lnTo>
                <a:lnTo>
                  <a:pt x="2044563" y="1374969"/>
                </a:lnTo>
                <a:lnTo>
                  <a:pt x="0" y="13749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59150" y="1965555"/>
            <a:ext cx="2349104" cy="1515172"/>
          </a:xfrm>
          <a:custGeom>
            <a:avLst/>
            <a:gdLst/>
            <a:ahLst/>
            <a:cxnLst/>
            <a:rect r="r" b="b" t="t" l="l"/>
            <a:pathLst>
              <a:path h="1515172" w="2349104">
                <a:moveTo>
                  <a:pt x="0" y="0"/>
                </a:moveTo>
                <a:lnTo>
                  <a:pt x="2349103" y="0"/>
                </a:lnTo>
                <a:lnTo>
                  <a:pt x="2349103" y="1515172"/>
                </a:lnTo>
                <a:lnTo>
                  <a:pt x="0" y="15151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133964" y="6475946"/>
            <a:ext cx="1237330" cy="1257914"/>
          </a:xfrm>
          <a:custGeom>
            <a:avLst/>
            <a:gdLst/>
            <a:ahLst/>
            <a:cxnLst/>
            <a:rect r="r" b="b" t="t" l="l"/>
            <a:pathLst>
              <a:path h="1257914" w="1237330">
                <a:moveTo>
                  <a:pt x="0" y="0"/>
                </a:moveTo>
                <a:lnTo>
                  <a:pt x="1237330" y="0"/>
                </a:lnTo>
                <a:lnTo>
                  <a:pt x="1237330" y="1257914"/>
                </a:lnTo>
                <a:lnTo>
                  <a:pt x="0" y="125791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433121" y="-1728206"/>
            <a:ext cx="3747982" cy="3693761"/>
          </a:xfrm>
          <a:custGeom>
            <a:avLst/>
            <a:gdLst/>
            <a:ahLst/>
            <a:cxnLst/>
            <a:rect r="r" b="b" t="t" l="l"/>
            <a:pathLst>
              <a:path h="3693761" w="3747982">
                <a:moveTo>
                  <a:pt x="0" y="0"/>
                </a:moveTo>
                <a:lnTo>
                  <a:pt x="3747982" y="0"/>
                </a:lnTo>
                <a:lnTo>
                  <a:pt x="3747982" y="3693761"/>
                </a:lnTo>
                <a:lnTo>
                  <a:pt x="0" y="369376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399971">
            <a:off x="1573590" y="7156389"/>
            <a:ext cx="962268" cy="950021"/>
          </a:xfrm>
          <a:custGeom>
            <a:avLst/>
            <a:gdLst/>
            <a:ahLst/>
            <a:cxnLst/>
            <a:rect r="r" b="b" t="t" l="l"/>
            <a:pathLst>
              <a:path h="950021" w="962268">
                <a:moveTo>
                  <a:pt x="0" y="0"/>
                </a:moveTo>
                <a:lnTo>
                  <a:pt x="962268" y="0"/>
                </a:lnTo>
                <a:lnTo>
                  <a:pt x="962268" y="950021"/>
                </a:lnTo>
                <a:lnTo>
                  <a:pt x="0" y="95002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684306" y="8153890"/>
            <a:ext cx="6355367" cy="1104410"/>
            <a:chOff x="0" y="0"/>
            <a:chExt cx="1715089" cy="29804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5089" cy="298041"/>
            </a:xfrm>
            <a:custGeom>
              <a:avLst/>
              <a:gdLst/>
              <a:ahLst/>
              <a:cxnLst/>
              <a:rect r="r" b="b" t="t" l="l"/>
              <a:pathLst>
                <a:path h="298041" w="1715089">
                  <a:moveTo>
                    <a:pt x="121817" y="0"/>
                  </a:moveTo>
                  <a:lnTo>
                    <a:pt x="1593272" y="0"/>
                  </a:lnTo>
                  <a:cubicBezTo>
                    <a:pt x="1625580" y="0"/>
                    <a:pt x="1656565" y="12834"/>
                    <a:pt x="1679410" y="35679"/>
                  </a:cubicBezTo>
                  <a:cubicBezTo>
                    <a:pt x="1702255" y="58525"/>
                    <a:pt x="1715089" y="89509"/>
                    <a:pt x="1715089" y="121817"/>
                  </a:cubicBezTo>
                  <a:lnTo>
                    <a:pt x="1715089" y="176224"/>
                  </a:lnTo>
                  <a:cubicBezTo>
                    <a:pt x="1715089" y="208532"/>
                    <a:pt x="1702255" y="239517"/>
                    <a:pt x="1679410" y="262362"/>
                  </a:cubicBezTo>
                  <a:cubicBezTo>
                    <a:pt x="1656565" y="285207"/>
                    <a:pt x="1625580" y="298041"/>
                    <a:pt x="1593272" y="298041"/>
                  </a:cubicBezTo>
                  <a:lnTo>
                    <a:pt x="121817" y="298041"/>
                  </a:lnTo>
                  <a:cubicBezTo>
                    <a:pt x="89509" y="298041"/>
                    <a:pt x="58525" y="285207"/>
                    <a:pt x="35679" y="262362"/>
                  </a:cubicBezTo>
                  <a:cubicBezTo>
                    <a:pt x="12834" y="239517"/>
                    <a:pt x="0" y="208532"/>
                    <a:pt x="0" y="176224"/>
                  </a:cubicBezTo>
                  <a:lnTo>
                    <a:pt x="0" y="121817"/>
                  </a:lnTo>
                  <a:cubicBezTo>
                    <a:pt x="0" y="89509"/>
                    <a:pt x="12834" y="58525"/>
                    <a:pt x="35679" y="35679"/>
                  </a:cubicBezTo>
                  <a:cubicBezTo>
                    <a:pt x="58525" y="12834"/>
                    <a:pt x="89509" y="0"/>
                    <a:pt x="121817" y="0"/>
                  </a:cubicBezTo>
                  <a:close/>
                </a:path>
              </a:pathLst>
            </a:custGeom>
            <a:solidFill>
              <a:srgbClr val="4589D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715089" cy="3361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684306" y="2977827"/>
            <a:ext cx="6449658" cy="257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80"/>
              </a:lnSpc>
            </a:pPr>
            <a:r>
              <a:rPr lang="en-US" sz="8800" b="true">
                <a:solidFill>
                  <a:srgbClr val="353535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so much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49210" y="8457851"/>
            <a:ext cx="5625558" cy="48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b="true" sz="319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Presented by: GROUP 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84306" y="5646192"/>
            <a:ext cx="6449658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4200">
                <a:solidFill>
                  <a:srgbClr val="353535"/>
                </a:solidFill>
                <a:latin typeface="Telegraf"/>
                <a:ea typeface="Telegraf"/>
                <a:cs typeface="Telegraf"/>
                <a:sym typeface="Telegraf"/>
              </a:rPr>
              <a:t>Discussion Time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-810710">
            <a:off x="16577969" y="393064"/>
            <a:ext cx="2458369" cy="925241"/>
          </a:xfrm>
          <a:custGeom>
            <a:avLst/>
            <a:gdLst/>
            <a:ahLst/>
            <a:cxnLst/>
            <a:rect r="r" b="b" t="t" l="l"/>
            <a:pathLst>
              <a:path h="925241" w="2458369">
                <a:moveTo>
                  <a:pt x="0" y="0"/>
                </a:moveTo>
                <a:lnTo>
                  <a:pt x="2458369" y="0"/>
                </a:lnTo>
                <a:lnTo>
                  <a:pt x="2458369" y="925241"/>
                </a:lnTo>
                <a:lnTo>
                  <a:pt x="0" y="92524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6706255" y="9239250"/>
            <a:ext cx="152400" cy="1714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239"/>
              </a:lnSpc>
              <a:spcBef>
                <a:spcPct val="0"/>
              </a:spcBef>
            </a:pPr>
            <a:r>
              <a:rPr lang="en-US" sz="1599" spc="-11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Page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DAHJrKED1Ng</dc:identifier>
  <dcterms:modified xsi:type="dcterms:W3CDTF">2011-08-01T06:04:30Z</dcterms:modified>
  <cp:revision>1</cp:revision>
  <dc:title>Plagiarism Checker</dc:title>
</cp:coreProperties>
</file>