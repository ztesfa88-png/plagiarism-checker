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998" r:id="rId1"/>
  </p:sldMasterIdLst>
  <p:notesMasterIdLst>
    <p:notesMasterId r:id="rId36"/>
  </p:notesMasterIdLst>
  <p:sldIdLst>
    <p:sldId id="301" r:id="rId2"/>
    <p:sldId id="259" r:id="rId3"/>
    <p:sldId id="260" r:id="rId4"/>
    <p:sldId id="261" r:id="rId5"/>
    <p:sldId id="263" r:id="rId6"/>
    <p:sldId id="264" r:id="rId7"/>
    <p:sldId id="265" r:id="rId8"/>
    <p:sldId id="266" r:id="rId9"/>
    <p:sldId id="267" r:id="rId10"/>
    <p:sldId id="268" r:id="rId11"/>
    <p:sldId id="300" r:id="rId12"/>
    <p:sldId id="269" r:id="rId13"/>
    <p:sldId id="298" r:id="rId14"/>
    <p:sldId id="270" r:id="rId15"/>
    <p:sldId id="271" r:id="rId16"/>
    <p:sldId id="272" r:id="rId17"/>
    <p:sldId id="273" r:id="rId18"/>
    <p:sldId id="274" r:id="rId19"/>
    <p:sldId id="275" r:id="rId20"/>
    <p:sldId id="296" r:id="rId21"/>
    <p:sldId id="276" r:id="rId22"/>
    <p:sldId id="277" r:id="rId23"/>
    <p:sldId id="280" r:id="rId24"/>
    <p:sldId id="281" r:id="rId25"/>
    <p:sldId id="282" r:id="rId26"/>
    <p:sldId id="283" r:id="rId27"/>
    <p:sldId id="297" r:id="rId28"/>
    <p:sldId id="284" r:id="rId29"/>
    <p:sldId id="288" r:id="rId30"/>
    <p:sldId id="290" r:id="rId31"/>
    <p:sldId id="303" r:id="rId32"/>
    <p:sldId id="304" r:id="rId33"/>
    <p:sldId id="299" r:id="rId34"/>
    <p:sldId id="302" r:id="rId35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99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oleObject" Target="Book1" TargetMode="External"/><Relationship Id="rId1" Type="http://schemas.openxmlformats.org/officeDocument/2006/relationships/themeOverride" Target="../theme/themeOverrid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0"/>
    <c:plotArea>
      <c:layout/>
      <c:barChart>
        <c:barDir val="bar"/>
        <c:grouping val="clustered"/>
        <c:varyColors val="0"/>
        <c:ser>
          <c:idx val="0"/>
          <c:order val="0"/>
          <c:invertIfNegative val="0"/>
          <c:cat>
            <c:strRef>
              <c:f>Sheet1!$D$1:$G$1</c:f>
              <c:strCache>
                <c:ptCount val="4"/>
                <c:pt idx="0">
                  <c:v>Project 1 </c:v>
                </c:pt>
                <c:pt idx="1">
                  <c:v>Project 2 </c:v>
                </c:pt>
                <c:pt idx="2">
                  <c:v>Project 3 </c:v>
                </c:pt>
                <c:pt idx="3">
                  <c:v>Project 4 </c:v>
                </c:pt>
              </c:strCache>
            </c:strRef>
          </c:cat>
          <c:val>
            <c:numRef>
              <c:f>Sheet1!$D$9:$G$9</c:f>
              <c:numCache>
                <c:formatCode>General</c:formatCode>
                <c:ptCount val="4"/>
                <c:pt idx="0">
                  <c:v>56</c:v>
                </c:pt>
                <c:pt idx="1">
                  <c:v>78.5</c:v>
                </c:pt>
                <c:pt idx="2">
                  <c:v>50</c:v>
                </c:pt>
                <c:pt idx="3">
                  <c:v>41.5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3752064"/>
        <c:axId val="179356032"/>
      </c:barChart>
      <c:catAx>
        <c:axId val="43752064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crossAx val="179356032"/>
        <c:crosses val="autoZero"/>
        <c:auto val="1"/>
        <c:lblAlgn val="ctr"/>
        <c:lblOffset val="100"/>
        <c:noMultiLvlLbl val="0"/>
      </c:catAx>
      <c:valAx>
        <c:axId val="179356032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43752064"/>
        <c:crosses val="autoZero"/>
        <c:crossBetween val="between"/>
      </c:valAx>
    </c:plotArea>
    <c:plotVisOnly val="1"/>
    <c:dispBlanksAs val="gap"/>
    <c:showDLblsOverMax val="0"/>
  </c:chart>
  <c:spPr>
    <a:solidFill>
      <a:srgbClr val="00B0F0"/>
    </a:solidFill>
  </c:spPr>
  <c:externalData r:id="rId2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94F9D559-3D15-42E4-B362-9DDF9B5B601B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92220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G0" fmla="+- 618 0 0"/>
            </a:gdLst>
            <a:ahLst/>
            <a:cxnLst>
              <a:cxn ang="0">
                <a:pos x="0" y="0"/>
              </a:cxn>
              <a:cxn ang="0">
                <a:pos x="618" y="0"/>
              </a:cxn>
              <a:cxn ang="0">
                <a:pos x="618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TW" altLang="zh-TW">
              <a:ea typeface="新細明體" panose="02020500000000000000" pitchFamily="18" charset="-120"/>
            </a:endParaRPr>
          </a:p>
        </p:txBody>
      </p:sp>
      <p:sp>
        <p:nvSpPr>
          <p:cNvPr id="2488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altLang="zh-TW" smtClean="0"/>
              <a:t>Click to edit Master title style</a:t>
            </a:r>
            <a:endParaRPr lang="en-US" altLang="zh-TW"/>
          </a:p>
        </p:txBody>
      </p:sp>
      <p:sp>
        <p:nvSpPr>
          <p:cNvPr id="2488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 altLang="zh-TW" smtClean="0"/>
              <a:t>Click to edit Master subtitle style</a:t>
            </a:r>
            <a:endParaRPr lang="en-US" altLang="zh-TW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Verdana" panose="020B0604030504040204" pitchFamily="34" charset="0"/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 smtClean="0">
                <a:latin typeface="+mn-lt"/>
                <a:ea typeface="新細明體" charset="-120"/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Verdana" panose="020B0604030504040204" pitchFamily="34" charset="0"/>
                <a:ea typeface="新細明體" panose="02020500000000000000" pitchFamily="18" charset="-120"/>
              </a:defRPr>
            </a:lvl1pPr>
          </a:lstStyle>
          <a:p>
            <a:fld id="{3A80DF03-E30C-4440-8743-94DB68168CEA}" type="slidenum">
              <a:rPr lang="en-GB" altLang="en-US" smtClean="0"/>
              <a:pPr/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87952363"/>
      </p:ext>
    </p:extLst>
  </p:cSld>
  <p:clrMapOvr>
    <a:masterClrMapping/>
  </p:clrMapOvr>
  <p:transition spd="slow">
    <p:fade/>
  </p:transition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5459709"/>
      </p:ext>
    </p:extLst>
  </p:cSld>
  <p:clrMapOvr>
    <a:masterClrMapping/>
  </p:clrMapOvr>
  <p:transition spd="slow">
    <p:fade/>
  </p:transition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0533513"/>
      </p:ext>
    </p:extLst>
  </p:cSld>
  <p:clrMapOvr>
    <a:masterClrMapping/>
  </p:clrMapOvr>
  <p:transition spd="slow">
    <p:fade/>
  </p:transition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8670358"/>
      </p:ext>
    </p:extLst>
  </p:cSld>
  <p:clrMapOvr>
    <a:masterClrMapping/>
  </p:clrMapOvr>
  <p:transition spd="slow">
    <p:fade/>
  </p:transition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67564551"/>
      </p:ext>
    </p:extLst>
  </p:cSld>
  <p:clrMapOvr>
    <a:masterClrMapping/>
  </p:clrMapOvr>
  <p:transition spd="slow">
    <p:fade/>
  </p:transition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3440043"/>
      </p:ext>
    </p:extLst>
  </p:cSld>
  <p:clrMapOvr>
    <a:masterClrMapping/>
  </p:clrMapOvr>
  <p:transition spd="slow">
    <p:fade/>
  </p:transition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3347219"/>
      </p:ext>
    </p:extLst>
  </p:cSld>
  <p:clrMapOvr>
    <a:masterClrMapping/>
  </p:clrMapOvr>
  <p:transition spd="slow">
    <p:fade/>
  </p:transition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80204293"/>
      </p:ext>
    </p:extLst>
  </p:cSld>
  <p:clrMapOvr>
    <a:masterClrMapping/>
  </p:clrMapOvr>
  <p:transition spd="slow">
    <p:fade/>
  </p:transition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altLang="zh-TW" noProof="0" smtClean="0"/>
              <a:t>Click icon to add picture</a:t>
            </a:r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36681421"/>
      </p:ext>
    </p:extLst>
  </p:cSld>
  <p:clrMapOvr>
    <a:masterClrMapping/>
  </p:clrMapOvr>
  <p:transition spd="slow">
    <p:fade/>
  </p:transition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2682497"/>
      </p:ext>
    </p:extLst>
  </p:cSld>
  <p:clrMapOvr>
    <a:masterClrMapping/>
  </p:clrMapOvr>
  <p:transition spd="slow">
    <p:fade/>
  </p:transition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en-US" altLang="zh-TW" smtClean="0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5753708"/>
      </p:ext>
    </p:extLst>
  </p:cSld>
  <p:clrMapOvr>
    <a:masterClrMapping/>
  </p:clrMapOvr>
  <p:transition spd="slow">
    <p:fade/>
  </p:transition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smtClean="0"/>
              <a:t>Click to edit Master text styles</a:t>
            </a:r>
          </a:p>
          <a:p>
            <a:pPr lvl="1"/>
            <a:r>
              <a:rPr lang="en-US" altLang="zh-TW" smtClean="0"/>
              <a:t>Second level</a:t>
            </a:r>
          </a:p>
          <a:p>
            <a:pPr lvl="2"/>
            <a:r>
              <a:rPr lang="en-US" altLang="zh-TW" smtClean="0"/>
              <a:t>Third level</a:t>
            </a:r>
          </a:p>
          <a:p>
            <a:pPr lvl="3"/>
            <a:r>
              <a:rPr lang="en-US" altLang="zh-TW" smtClean="0"/>
              <a:t>Fourth level</a:t>
            </a:r>
          </a:p>
          <a:p>
            <a:pPr lvl="4"/>
            <a:r>
              <a:rPr lang="en-US" altLang="zh-TW" smtClean="0"/>
              <a:t>Fifth level</a:t>
            </a:r>
          </a:p>
        </p:txBody>
      </p:sp>
      <p:sp>
        <p:nvSpPr>
          <p:cNvPr id="247812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G0" fmla="+- 585 0 0"/>
            </a:gdLst>
            <a:ahLst/>
            <a:cxnLst>
              <a:cxn ang="0">
                <a:pos x="0" y="0"/>
              </a:cxn>
              <a:cxn ang="0">
                <a:pos x="585" y="0"/>
              </a:cxn>
              <a:cxn ang="0">
                <a:pos x="585" y="1000"/>
              </a:cxn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/>
            <a:endParaRPr lang="zh-TW" altLang="zh-TW">
              <a:ea typeface="新細明體" panose="02020500000000000000" pitchFamily="18" charset="-120"/>
            </a:endParaRPr>
          </a:p>
        </p:txBody>
      </p:sp>
      <p:sp>
        <p:nvSpPr>
          <p:cNvPr id="247813" name="Line 5"/>
          <p:cNvSpPr>
            <a:spLocks noChangeShapeType="1"/>
          </p:cNvSpPr>
          <p:nvPr/>
        </p:nvSpPr>
        <p:spPr bwMode="auto">
          <a:xfrm flipV="1">
            <a:off x="609600" y="6172200"/>
            <a:ext cx="79248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7748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9" r:id="rId1"/>
    <p:sldLayoutId id="2147484000" r:id="rId2"/>
    <p:sldLayoutId id="2147484001" r:id="rId3"/>
    <p:sldLayoutId id="2147484002" r:id="rId4"/>
    <p:sldLayoutId id="2147484003" r:id="rId5"/>
    <p:sldLayoutId id="2147484004" r:id="rId6"/>
    <p:sldLayoutId id="2147484005" r:id="rId7"/>
    <p:sldLayoutId id="2147484006" r:id="rId8"/>
    <p:sldLayoutId id="2147484007" r:id="rId9"/>
    <p:sldLayoutId id="2147484008" r:id="rId10"/>
    <p:sldLayoutId id="2147484009" r:id="rId11"/>
  </p:sldLayoutIdLst>
  <p:transition spd="slow">
    <p:fade/>
  </p:transition>
  <p:timing>
    <p:tnLst>
      <p:par>
        <p:cTn id="1" dur="indefinite" restart="never" nodeType="tmRoot"/>
      </p:par>
    </p:tnLst>
  </p:timing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eaLnBrk="1" fontAlgn="base" hangingPunct="1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chart" Target="../charts/chart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762000"/>
            <a:ext cx="8458200" cy="165893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 smtClean="0"/>
              <a:t>Project </a:t>
            </a:r>
            <a:r>
              <a:rPr lang="en-US" sz="4000" dirty="0"/>
              <a:t>Scope </a:t>
            </a:r>
            <a:r>
              <a:rPr lang="en-US" sz="4000" dirty="0" smtClean="0"/>
              <a:t>Management</a:t>
            </a:r>
            <a:endParaRPr lang="en-US" sz="4000" dirty="0"/>
          </a:p>
        </p:txBody>
      </p:sp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3048000"/>
            <a:ext cx="3124200" cy="31242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19795174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533400"/>
            <a:ext cx="7696200" cy="9906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2800" b="1" dirty="0"/>
              <a:t>What is Project Scope Management?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752600"/>
            <a:ext cx="8110538" cy="4495800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sz="1900" dirty="0" smtClean="0"/>
              <a:t>Scope refers to all the work involved in creating the </a:t>
            </a:r>
            <a:r>
              <a:rPr lang="en-US" sz="1900" b="1" dirty="0" smtClean="0"/>
              <a:t>products</a:t>
            </a:r>
            <a:r>
              <a:rPr lang="en-US" sz="1900" dirty="0" smtClean="0"/>
              <a:t> </a:t>
            </a:r>
            <a:r>
              <a:rPr lang="en-US" sz="1900" b="1" dirty="0" smtClean="0"/>
              <a:t>of the project and the</a:t>
            </a:r>
            <a:r>
              <a:rPr lang="en-US" sz="1900" dirty="0" smtClean="0"/>
              <a:t> </a:t>
            </a:r>
            <a:r>
              <a:rPr lang="en-US" sz="1900" b="1" dirty="0" smtClean="0"/>
              <a:t>processes</a:t>
            </a:r>
            <a:r>
              <a:rPr lang="en-US" sz="1900" dirty="0" smtClean="0"/>
              <a:t> used to create them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1900" dirty="0" smtClean="0"/>
              <a:t>Project scope management includes the processes involved in defining and controlling </a:t>
            </a:r>
            <a:r>
              <a:rPr lang="en-US" sz="1900" b="1" i="1" dirty="0" smtClean="0"/>
              <a:t>what is</a:t>
            </a:r>
            <a:r>
              <a:rPr lang="en-US" sz="1900" dirty="0" smtClean="0"/>
              <a:t> or </a:t>
            </a:r>
            <a:r>
              <a:rPr lang="en-US" sz="1900" b="1" i="1" dirty="0" smtClean="0"/>
              <a:t>is not</a:t>
            </a:r>
            <a:r>
              <a:rPr lang="en-US" sz="1900" dirty="0" smtClean="0"/>
              <a:t> included in the project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1900" dirty="0" smtClean="0"/>
              <a:t>The project team and stakeholders must have the same understanding of </a:t>
            </a:r>
            <a:r>
              <a:rPr lang="en-US" sz="1900" b="1" dirty="0" smtClean="0"/>
              <a:t>what products will be produced </a:t>
            </a:r>
            <a:r>
              <a:rPr lang="en-US" sz="1900" dirty="0" smtClean="0"/>
              <a:t>as a result of a project and </a:t>
            </a:r>
            <a:r>
              <a:rPr lang="en-US" sz="1900" b="1" dirty="0" smtClean="0"/>
              <a:t>what processes will be used </a:t>
            </a:r>
            <a:r>
              <a:rPr lang="en-US" sz="1900" dirty="0" smtClean="0"/>
              <a:t>in producing them</a:t>
            </a:r>
          </a:p>
        </p:txBody>
      </p:sp>
      <p:sp>
        <p:nvSpPr>
          <p:cNvPr id="8196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3FFF6C83-895C-4FCA-8192-AFB49984920D}" type="slidenum">
              <a:rPr lang="en-GB" altLang="en-US"/>
              <a:pPr/>
              <a:t>2</a:t>
            </a:fld>
            <a:endParaRPr lang="en-GB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229600" cy="9906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200" dirty="0"/>
              <a:t>Project Scope Management Processes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752600"/>
            <a:ext cx="8077200" cy="4333875"/>
          </a:xfrm>
        </p:spPr>
        <p:txBody>
          <a:bodyPr>
            <a:normAutofit fontScale="85000" lnSpcReduction="10000"/>
          </a:bodyPr>
          <a:lstStyle/>
          <a:p>
            <a:pPr marL="457200" indent="-457200" eaLnBrk="1" hangingPunct="1">
              <a:lnSpc>
                <a:spcPct val="150000"/>
              </a:lnSpc>
              <a:buFont typeface="+mj-lt"/>
              <a:buAutoNum type="arabicParenR"/>
            </a:pPr>
            <a:r>
              <a:rPr lang="en-US" sz="2400" b="1" dirty="0" smtClean="0"/>
              <a:t>Initiation</a:t>
            </a:r>
            <a:r>
              <a:rPr lang="en-US" sz="2400" dirty="0" smtClean="0"/>
              <a:t>: authorizing the project or phase</a:t>
            </a:r>
          </a:p>
          <a:p>
            <a:pPr marL="457200" indent="-457200" eaLnBrk="1" hangingPunct="1">
              <a:lnSpc>
                <a:spcPct val="150000"/>
              </a:lnSpc>
              <a:buFont typeface="+mj-lt"/>
              <a:buAutoNum type="arabicParenR"/>
            </a:pPr>
            <a:r>
              <a:rPr lang="en-US" sz="2400" b="1" dirty="0" smtClean="0"/>
              <a:t>Scope planning</a:t>
            </a:r>
            <a:r>
              <a:rPr lang="en-US" sz="2400" dirty="0" smtClean="0"/>
              <a:t>: developing documents to provide the basis for future project decisions</a:t>
            </a:r>
          </a:p>
          <a:p>
            <a:pPr marL="457200" indent="-457200" eaLnBrk="1" hangingPunct="1">
              <a:lnSpc>
                <a:spcPct val="150000"/>
              </a:lnSpc>
              <a:buFont typeface="+mj-lt"/>
              <a:buAutoNum type="arabicParenR"/>
            </a:pPr>
            <a:r>
              <a:rPr lang="en-US" sz="2400" b="1" dirty="0" smtClean="0"/>
              <a:t>Scope definition</a:t>
            </a:r>
            <a:r>
              <a:rPr lang="en-US" sz="2400" dirty="0" smtClean="0"/>
              <a:t>: subdividing the major project deliverables into smaller, more manageable components</a:t>
            </a:r>
          </a:p>
          <a:p>
            <a:pPr marL="457200" indent="-457200" eaLnBrk="1" hangingPunct="1">
              <a:lnSpc>
                <a:spcPct val="150000"/>
              </a:lnSpc>
              <a:buFont typeface="+mj-lt"/>
              <a:buAutoNum type="arabicParenR"/>
            </a:pPr>
            <a:r>
              <a:rPr lang="en-US" sz="2400" b="1" dirty="0" smtClean="0"/>
              <a:t>Scope verification</a:t>
            </a:r>
            <a:r>
              <a:rPr lang="en-US" sz="2400" dirty="0" smtClean="0"/>
              <a:t>: formalizing acceptance of the project scope</a:t>
            </a:r>
          </a:p>
          <a:p>
            <a:pPr marL="457200" indent="-457200" eaLnBrk="1" hangingPunct="1">
              <a:lnSpc>
                <a:spcPct val="150000"/>
              </a:lnSpc>
              <a:buFont typeface="+mj-lt"/>
              <a:buAutoNum type="arabicParenR"/>
            </a:pPr>
            <a:r>
              <a:rPr lang="en-US" sz="2400" b="1" dirty="0" smtClean="0"/>
              <a:t>Scope change control</a:t>
            </a:r>
            <a:r>
              <a:rPr lang="en-US" sz="2400" dirty="0" smtClean="0"/>
              <a:t>: controlling changes to project scope</a:t>
            </a:r>
          </a:p>
          <a:p>
            <a:pPr eaLnBrk="1" hangingPunct="1">
              <a:lnSpc>
                <a:spcPct val="150000"/>
              </a:lnSpc>
            </a:pPr>
            <a:endParaRPr lang="en-US" sz="2400" dirty="0" smtClean="0"/>
          </a:p>
          <a:p>
            <a:pPr eaLnBrk="1" hangingPunct="1">
              <a:lnSpc>
                <a:spcPct val="150000"/>
              </a:lnSpc>
            </a:pPr>
            <a:endParaRPr lang="en-US" sz="2400" dirty="0" smtClean="0"/>
          </a:p>
        </p:txBody>
      </p:sp>
      <p:sp>
        <p:nvSpPr>
          <p:cNvPr id="9220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208E043E-B56A-43E3-9BBE-0001D0F37277}" type="slidenum">
              <a:rPr lang="en-GB" altLang="en-US"/>
              <a:pPr/>
              <a:t>3</a:t>
            </a:fld>
            <a:endParaRPr lang="en-GB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28600"/>
            <a:ext cx="7543800" cy="1160462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dirty="0"/>
              <a:t>Project Initiation: Strategic Planning and Project Selection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001000" cy="4648200"/>
          </a:xfrm>
        </p:spPr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sz="2400" dirty="0" smtClean="0"/>
              <a:t>The first step in initiating projects is to look at the big picture or strategic plan of an organization</a:t>
            </a:r>
          </a:p>
          <a:p>
            <a:pPr eaLnBrk="1" hangingPunct="1">
              <a:lnSpc>
                <a:spcPct val="150000"/>
              </a:lnSpc>
            </a:pPr>
            <a:r>
              <a:rPr lang="en-US" sz="2400" dirty="0" smtClean="0"/>
              <a:t>Strategic planning involves determining long-term business objectives</a:t>
            </a:r>
          </a:p>
          <a:p>
            <a:pPr eaLnBrk="1" hangingPunct="1">
              <a:lnSpc>
                <a:spcPct val="150000"/>
              </a:lnSpc>
            </a:pPr>
            <a:r>
              <a:rPr lang="en-US" sz="2400" dirty="0" smtClean="0"/>
              <a:t>IT projects should support strategic and financial business objectives</a:t>
            </a:r>
          </a:p>
        </p:txBody>
      </p:sp>
      <p:sp>
        <p:nvSpPr>
          <p:cNvPr id="1024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216A2F63-C3DD-4022-83A5-6970DCEAA908}" type="slidenum">
              <a:rPr lang="en-GB" altLang="en-US"/>
              <a:pPr/>
              <a:t>4</a:t>
            </a:fld>
            <a:endParaRPr lang="en-GB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0"/>
            <a:ext cx="7543800" cy="698500"/>
          </a:xfrm>
        </p:spPr>
        <p:txBody>
          <a:bodyPr>
            <a:no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3600" dirty="0"/>
              <a:t>Identifying Potential Projects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752600"/>
            <a:ext cx="8034338" cy="4257675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sz="2200" dirty="0" smtClean="0"/>
              <a:t>Many organizations follow a planning process for selecting IT projects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200" dirty="0" smtClean="0"/>
              <a:t>First </a:t>
            </a:r>
            <a:r>
              <a:rPr lang="en-US" sz="2200" b="1" i="1" dirty="0" smtClean="0"/>
              <a:t>develop an IT strategic plan</a:t>
            </a:r>
            <a:r>
              <a:rPr lang="en-US" sz="2200" dirty="0" smtClean="0"/>
              <a:t> based on the organization’s overall strategic plan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200" dirty="0" smtClean="0"/>
              <a:t>Then </a:t>
            </a:r>
            <a:r>
              <a:rPr lang="en-US" sz="2200" b="1" i="1" dirty="0" smtClean="0"/>
              <a:t>perform a business area analysis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200" dirty="0" smtClean="0"/>
              <a:t>Then </a:t>
            </a:r>
            <a:r>
              <a:rPr lang="en-US" sz="2200" b="1" i="1" dirty="0" smtClean="0"/>
              <a:t>define potential projects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200" dirty="0" smtClean="0"/>
              <a:t>Then </a:t>
            </a:r>
            <a:r>
              <a:rPr lang="en-US" sz="2200" b="1" i="1" dirty="0" smtClean="0"/>
              <a:t>select IT projects</a:t>
            </a:r>
            <a:r>
              <a:rPr lang="en-US" sz="2200" dirty="0" smtClean="0"/>
              <a:t> and </a:t>
            </a:r>
            <a:r>
              <a:rPr lang="en-US" sz="2200" b="1" i="1" dirty="0" smtClean="0"/>
              <a:t>assign resources</a:t>
            </a:r>
          </a:p>
        </p:txBody>
      </p:sp>
      <p:sp>
        <p:nvSpPr>
          <p:cNvPr id="11268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3C689A56-8E92-49B3-8BD2-34596687F8C6}" type="slidenum">
              <a:rPr lang="en-GB" altLang="en-US"/>
              <a:pPr/>
              <a:t>5</a:t>
            </a:fld>
            <a:endParaRPr lang="en-GB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09575"/>
            <a:ext cx="7772400" cy="1190625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400" dirty="0"/>
              <a:t>Information Technology Planning Process</a:t>
            </a:r>
          </a:p>
        </p:txBody>
      </p:sp>
      <p:sp>
        <p:nvSpPr>
          <p:cNvPr id="12291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414825E2-94D5-4FBD-833E-AB5A2A88DA8A}" type="slidenum">
              <a:rPr lang="en-GB" altLang="en-US"/>
              <a:pPr/>
              <a:t>6</a:t>
            </a:fld>
            <a:endParaRPr lang="en-GB" altLang="en-US"/>
          </a:p>
        </p:txBody>
      </p:sp>
      <p:pic>
        <p:nvPicPr>
          <p:cNvPr id="1229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828800"/>
            <a:ext cx="7315200" cy="44462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15962"/>
            <a:ext cx="7543800" cy="808038"/>
          </a:xfrm>
        </p:spPr>
        <p:txBody>
          <a:bodyPr>
            <a:normAutofit fontScale="90000"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dirty="0"/>
              <a:t>Methods for Selecting Projects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00200"/>
            <a:ext cx="8077200" cy="4378325"/>
          </a:xfrm>
        </p:spPr>
        <p:txBody>
          <a:bodyPr>
            <a:normAutofit fontScale="85000" lnSpcReduction="20000"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dirty="0" smtClean="0"/>
              <a:t>There are usually more projects than available time and resources to implement them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dirty="0" smtClean="0"/>
              <a:t>It is important to follow a logical process for selecting IT projects to work on</a:t>
            </a:r>
          </a:p>
          <a:p>
            <a:pPr eaLnBrk="1" hangingPunct="1">
              <a:lnSpc>
                <a:spcPct val="150000"/>
              </a:lnSpc>
            </a:pPr>
            <a:r>
              <a:rPr lang="en-US" dirty="0" smtClean="0"/>
              <a:t>Methods include focusing on </a:t>
            </a:r>
            <a:r>
              <a:rPr lang="en-US" b="1" i="1" dirty="0" smtClean="0"/>
              <a:t>broad needs</a:t>
            </a:r>
            <a:r>
              <a:rPr lang="en-US" dirty="0" smtClean="0"/>
              <a:t>, </a:t>
            </a:r>
            <a:r>
              <a:rPr lang="en-US" b="1" i="1" dirty="0" smtClean="0"/>
              <a:t>categorizing projects</a:t>
            </a:r>
            <a:r>
              <a:rPr lang="en-US" dirty="0" smtClean="0"/>
              <a:t>, </a:t>
            </a:r>
            <a:r>
              <a:rPr lang="en-US" b="1" i="1" dirty="0" smtClean="0"/>
              <a:t>financial methods</a:t>
            </a:r>
            <a:r>
              <a:rPr lang="en-US" dirty="0" smtClean="0"/>
              <a:t>, and </a:t>
            </a:r>
            <a:r>
              <a:rPr lang="en-US" b="1" i="1" dirty="0" smtClean="0"/>
              <a:t>weighted scoring models</a:t>
            </a:r>
          </a:p>
          <a:p>
            <a:pPr lvl="1" algn="just" eaLnBrk="1" hangingPunct="1">
              <a:lnSpc>
                <a:spcPct val="150000"/>
              </a:lnSpc>
            </a:pPr>
            <a:endParaRPr lang="en-US" dirty="0" smtClean="0"/>
          </a:p>
          <a:p>
            <a:pPr algn="just" eaLnBrk="1" hangingPunct="1">
              <a:lnSpc>
                <a:spcPct val="150000"/>
              </a:lnSpc>
            </a:pPr>
            <a:endParaRPr lang="en-US" dirty="0" smtClean="0"/>
          </a:p>
        </p:txBody>
      </p:sp>
      <p:sp>
        <p:nvSpPr>
          <p:cNvPr id="13316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823CF7DB-6AB0-4483-9576-EBE57550E71D}" type="slidenum">
              <a:rPr lang="en-GB" altLang="en-US"/>
              <a:pPr/>
              <a:t>7</a:t>
            </a:fld>
            <a:endParaRPr lang="en-GB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81000"/>
            <a:ext cx="8458200" cy="11430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dirty="0"/>
              <a:t>Focusing on Broad Organizational Needs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7924800" cy="4721225"/>
          </a:xfrm>
        </p:spPr>
        <p:txBody>
          <a:bodyPr>
            <a:normAutofit fontScale="77500" lnSpcReduction="20000"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dirty="0" smtClean="0"/>
              <a:t>It is often difficult to provide strong justification for many IT projects, but everyone agrees they have a high value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dirty="0" smtClean="0"/>
              <a:t>“It is better to measure gold roughly than to count pennies precisely”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dirty="0" smtClean="0"/>
              <a:t>Three important criteria for projects: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dirty="0" smtClean="0"/>
              <a:t>There is a</a:t>
            </a:r>
            <a:r>
              <a:rPr lang="en-US" b="1" dirty="0" smtClean="0"/>
              <a:t> </a:t>
            </a:r>
            <a:r>
              <a:rPr lang="en-US" b="1" i="1" dirty="0" smtClean="0"/>
              <a:t>need</a:t>
            </a:r>
            <a:r>
              <a:rPr lang="en-US" dirty="0" smtClean="0"/>
              <a:t> for the project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dirty="0" smtClean="0"/>
              <a:t>There are</a:t>
            </a:r>
            <a:r>
              <a:rPr lang="en-US" b="1" dirty="0" smtClean="0"/>
              <a:t> </a:t>
            </a:r>
            <a:r>
              <a:rPr lang="en-US" b="1" i="1" dirty="0" smtClean="0"/>
              <a:t>funds</a:t>
            </a:r>
            <a:r>
              <a:rPr lang="en-US" dirty="0" smtClean="0"/>
              <a:t> available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dirty="0" smtClean="0"/>
              <a:t>There’s a strong </a:t>
            </a:r>
            <a:r>
              <a:rPr lang="en-US" b="1" i="1" dirty="0" smtClean="0"/>
              <a:t>will</a:t>
            </a:r>
            <a:r>
              <a:rPr lang="en-US" b="1" dirty="0" smtClean="0"/>
              <a:t> </a:t>
            </a:r>
            <a:r>
              <a:rPr lang="en-US" dirty="0" smtClean="0"/>
              <a:t>to make the project succeed</a:t>
            </a:r>
          </a:p>
        </p:txBody>
      </p:sp>
      <p:sp>
        <p:nvSpPr>
          <p:cNvPr id="14340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67559C5E-F0AB-4708-B04D-19B7839B2B50}" type="slidenum">
              <a:rPr lang="en-GB" altLang="en-US"/>
              <a:pPr/>
              <a:t>8</a:t>
            </a:fld>
            <a:endParaRPr lang="en-GB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762000"/>
            <a:ext cx="7543800" cy="762000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dirty="0"/>
              <a:t>Categorizing IT Projects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153400" cy="4724401"/>
          </a:xfrm>
        </p:spPr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sz="2400" dirty="0" smtClean="0"/>
              <a:t>One categorization is whether the project addresses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sz="2000" dirty="0" smtClean="0"/>
              <a:t>a problem</a:t>
            </a:r>
          </a:p>
          <a:p>
            <a:pPr lvl="1" eaLnBrk="1" hangingPunct="1">
              <a:lnSpc>
                <a:spcPct val="150000"/>
              </a:lnSpc>
            </a:pPr>
            <a:r>
              <a:rPr lang="en-US" sz="2000" dirty="0" smtClean="0"/>
              <a:t>an opportunity, or</a:t>
            </a:r>
          </a:p>
          <a:p>
            <a:pPr lvl="1" eaLnBrk="1" hangingPunct="1">
              <a:lnSpc>
                <a:spcPct val="150000"/>
              </a:lnSpc>
            </a:pPr>
            <a:r>
              <a:rPr lang="en-US" sz="2000" dirty="0" smtClean="0"/>
              <a:t>a directive</a:t>
            </a:r>
          </a:p>
          <a:p>
            <a:pPr eaLnBrk="1" hangingPunct="1">
              <a:lnSpc>
                <a:spcPct val="150000"/>
              </a:lnSpc>
            </a:pPr>
            <a:r>
              <a:rPr lang="en-US" sz="2400" dirty="0" smtClean="0"/>
              <a:t>Another categorization is how long it will take to do and when it is needed</a:t>
            </a:r>
          </a:p>
          <a:p>
            <a:pPr eaLnBrk="1" hangingPunct="1">
              <a:lnSpc>
                <a:spcPct val="150000"/>
              </a:lnSpc>
            </a:pPr>
            <a:r>
              <a:rPr lang="en-US" sz="2400" dirty="0" smtClean="0"/>
              <a:t>Another is the overall priority of the project</a:t>
            </a:r>
          </a:p>
          <a:p>
            <a:pPr eaLnBrk="1" hangingPunct="1">
              <a:lnSpc>
                <a:spcPct val="150000"/>
              </a:lnSpc>
            </a:pPr>
            <a:endParaRPr lang="en-US" sz="2400" dirty="0" smtClean="0"/>
          </a:p>
        </p:txBody>
      </p:sp>
      <p:sp>
        <p:nvSpPr>
          <p:cNvPr id="1536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E33E3493-3B79-47EA-BC2D-218CF4E63864}" type="slidenum">
              <a:rPr lang="en-GB" altLang="en-US"/>
              <a:pPr/>
              <a:t>9</a:t>
            </a:fld>
            <a:endParaRPr lang="en-GB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827087"/>
            <a:ext cx="7543800" cy="696913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dirty="0"/>
              <a:t>Financial Analysis of Projects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077200" cy="4486275"/>
          </a:xfrm>
        </p:spPr>
        <p:txBody>
          <a:bodyPr>
            <a:no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lang="en-US" sz="2400" dirty="0" smtClean="0"/>
              <a:t>Financial considerations are often an important consideration in selecting projects</a:t>
            </a:r>
          </a:p>
          <a:p>
            <a:pPr algn="just" eaLnBrk="1" hangingPunct="1">
              <a:lnSpc>
                <a:spcPct val="150000"/>
              </a:lnSpc>
            </a:pPr>
            <a:r>
              <a:rPr lang="en-US" sz="2400" dirty="0" smtClean="0"/>
              <a:t>Three primary methods for determining the projected financial value of projects: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sz="2400" dirty="0" smtClean="0"/>
              <a:t>Net present value (NPV) analysis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sz="2400" dirty="0" smtClean="0"/>
              <a:t>Return on investment (ROI)</a:t>
            </a:r>
          </a:p>
          <a:p>
            <a:pPr lvl="1" algn="just" eaLnBrk="1" hangingPunct="1">
              <a:lnSpc>
                <a:spcPct val="150000"/>
              </a:lnSpc>
            </a:pPr>
            <a:r>
              <a:rPr lang="en-US" sz="2400" dirty="0" smtClean="0"/>
              <a:t>Payback analysis</a:t>
            </a:r>
          </a:p>
          <a:p>
            <a:pPr algn="just" eaLnBrk="1" hangingPunct="1">
              <a:lnSpc>
                <a:spcPct val="150000"/>
              </a:lnSpc>
            </a:pPr>
            <a:endParaRPr lang="en-US" sz="2400" dirty="0" smtClean="0"/>
          </a:p>
        </p:txBody>
      </p:sp>
      <p:sp>
        <p:nvSpPr>
          <p:cNvPr id="16388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471EDBCD-4CCD-45B1-A958-9D2E8DA697EA}" type="slidenum">
              <a:rPr lang="en-GB" altLang="en-US"/>
              <a:pPr/>
              <a:t>10</a:t>
            </a:fld>
            <a:endParaRPr lang="en-GB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Definition of terms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76400"/>
            <a:ext cx="8382000" cy="4876800"/>
          </a:xfrm>
        </p:spPr>
        <p:txBody>
          <a:bodyPr>
            <a:noAutofit/>
          </a:bodyPr>
          <a:lstStyle/>
          <a:p>
            <a:r>
              <a:rPr lang="en-US" sz="2300" b="1" dirty="0" smtClean="0"/>
              <a:t>Net Present Value - </a:t>
            </a:r>
            <a:r>
              <a:rPr lang="en-US" sz="2300" dirty="0" smtClean="0"/>
              <a:t>Method of calculating the expected net monetary gain or loss from a project by discounting all expected future cash inflows and outflows to the present point in time.</a:t>
            </a:r>
          </a:p>
          <a:p>
            <a:r>
              <a:rPr lang="en-US" sz="2300" b="1" dirty="0" smtClean="0"/>
              <a:t>Discount Rate* -  </a:t>
            </a:r>
            <a:r>
              <a:rPr lang="en-US" sz="2300" dirty="0" smtClean="0"/>
              <a:t>Also known as the hurdle rate or required rate of return, is the rate that a project must achieve in order to be accepted rather than rejected.    </a:t>
            </a:r>
          </a:p>
          <a:p>
            <a:r>
              <a:rPr lang="en-US" sz="2300" b="1" dirty="0" smtClean="0"/>
              <a:t>Return on Investment</a:t>
            </a:r>
            <a:r>
              <a:rPr lang="en-US" sz="2300" dirty="0" smtClean="0"/>
              <a:t> – Expected income divided by the amount originally invested</a:t>
            </a:r>
          </a:p>
          <a:p>
            <a:r>
              <a:rPr lang="en-US" sz="2300" dirty="0" smtClean="0"/>
              <a:t> </a:t>
            </a:r>
            <a:r>
              <a:rPr lang="en-US" sz="2300" b="1" dirty="0" smtClean="0"/>
              <a:t>Payback Analysis </a:t>
            </a:r>
            <a:r>
              <a:rPr lang="en-US" sz="2300" dirty="0" smtClean="0"/>
              <a:t>– The number of years needed to recover the initial cash outlay</a:t>
            </a:r>
            <a:endParaRPr lang="en-US" sz="23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410575" y="6477000"/>
            <a:ext cx="733425" cy="274638"/>
          </a:xfrm>
          <a:prstGeom prst="rect">
            <a:avLst/>
          </a:prstGeom>
        </p:spPr>
        <p:txBody>
          <a:bodyPr/>
          <a:lstStyle/>
          <a:p>
            <a:fld id="{D478541C-0DF6-4E72-841D-78836C7C8725}" type="slidenum">
              <a:rPr lang="en-GB" altLang="en-US" smtClean="0"/>
              <a:pPr/>
              <a:t>11</a:t>
            </a:fld>
            <a:endParaRPr lang="en-GB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33399" y="6337012"/>
            <a:ext cx="764857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i="1" dirty="0" smtClean="0"/>
              <a:t>* The </a:t>
            </a:r>
            <a:r>
              <a:rPr lang="en-US" sz="1300" i="1" dirty="0"/>
              <a:t>annual </a:t>
            </a:r>
            <a:r>
              <a:rPr lang="en-US" sz="1300" i="1" dirty="0" smtClean="0"/>
              <a:t>percentage rate </a:t>
            </a:r>
            <a:r>
              <a:rPr lang="en-US" sz="1300" i="1" dirty="0"/>
              <a:t>that an amount </a:t>
            </a:r>
            <a:r>
              <a:rPr lang="en-US" sz="1300" i="1" dirty="0" smtClean="0"/>
              <a:t>of money </a:t>
            </a:r>
            <a:r>
              <a:rPr lang="en-US" sz="1300" i="1" dirty="0"/>
              <a:t>is discounted </a:t>
            </a:r>
            <a:r>
              <a:rPr lang="en-US" sz="1300" i="1" dirty="0" smtClean="0"/>
              <a:t>to bring </a:t>
            </a:r>
            <a:r>
              <a:rPr lang="en-US" sz="1300" i="1" dirty="0"/>
              <a:t>it to a present value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50887"/>
            <a:ext cx="7543800" cy="696913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4000" dirty="0"/>
              <a:t>Net Present Value Analysis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39138" cy="4648200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60000"/>
              </a:lnSpc>
            </a:pPr>
            <a:r>
              <a:rPr lang="en-US" b="1" dirty="0" smtClean="0"/>
              <a:t>Net present value (NPV) analysis </a:t>
            </a:r>
            <a:r>
              <a:rPr lang="en-US" dirty="0" smtClean="0"/>
              <a:t>is a method of calculating the expected net monetary gain or loss from a project by discounting all expected future cash inflows and outflows to the present point in time</a:t>
            </a:r>
          </a:p>
          <a:p>
            <a:pPr eaLnBrk="1" hangingPunct="1">
              <a:lnSpc>
                <a:spcPct val="160000"/>
              </a:lnSpc>
            </a:pPr>
            <a:r>
              <a:rPr lang="en-US" b="1" dirty="0" smtClean="0"/>
              <a:t>Projects with a positive NPV should be considered if financial value is a key criterion</a:t>
            </a:r>
          </a:p>
          <a:p>
            <a:pPr eaLnBrk="1" hangingPunct="1">
              <a:lnSpc>
                <a:spcPct val="160000"/>
              </a:lnSpc>
            </a:pPr>
            <a:r>
              <a:rPr lang="en-US" b="1" dirty="0" smtClean="0"/>
              <a:t>The higher the NPV, the better</a:t>
            </a:r>
          </a:p>
        </p:txBody>
      </p:sp>
      <p:sp>
        <p:nvSpPr>
          <p:cNvPr id="17412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EB52F218-66C3-4D9F-8606-BE244E1A67A8}" type="slidenum">
              <a:rPr lang="en-GB" altLang="en-US"/>
              <a:pPr/>
              <a:t>12</a:t>
            </a:fld>
            <a:endParaRPr lang="en-GB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04800"/>
            <a:ext cx="8915400" cy="1143000"/>
          </a:xfrm>
        </p:spPr>
        <p:txBody>
          <a:bodyPr>
            <a:noAutofit/>
          </a:bodyPr>
          <a:lstStyle/>
          <a:p>
            <a:pPr>
              <a:defRPr/>
            </a:pPr>
            <a:r>
              <a:rPr lang="en-US" sz="2400" dirty="0" smtClean="0"/>
              <a:t>- NPV can be computed using the </a:t>
            </a:r>
            <a:r>
              <a:rPr lang="en-US" sz="2000" dirty="0" smtClean="0"/>
              <a:t>following</a:t>
            </a:r>
            <a:r>
              <a:rPr lang="en-US" sz="2400" dirty="0" smtClean="0"/>
              <a:t> formula</a:t>
            </a:r>
            <a:endParaRPr lang="en-US" sz="2400" dirty="0"/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7649C690-9B7B-4A1A-A954-2195837987AB}" type="slidenum">
              <a:rPr lang="en-GB" altLang="en-US"/>
              <a:pPr/>
              <a:t>13</a:t>
            </a:fld>
            <a:endParaRPr lang="en-GB" altLang="en-US"/>
          </a:p>
        </p:txBody>
      </p:sp>
      <p:sp>
        <p:nvSpPr>
          <p:cNvPr id="5" name="Rectangle 4"/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1595577" y="1877560"/>
            <a:ext cx="5190845" cy="1268937"/>
          </a:xfrm>
          <a:prstGeom prst="rect">
            <a:avLst/>
          </a:prstGeom>
          <a:blipFill rotWithShape="0">
            <a:blip r:embed="rId2" cstate="print"/>
            <a:stretch>
              <a:fillRect/>
            </a:stretch>
          </a:blipFill>
        </p:spPr>
        <p:txBody>
          <a:bodyPr/>
          <a:lstStyle/>
          <a:p>
            <a:r>
              <a:rPr lang="en-US">
                <a:noFill/>
              </a:rPr>
              <a:t> </a:t>
            </a:r>
          </a:p>
        </p:txBody>
      </p:sp>
      <p:sp>
        <p:nvSpPr>
          <p:cNvPr id="18437" name="TextBox 5"/>
          <p:cNvSpPr txBox="1">
            <a:spLocks noChangeArrowheads="1"/>
          </p:cNvSpPr>
          <p:nvPr/>
        </p:nvSpPr>
        <p:spPr bwMode="auto">
          <a:xfrm>
            <a:off x="2819400" y="3810000"/>
            <a:ext cx="51816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sz="2400" dirty="0"/>
              <a:t>Where:</a:t>
            </a:r>
          </a:p>
          <a:p>
            <a:pPr eaLnBrk="1" hangingPunct="1"/>
            <a:r>
              <a:rPr lang="en-US" sz="2400" dirty="0"/>
              <a:t>	r= discount rate</a:t>
            </a:r>
          </a:p>
          <a:p>
            <a:pPr eaLnBrk="1" hangingPunct="1"/>
            <a:r>
              <a:rPr lang="en-US" sz="2400" dirty="0"/>
              <a:t>	t= year</a:t>
            </a:r>
          </a:p>
          <a:p>
            <a:pPr eaLnBrk="1" hangingPunct="1"/>
            <a:r>
              <a:rPr lang="en-US" sz="2400" dirty="0"/>
              <a:t>	n= analysis horizon (in years</a:t>
            </a:r>
            <a:r>
              <a:rPr lang="en-US" sz="2400" dirty="0" smtClean="0"/>
              <a:t>)</a:t>
            </a:r>
          </a:p>
          <a:p>
            <a:pPr eaLnBrk="1" hangingPunct="1"/>
            <a:endParaRPr lang="en-US" sz="2400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852487"/>
            <a:ext cx="7848600" cy="519113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lang="en-US" sz="3600" dirty="0" smtClean="0"/>
              <a:t>NET PRESENT VALUE EXAMPLE</a:t>
            </a:r>
          </a:p>
        </p:txBody>
      </p:sp>
      <p:sp>
        <p:nvSpPr>
          <p:cNvPr id="19459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3FC83489-18C3-4ABB-A141-7EBD12819A37}" type="slidenum">
              <a:rPr lang="en-GB" altLang="en-US"/>
              <a:pPr/>
              <a:t>14</a:t>
            </a:fld>
            <a:endParaRPr lang="en-GB" altLang="en-US"/>
          </a:p>
        </p:txBody>
      </p:sp>
      <p:pic>
        <p:nvPicPr>
          <p:cNvPr id="19460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0225" y="1466850"/>
            <a:ext cx="8080375" cy="4781550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sp>
        <p:nvSpPr>
          <p:cNvPr id="19461" name="Text Box 7"/>
          <p:cNvSpPr txBox="1">
            <a:spLocks noChangeArrowheads="1"/>
          </p:cNvSpPr>
          <p:nvPr/>
        </p:nvSpPr>
        <p:spPr bwMode="auto">
          <a:xfrm>
            <a:off x="7162800" y="2895600"/>
            <a:ext cx="1752600" cy="2032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dirty="0"/>
              <a:t>Note that </a:t>
            </a:r>
          </a:p>
          <a:p>
            <a:pPr eaLnBrk="1" hangingPunct="1"/>
            <a:r>
              <a:rPr lang="en-US" dirty="0"/>
              <a:t>totals are </a:t>
            </a:r>
          </a:p>
          <a:p>
            <a:pPr eaLnBrk="1" hangingPunct="1"/>
            <a:r>
              <a:rPr lang="en-US" dirty="0"/>
              <a:t>equal, but</a:t>
            </a:r>
          </a:p>
          <a:p>
            <a:pPr eaLnBrk="1" hangingPunct="1"/>
            <a:r>
              <a:rPr lang="en-US" dirty="0"/>
              <a:t>NPVs are</a:t>
            </a:r>
          </a:p>
          <a:p>
            <a:pPr eaLnBrk="1" hangingPunct="1"/>
            <a:r>
              <a:rPr lang="en-US" dirty="0"/>
              <a:t>not because of the time value of money.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684212"/>
            <a:ext cx="7543800" cy="763588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/>
              <a:t>Return on Investment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4812"/>
            <a:ext cx="8305800" cy="4799013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dirty="0" smtClean="0"/>
              <a:t>Return on investment (ROI) is income divided by investment</a:t>
            </a:r>
          </a:p>
          <a:p>
            <a:pPr eaLnBrk="1" hangingPunct="1">
              <a:lnSpc>
                <a:spcPct val="150000"/>
              </a:lnSpc>
              <a:buFont typeface="Wingdings" pitchFamily="2" charset="2"/>
              <a:buNone/>
            </a:pPr>
            <a:endParaRPr lang="en-US" dirty="0" smtClean="0"/>
          </a:p>
          <a:p>
            <a:pPr lvl="2" eaLnBrk="1" hangingPunct="1">
              <a:lnSpc>
                <a:spcPct val="150000"/>
              </a:lnSpc>
              <a:buFont typeface="Wingdings" pitchFamily="2" charset="2"/>
              <a:buNone/>
            </a:pPr>
            <a:endParaRPr lang="en-US" dirty="0" smtClean="0"/>
          </a:p>
          <a:p>
            <a:pPr lvl="2" eaLnBrk="1" hangingPunct="1">
              <a:lnSpc>
                <a:spcPct val="150000"/>
              </a:lnSpc>
              <a:buFont typeface="Wingdings" pitchFamily="2" charset="2"/>
              <a:buNone/>
            </a:pPr>
            <a:r>
              <a:rPr lang="en-US" dirty="0" smtClean="0"/>
              <a:t>                                             </a:t>
            </a:r>
          </a:p>
          <a:p>
            <a:pPr eaLnBrk="1" hangingPunct="1">
              <a:lnSpc>
                <a:spcPct val="150000"/>
              </a:lnSpc>
            </a:pPr>
            <a:r>
              <a:rPr lang="en-US" dirty="0" smtClean="0"/>
              <a:t>The higher the ROI, the better	</a:t>
            </a:r>
          </a:p>
          <a:p>
            <a:pPr eaLnBrk="1" hangingPunct="1">
              <a:lnSpc>
                <a:spcPct val="150000"/>
              </a:lnSpc>
            </a:pPr>
            <a:r>
              <a:rPr lang="en-US" dirty="0" smtClean="0"/>
              <a:t>Many organizations have a required rate of return or minimum acceptable rate of return on investment for projects		</a:t>
            </a:r>
          </a:p>
          <a:p>
            <a:pPr lvl="1" eaLnBrk="1" hangingPunct="1">
              <a:lnSpc>
                <a:spcPct val="150000"/>
              </a:lnSpc>
              <a:buFont typeface="Wingdings" pitchFamily="2" charset="2"/>
              <a:buNone/>
            </a:pPr>
            <a:endParaRPr lang="en-US" dirty="0" smtClean="0"/>
          </a:p>
        </p:txBody>
      </p:sp>
      <p:sp>
        <p:nvSpPr>
          <p:cNvPr id="2048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7795305C-4A78-4479-8067-E74C5E3A60B4}" type="slidenum">
              <a:rPr lang="en-GB" altLang="en-US"/>
              <a:pPr/>
              <a:t>15</a:t>
            </a:fld>
            <a:endParaRPr lang="en-GB" altLang="en-US"/>
          </a:p>
        </p:txBody>
      </p:sp>
      <p:sp>
        <p:nvSpPr>
          <p:cNvPr id="20485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en-US"/>
          </a:p>
        </p:txBody>
      </p:sp>
      <p:sp>
        <p:nvSpPr>
          <p:cNvPr id="20486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en-US"/>
          </a:p>
        </p:txBody>
      </p:sp>
      <p:sp>
        <p:nvSpPr>
          <p:cNvPr id="20487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en-US"/>
          </a:p>
        </p:txBody>
      </p:sp>
      <p:sp>
        <p:nvSpPr>
          <p:cNvPr id="20488" name="Rectangle 1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en-US"/>
          </a:p>
        </p:txBody>
      </p:sp>
      <p:pic>
        <p:nvPicPr>
          <p:cNvPr id="20489" name="Picture 11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38200" y="2590800"/>
            <a:ext cx="72771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90" name="Rectangle 13"/>
          <p:cNvSpPr>
            <a:spLocks noChangeArrowheads="1"/>
          </p:cNvSpPr>
          <p:nvPr/>
        </p:nvSpPr>
        <p:spPr bwMode="auto">
          <a:xfrm>
            <a:off x="0" y="923925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>
              <a:tabLst>
                <a:tab pos="2292350" algn="l"/>
              </a:tabLst>
            </a:pPr>
            <a:endParaRPr lang="en-US"/>
          </a:p>
        </p:txBody>
      </p:sp>
      <p:sp>
        <p:nvSpPr>
          <p:cNvPr id="20491" name="Rectangle 13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en-US"/>
          </a:p>
        </p:txBody>
      </p:sp>
      <p:sp>
        <p:nvSpPr>
          <p:cNvPr id="20492" name="Rectangle 15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en-US"/>
          </a:p>
        </p:txBody>
      </p:sp>
      <p:sp>
        <p:nvSpPr>
          <p:cNvPr id="20493" name="Rectangle 17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en-US"/>
          </a:p>
        </p:txBody>
      </p:sp>
      <p:pic>
        <p:nvPicPr>
          <p:cNvPr id="20494" name="Picture 16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38200" y="3352800"/>
            <a:ext cx="3497263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495" name="TextBox 17"/>
          <p:cNvSpPr txBox="1">
            <a:spLocks noChangeArrowheads="1"/>
          </p:cNvSpPr>
          <p:nvPr/>
        </p:nvSpPr>
        <p:spPr bwMode="auto">
          <a:xfrm>
            <a:off x="5562600" y="3429000"/>
            <a:ext cx="25908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US" dirty="0"/>
              <a:t>Where     r= rate</a:t>
            </a:r>
          </a:p>
          <a:p>
            <a:pPr eaLnBrk="1" hangingPunct="1"/>
            <a:r>
              <a:rPr lang="en-US" dirty="0"/>
              <a:t>               y=year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0412"/>
            <a:ext cx="7543800" cy="763588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/>
              <a:t>Payback Analysis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229600" cy="4724400"/>
          </a:xfrm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dirty="0" smtClean="0"/>
              <a:t>Another important financial consideration is payback analysis</a:t>
            </a:r>
          </a:p>
          <a:p>
            <a:pPr eaLnBrk="1" hangingPunct="1">
              <a:lnSpc>
                <a:spcPct val="150000"/>
              </a:lnSpc>
            </a:pPr>
            <a:r>
              <a:rPr lang="en-US" dirty="0" smtClean="0"/>
              <a:t>The payback period is the amount of time it will take to recoup, in the form of net cash inflows, the net dollars invested in a project</a:t>
            </a:r>
          </a:p>
          <a:p>
            <a:pPr eaLnBrk="1" hangingPunct="1">
              <a:lnSpc>
                <a:spcPct val="150000"/>
              </a:lnSpc>
            </a:pPr>
            <a:r>
              <a:rPr lang="en-US" dirty="0" smtClean="0"/>
              <a:t>Payback occurs when the cumulative discounted benefits and costs are greater than zero</a:t>
            </a:r>
          </a:p>
          <a:p>
            <a:pPr eaLnBrk="1" hangingPunct="1">
              <a:lnSpc>
                <a:spcPct val="150000"/>
              </a:lnSpc>
            </a:pPr>
            <a:r>
              <a:rPr lang="en-US" dirty="0" smtClean="0"/>
              <a:t>Many organizations want IT projects to have a fairly short payback period</a:t>
            </a:r>
          </a:p>
        </p:txBody>
      </p:sp>
      <p:sp>
        <p:nvSpPr>
          <p:cNvPr id="21508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0F76B0FB-072D-4C19-B5DB-91DC82387D60}" type="slidenum">
              <a:rPr lang="en-GB" altLang="en-US"/>
              <a:pPr/>
              <a:t>16</a:t>
            </a:fld>
            <a:endParaRPr lang="en-GB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6424" y="655638"/>
            <a:ext cx="7775576" cy="868362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eaLnBrk="1" hangingPunct="1"/>
            <a:r>
              <a:rPr lang="en-US" sz="3200" dirty="0" smtClean="0"/>
              <a:t>NPV, ROI, AND PAYBACK ANALYSIS FOR PROJECT 1</a:t>
            </a:r>
          </a:p>
        </p:txBody>
      </p:sp>
      <p:sp>
        <p:nvSpPr>
          <p:cNvPr id="22531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F0A9E611-0255-48A9-BDE6-4B87814DED8B}" type="slidenum">
              <a:rPr lang="en-GB" altLang="en-US"/>
              <a:pPr/>
              <a:t>17</a:t>
            </a:fld>
            <a:endParaRPr lang="en-GB" altLang="en-US"/>
          </a:p>
        </p:txBody>
      </p:sp>
      <p:pic>
        <p:nvPicPr>
          <p:cNvPr id="22532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599" y="1828800"/>
            <a:ext cx="8691927" cy="3962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22238"/>
            <a:ext cx="8382000" cy="1160462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800" dirty="0"/>
              <a:t>NPV, ROI, and Payback Analysis for Project 2</a:t>
            </a:r>
          </a:p>
        </p:txBody>
      </p:sp>
      <p:sp>
        <p:nvSpPr>
          <p:cNvPr id="23555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948672B1-0079-4D65-891D-F7FF2BE8841F}" type="slidenum">
              <a:rPr lang="en-GB" altLang="en-US"/>
              <a:pPr/>
              <a:t>18</a:t>
            </a:fld>
            <a:endParaRPr lang="en-GB" altLang="en-US"/>
          </a:p>
        </p:txBody>
      </p:sp>
      <p:pic>
        <p:nvPicPr>
          <p:cNvPr id="2355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599" y="1752600"/>
            <a:ext cx="8728189" cy="3962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684213"/>
            <a:ext cx="7543800" cy="763587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/>
              <a:t>Weighted Scoring Model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676400"/>
            <a:ext cx="8153400" cy="4876800"/>
          </a:xfrm>
        </p:spPr>
        <p:txBody>
          <a:bodyPr/>
          <a:lstStyle/>
          <a:p>
            <a:pPr eaLnBrk="1" hangingPunct="1"/>
            <a:r>
              <a:rPr lang="en-US" sz="2200" dirty="0" smtClean="0"/>
              <a:t>A weighted scoring model is a tool that provides a systematic process for selecting projects based on many criteria</a:t>
            </a:r>
          </a:p>
          <a:p>
            <a:pPr lvl="1" eaLnBrk="1" hangingPunct="1"/>
            <a:r>
              <a:rPr lang="en-US" sz="2200" dirty="0" smtClean="0"/>
              <a:t>First identify criteria important to the project selection process</a:t>
            </a:r>
          </a:p>
          <a:p>
            <a:pPr lvl="1" eaLnBrk="1" hangingPunct="1"/>
            <a:r>
              <a:rPr lang="en-US" sz="2200" dirty="0" smtClean="0"/>
              <a:t>Then assign weights (percentages) to each criterion so they add up to 100%</a:t>
            </a:r>
          </a:p>
          <a:p>
            <a:pPr lvl="1" eaLnBrk="1" hangingPunct="1"/>
            <a:r>
              <a:rPr lang="en-US" sz="2200" dirty="0" smtClean="0"/>
              <a:t>Then assign scores to each criterion for each project</a:t>
            </a:r>
          </a:p>
          <a:p>
            <a:pPr lvl="1" eaLnBrk="1" hangingPunct="1"/>
            <a:r>
              <a:rPr lang="en-US" sz="2200" dirty="0" smtClean="0"/>
              <a:t>Multiply the scores by the weights and get the total weighted scores</a:t>
            </a:r>
          </a:p>
          <a:p>
            <a:pPr eaLnBrk="1" hangingPunct="1"/>
            <a:r>
              <a:rPr lang="en-US" sz="2200" dirty="0" smtClean="0"/>
              <a:t>The higher the weighted score, the better</a:t>
            </a:r>
          </a:p>
        </p:txBody>
      </p:sp>
      <p:sp>
        <p:nvSpPr>
          <p:cNvPr id="24580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90E255C5-7A71-4220-9688-AEF7B03FB57C}" type="slidenum">
              <a:rPr lang="en-GB" altLang="en-US"/>
              <a:pPr/>
              <a:t>19</a:t>
            </a:fld>
            <a:endParaRPr lang="en-GB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7C0E9C96-259A-479D-A3E2-310104C74A02}" type="slidenum">
              <a:rPr lang="en-GB" altLang="en-US"/>
              <a:pPr/>
              <a:t>20</a:t>
            </a:fld>
            <a:endParaRPr lang="en-GB" altLang="en-US"/>
          </a:p>
        </p:txBody>
      </p:sp>
      <p:pic>
        <p:nvPicPr>
          <p:cNvPr id="481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04800"/>
            <a:ext cx="4270375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95800" y="304800"/>
            <a:ext cx="969963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10200" y="304800"/>
            <a:ext cx="3286125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86400" y="1066800"/>
            <a:ext cx="32004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8134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486400" y="4038600"/>
            <a:ext cx="3200400" cy="38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10" name="Chart 9"/>
          <p:cNvGraphicFramePr/>
          <p:nvPr/>
        </p:nvGraphicFramePr>
        <p:xfrm>
          <a:off x="1143000" y="4495800"/>
          <a:ext cx="6324600" cy="2057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1" name="Oval Callout 10"/>
          <p:cNvSpPr/>
          <p:nvPr/>
        </p:nvSpPr>
        <p:spPr>
          <a:xfrm>
            <a:off x="6400800" y="2743200"/>
            <a:ext cx="2590800" cy="2438400"/>
          </a:xfrm>
          <a:prstGeom prst="wedgeEllipseCallout">
            <a:avLst>
              <a:gd name="adj1" fmla="val -72204"/>
              <a:gd name="adj2" fmla="val 64882"/>
            </a:avLst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en-US" dirty="0"/>
              <a:t>Since Project 2 has the highest weighted project score, it is the winner!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48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76237"/>
            <a:ext cx="7331075" cy="1071563"/>
          </a:xfrm>
        </p:spPr>
        <p:txBody>
          <a:bodyPr wrap="square" lIns="91440" tIns="45720" rIns="91440" bIns="45720" numCol="1" anchorCtr="0" compatLnSpc="1">
            <a:prstTxWarp prst="textNoShape">
              <a:avLst/>
            </a:prstTxWarp>
            <a:noAutofit/>
          </a:bodyPr>
          <a:lstStyle/>
          <a:p>
            <a:pPr algn="ctr" eaLnBrk="1" hangingPunct="1"/>
            <a:r>
              <a:rPr lang="en-US" sz="2800" dirty="0" smtClean="0"/>
              <a:t>SAMPLE WEIGHTED SCORING MODEL FOR PROJECT SELECTION</a:t>
            </a:r>
          </a:p>
        </p:txBody>
      </p:sp>
      <p:sp>
        <p:nvSpPr>
          <p:cNvPr id="26627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882A7ECD-A0D2-4FEF-86D2-DC7F48FAA6A7}" type="slidenum">
              <a:rPr lang="en-GB" altLang="en-US"/>
              <a:pPr/>
              <a:t>21</a:t>
            </a:fld>
            <a:endParaRPr lang="en-GB" altLang="en-US"/>
          </a:p>
        </p:txBody>
      </p:sp>
      <p:pic>
        <p:nvPicPr>
          <p:cNvPr id="2560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1676400"/>
            <a:ext cx="7391400" cy="4953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762000"/>
            <a:ext cx="7543800" cy="7620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000" dirty="0"/>
              <a:t>Project Charters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05800" cy="4648200"/>
          </a:xfrm>
        </p:spPr>
        <p:txBody>
          <a:bodyPr>
            <a:noAutofit/>
          </a:bodyPr>
          <a:lstStyle/>
          <a:p>
            <a:pPr eaLnBrk="1" hangingPunct="1">
              <a:lnSpc>
                <a:spcPct val="150000"/>
              </a:lnSpc>
            </a:pPr>
            <a:r>
              <a:rPr lang="en-US" sz="2200" dirty="0" smtClean="0"/>
              <a:t>After deciding what project to work on, it is important to formalize projects</a:t>
            </a:r>
          </a:p>
          <a:p>
            <a:pPr eaLnBrk="1" hangingPunct="1">
              <a:lnSpc>
                <a:spcPct val="150000"/>
              </a:lnSpc>
            </a:pPr>
            <a:r>
              <a:rPr lang="en-US" sz="2200" dirty="0" smtClean="0"/>
              <a:t>A project charter is a document that formally recognizes the existence of a project and provides direction on the project’s objectives and management</a:t>
            </a:r>
          </a:p>
          <a:p>
            <a:pPr eaLnBrk="1" hangingPunct="1">
              <a:lnSpc>
                <a:spcPct val="150000"/>
              </a:lnSpc>
            </a:pPr>
            <a:r>
              <a:rPr lang="en-US" sz="2200" dirty="0" smtClean="0"/>
              <a:t>Key project stakeholders should sign a project charter to acknowledge agreement on the </a:t>
            </a:r>
            <a:r>
              <a:rPr lang="en-US" sz="2200" b="1" dirty="0" smtClean="0"/>
              <a:t>need and intent </a:t>
            </a:r>
            <a:r>
              <a:rPr lang="en-US" sz="2200" dirty="0" smtClean="0"/>
              <a:t>of the project</a:t>
            </a:r>
          </a:p>
        </p:txBody>
      </p:sp>
      <p:sp>
        <p:nvSpPr>
          <p:cNvPr id="27652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C6EEB9E5-86AD-4CED-B9BD-717891F801A8}" type="slidenum">
              <a:rPr lang="en-GB" altLang="en-US"/>
              <a:pPr/>
              <a:t>22</a:t>
            </a:fld>
            <a:endParaRPr lang="en-GB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533400"/>
            <a:ext cx="8458200" cy="9906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dirty="0"/>
              <a:t>Scope Planning and the Scope Statement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524000"/>
            <a:ext cx="8229600" cy="48006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sz="2400" dirty="0" smtClean="0"/>
              <a:t>A scope statement is a document used to develop and confirm a common understanding of the project scope.  It should include</a:t>
            </a:r>
          </a:p>
          <a:p>
            <a:pPr lvl="1" eaLnBrk="1" hangingPunct="1">
              <a:lnSpc>
                <a:spcPct val="150000"/>
              </a:lnSpc>
            </a:pPr>
            <a:r>
              <a:rPr lang="en-US" sz="2400" dirty="0" smtClean="0"/>
              <a:t>a project justification</a:t>
            </a:r>
          </a:p>
          <a:p>
            <a:pPr lvl="1" eaLnBrk="1" hangingPunct="1">
              <a:lnSpc>
                <a:spcPct val="150000"/>
              </a:lnSpc>
            </a:pPr>
            <a:r>
              <a:rPr lang="en-US" sz="2400" dirty="0" smtClean="0"/>
              <a:t>a brief description of the project’s products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sz="2400" dirty="0" smtClean="0"/>
              <a:t>a summary of all project deliverables</a:t>
            </a:r>
          </a:p>
          <a:p>
            <a:pPr lvl="1" eaLnBrk="1" hangingPunct="1">
              <a:lnSpc>
                <a:spcPct val="150000"/>
              </a:lnSpc>
            </a:pPr>
            <a:r>
              <a:rPr lang="en-US" sz="2400" dirty="0" smtClean="0"/>
              <a:t>a statement of what determines project success</a:t>
            </a:r>
          </a:p>
        </p:txBody>
      </p:sp>
      <p:sp>
        <p:nvSpPr>
          <p:cNvPr id="28676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8EC57E04-2D98-4520-A95E-484D606E5758}" type="slidenum">
              <a:rPr lang="en-GB" altLang="en-US"/>
              <a:pPr/>
              <a:t>23</a:t>
            </a:fld>
            <a:endParaRPr lang="en-GB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200" dirty="0"/>
              <a:t>Scope Planning and the Work Breakdown Structure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2600"/>
            <a:ext cx="8229600" cy="4419600"/>
          </a:xfrm>
        </p:spPr>
        <p:txBody>
          <a:bodyPr>
            <a:noAutofit/>
          </a:bodyPr>
          <a:lstStyle/>
          <a:p>
            <a:pPr eaLnBrk="1" hangingPunct="1"/>
            <a:r>
              <a:rPr lang="en-US" sz="2400" dirty="0" smtClean="0"/>
              <a:t>After completing scope planning, the next step is to further define the work by breaking it into manageable pieces</a:t>
            </a:r>
          </a:p>
          <a:p>
            <a:pPr eaLnBrk="1" hangingPunct="1"/>
            <a:r>
              <a:rPr lang="en-US" sz="2400" dirty="0" smtClean="0"/>
              <a:t>Good scope definition</a:t>
            </a:r>
          </a:p>
          <a:p>
            <a:pPr lvl="1" eaLnBrk="1" hangingPunct="1"/>
            <a:r>
              <a:rPr lang="en-US" sz="2400" dirty="0" smtClean="0"/>
              <a:t>helps improve the accuracy of time, cost, and resource estimates</a:t>
            </a:r>
          </a:p>
          <a:p>
            <a:pPr lvl="1" eaLnBrk="1" hangingPunct="1"/>
            <a:r>
              <a:rPr lang="en-US" sz="2400" dirty="0" smtClean="0"/>
              <a:t>defines a baseline for performance measurement and project control</a:t>
            </a:r>
          </a:p>
          <a:p>
            <a:pPr lvl="1" eaLnBrk="1" hangingPunct="1"/>
            <a:r>
              <a:rPr lang="en-US" sz="2400" dirty="0" smtClean="0"/>
              <a:t>aids in communicating clear work responsibilities</a:t>
            </a:r>
          </a:p>
        </p:txBody>
      </p:sp>
      <p:sp>
        <p:nvSpPr>
          <p:cNvPr id="29700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D6D8C337-4F22-4F00-96CB-64FC0BB34A10}" type="slidenum">
              <a:rPr lang="en-GB" altLang="en-US"/>
              <a:pPr/>
              <a:t>24</a:t>
            </a:fld>
            <a:endParaRPr lang="en-GB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212725"/>
            <a:ext cx="7772400" cy="1311275"/>
          </a:xfrm>
        </p:spPr>
        <p:txBody>
          <a:bodyPr>
            <a:norm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dirty="0"/>
              <a:t>The Work Breakdown Structure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229600" cy="46482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sz="2400" dirty="0" smtClean="0"/>
              <a:t>A work breakdown structure (WBS) is an outcome-oriented analysis of the work involved in a project that defines the total scope of the project</a:t>
            </a:r>
          </a:p>
          <a:p>
            <a:pPr eaLnBrk="1" hangingPunct="1">
              <a:lnSpc>
                <a:spcPct val="150000"/>
              </a:lnSpc>
            </a:pPr>
            <a:r>
              <a:rPr lang="en-US" sz="2400" dirty="0" smtClean="0"/>
              <a:t>It is a foundation document in project management because it provides the basis for planning and managing project schedules, costs, and changes</a:t>
            </a:r>
          </a:p>
        </p:txBody>
      </p:sp>
      <p:sp>
        <p:nvSpPr>
          <p:cNvPr id="3072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D6965737-F46B-4B1A-8520-FB5427A173EC}" type="slidenum">
              <a:rPr lang="en-GB" altLang="en-US"/>
              <a:pPr/>
              <a:t>25</a:t>
            </a:fld>
            <a:endParaRPr lang="en-GB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180975"/>
            <a:ext cx="8001000" cy="1190625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2800" dirty="0"/>
              <a:t>Sample Intranet WBS Organized by Product </a:t>
            </a:r>
          </a:p>
        </p:txBody>
      </p:sp>
      <p:sp>
        <p:nvSpPr>
          <p:cNvPr id="31747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07E754CE-A675-4C9B-834D-D739A36E6479}" type="slidenum">
              <a:rPr lang="en-GB" altLang="en-US"/>
              <a:pPr/>
              <a:t>26</a:t>
            </a:fld>
            <a:endParaRPr lang="en-GB" altLang="en-US"/>
          </a:p>
        </p:txBody>
      </p:sp>
      <p:pic>
        <p:nvPicPr>
          <p:cNvPr id="3174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799" y="1828800"/>
            <a:ext cx="8546353" cy="3962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sz="4000" dirty="0" smtClean="0"/>
              <a:t>Intranet Project … Level-2 WBS</a:t>
            </a:r>
            <a:endParaRPr lang="en-US" sz="4000" dirty="0"/>
          </a:p>
        </p:txBody>
      </p:sp>
      <p:sp>
        <p:nvSpPr>
          <p:cNvPr id="32771" name="Slide Number Placeholder 2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94ED11D1-76C4-40F2-B627-D7EE748ABCD2}" type="slidenum">
              <a:rPr lang="en-GB" altLang="en-US"/>
              <a:pPr/>
              <a:t>27</a:t>
            </a:fld>
            <a:endParaRPr lang="en-GB" altLang="en-US"/>
          </a:p>
        </p:txBody>
      </p:sp>
      <p:sp>
        <p:nvSpPr>
          <p:cNvPr id="32772" name="Rectangle 3"/>
          <p:cNvSpPr txBox="1">
            <a:spLocks noChangeArrowheads="1"/>
          </p:cNvSpPr>
          <p:nvPr/>
        </p:nvSpPr>
        <p:spPr bwMode="auto">
          <a:xfrm>
            <a:off x="1219200" y="1676400"/>
            <a:ext cx="7043738" cy="441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 eaLnBrk="1" hangingPunct="1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en-US" sz="2400" dirty="0">
                <a:latin typeface="Century Schoolbook" pitchFamily="18" charset="0"/>
              </a:rPr>
              <a:t>1.  Website design</a:t>
            </a:r>
          </a:p>
          <a:p>
            <a:pPr marL="914400" lvl="1" indent="-457200" eaLnBrk="1" hangingPunct="1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en-US" sz="2400" dirty="0">
                <a:latin typeface="Century Schoolbook" pitchFamily="18" charset="0"/>
              </a:rPr>
              <a:t>	1.1. Site map</a:t>
            </a:r>
          </a:p>
          <a:p>
            <a:pPr marL="914400" lvl="1" indent="-457200" eaLnBrk="1" hangingPunct="1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en-US" sz="2400" dirty="0">
                <a:latin typeface="Century Schoolbook" pitchFamily="18" charset="0"/>
              </a:rPr>
              <a:t>	1.2. graphic design</a:t>
            </a:r>
          </a:p>
          <a:p>
            <a:pPr marL="457200" indent="-457200" eaLnBrk="1" hangingPunct="1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en-US" sz="2400" dirty="0">
                <a:latin typeface="Century Schoolbook" pitchFamily="18" charset="0"/>
              </a:rPr>
              <a:t>2.  Home page design</a:t>
            </a:r>
          </a:p>
          <a:p>
            <a:pPr marL="457200" indent="-457200" eaLnBrk="1" hangingPunct="1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en-US" sz="2400" dirty="0">
                <a:latin typeface="Century Schoolbook" pitchFamily="18" charset="0"/>
              </a:rPr>
              <a:t>		2.1. Text</a:t>
            </a:r>
          </a:p>
          <a:p>
            <a:pPr marL="457200" indent="-457200" eaLnBrk="1" hangingPunct="1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en-US" sz="2400" dirty="0">
                <a:latin typeface="Century Schoolbook" pitchFamily="18" charset="0"/>
              </a:rPr>
              <a:t>		2.2. Images</a:t>
            </a:r>
          </a:p>
          <a:p>
            <a:pPr marL="457200" indent="-457200" eaLnBrk="1" hangingPunct="1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en-US" sz="2400" dirty="0">
                <a:latin typeface="Century Schoolbook" pitchFamily="18" charset="0"/>
              </a:rPr>
              <a:t>		2.3. Hyperlinks</a:t>
            </a:r>
          </a:p>
          <a:p>
            <a:pPr marL="457200" indent="-457200" eaLnBrk="1" hangingPunct="1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en-US" sz="2400" dirty="0">
                <a:latin typeface="Century Schoolbook" pitchFamily="18" charset="0"/>
              </a:rPr>
              <a:t>3.  Marketing pages</a:t>
            </a:r>
          </a:p>
          <a:p>
            <a:pPr marL="457200" indent="-457200" eaLnBrk="1" hangingPunct="1"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en-US" sz="2400" dirty="0">
                <a:latin typeface="Century Schoolbook" pitchFamily="18" charset="0"/>
              </a:rPr>
              <a:t>4.  Sales pages</a:t>
            </a: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  <a:buFont typeface="Century Schoolbook" pitchFamily="18" charset="0"/>
              <a:buAutoNum type="arabicPeriod"/>
            </a:pPr>
            <a:endParaRPr lang="en-US" sz="2400" dirty="0">
              <a:latin typeface="Century Schoolbook" pitchFamily="18" charset="0"/>
            </a:endParaRPr>
          </a:p>
          <a:p>
            <a:pPr marL="457200" indent="-457200" eaLnBrk="1" hangingPunct="1">
              <a:lnSpc>
                <a:spcPct val="150000"/>
              </a:lnSpc>
              <a:spcBef>
                <a:spcPts val="600"/>
              </a:spcBef>
              <a:buClr>
                <a:schemeClr val="accent1"/>
              </a:buClr>
              <a:buSzPct val="70000"/>
            </a:pPr>
            <a:r>
              <a:rPr lang="en-US" sz="2400" dirty="0">
                <a:latin typeface="Century Schoolbook" pitchFamily="18" charset="0"/>
              </a:rPr>
              <a:t> 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7772400" cy="1038225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200" dirty="0"/>
              <a:t>Sample Intranet WBS Organized by Phase</a:t>
            </a:r>
          </a:p>
        </p:txBody>
      </p:sp>
      <p:sp>
        <p:nvSpPr>
          <p:cNvPr id="33795" name="Slide Number Placeholder 4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72E24350-5BD7-4E5F-A0FC-D03558733AB5}" type="slidenum">
              <a:rPr lang="en-GB" altLang="en-US"/>
              <a:pPr/>
              <a:t>28</a:t>
            </a:fld>
            <a:endParaRPr lang="en-GB" altLang="en-US"/>
          </a:p>
        </p:txBody>
      </p:sp>
      <p:pic>
        <p:nvPicPr>
          <p:cNvPr id="33796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600200"/>
            <a:ext cx="8610600" cy="49315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530225" y="533400"/>
            <a:ext cx="7851775" cy="949325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600" dirty="0"/>
              <a:t>Approaches to Developing WBSs</a:t>
            </a:r>
          </a:p>
        </p:txBody>
      </p:sp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524000"/>
            <a:ext cx="8534400" cy="48006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50000"/>
              </a:lnSpc>
            </a:pPr>
            <a:r>
              <a:rPr lang="en-US" sz="2400" b="1" i="1" dirty="0" smtClean="0"/>
              <a:t>Using guidelines</a:t>
            </a:r>
            <a:r>
              <a:rPr lang="en-US" sz="2400" dirty="0" smtClean="0"/>
              <a:t>: Some organizations, like the department of </a:t>
            </a:r>
            <a:r>
              <a:rPr lang="en-US" sz="2400" dirty="0" err="1" smtClean="0"/>
              <a:t>gefence</a:t>
            </a:r>
            <a:r>
              <a:rPr lang="en-US" sz="2400" dirty="0" smtClean="0"/>
              <a:t>(DoD), provide guidelines for preparing WBSs</a:t>
            </a:r>
          </a:p>
          <a:p>
            <a:pPr eaLnBrk="1" hangingPunct="1">
              <a:lnSpc>
                <a:spcPct val="150000"/>
              </a:lnSpc>
            </a:pPr>
            <a:r>
              <a:rPr lang="en-US" sz="2400" b="1" i="1" dirty="0" smtClean="0"/>
              <a:t>The analogy approach</a:t>
            </a:r>
            <a:r>
              <a:rPr lang="en-US" sz="2400" dirty="0" smtClean="0"/>
              <a:t>: It often helps to review WBSs of similar projects</a:t>
            </a:r>
          </a:p>
          <a:p>
            <a:pPr eaLnBrk="1" hangingPunct="1">
              <a:lnSpc>
                <a:spcPct val="150000"/>
              </a:lnSpc>
            </a:pPr>
            <a:r>
              <a:rPr lang="en-US" sz="2400" b="1" i="1" dirty="0" smtClean="0"/>
              <a:t>The top-down approach</a:t>
            </a:r>
            <a:r>
              <a:rPr lang="en-US" sz="2400" dirty="0" smtClean="0"/>
              <a:t>: Start with the largest items of the project and keep breaking them down</a:t>
            </a:r>
          </a:p>
          <a:p>
            <a:pPr eaLnBrk="1" hangingPunct="1">
              <a:lnSpc>
                <a:spcPct val="150000"/>
              </a:lnSpc>
            </a:pPr>
            <a:r>
              <a:rPr lang="en-US" sz="2400" b="1" i="1" dirty="0" smtClean="0"/>
              <a:t>The bottom-up approach</a:t>
            </a:r>
            <a:r>
              <a:rPr lang="en-US" sz="2400" dirty="0" smtClean="0"/>
              <a:t>: Start with the detailed tasks and roll them up</a:t>
            </a:r>
          </a:p>
          <a:p>
            <a:pPr eaLnBrk="1" hangingPunct="1">
              <a:lnSpc>
                <a:spcPct val="150000"/>
              </a:lnSpc>
            </a:pPr>
            <a:endParaRPr lang="en-US" sz="2400" dirty="0" smtClean="0"/>
          </a:p>
        </p:txBody>
      </p:sp>
      <p:sp>
        <p:nvSpPr>
          <p:cNvPr id="34820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F5949B0D-8321-40B7-9A5C-BF27CD15AFB3}" type="slidenum">
              <a:rPr lang="en-GB" altLang="en-US"/>
              <a:pPr/>
              <a:t>29</a:t>
            </a:fld>
            <a:endParaRPr lang="en-GB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" y="304800"/>
            <a:ext cx="8686800" cy="1143000"/>
          </a:xfrm>
        </p:spPr>
        <p:txBody>
          <a:bodyPr>
            <a:noAutofit/>
          </a:bodyPr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US" sz="3200" dirty="0"/>
              <a:t>Scope Verification and Scope Change Control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76400"/>
            <a:ext cx="8382000" cy="4800600"/>
          </a:xfrm>
        </p:spPr>
        <p:txBody>
          <a:bodyPr>
            <a:noAutofit/>
          </a:bodyPr>
          <a:lstStyle/>
          <a:p>
            <a:pPr eaLnBrk="1" hangingPunct="1"/>
            <a:r>
              <a:rPr lang="en-US" sz="2800" dirty="0" smtClean="0"/>
              <a:t>It is very difficult to create a good scope statement and WBS for a project</a:t>
            </a:r>
          </a:p>
          <a:p>
            <a:pPr eaLnBrk="1" hangingPunct="1"/>
            <a:r>
              <a:rPr lang="en-US" sz="2800" dirty="0" smtClean="0"/>
              <a:t>It is even more difficult to verify project scope and minimize scope changes</a:t>
            </a:r>
          </a:p>
          <a:p>
            <a:pPr eaLnBrk="1" hangingPunct="1"/>
            <a:r>
              <a:rPr lang="en-US" sz="2800" dirty="0" smtClean="0"/>
              <a:t>Many Software projects suffer from scope creep and poor scope verification	</a:t>
            </a:r>
          </a:p>
        </p:txBody>
      </p:sp>
      <p:sp>
        <p:nvSpPr>
          <p:cNvPr id="35844" name="Slide Number Placeholder 5"/>
          <p:cNvSpPr>
            <a:spLocks noGrp="1"/>
          </p:cNvSpPr>
          <p:nvPr>
            <p:ph type="sldNum" sz="quarter" idx="4294967295"/>
          </p:nvPr>
        </p:nvSpPr>
        <p:spPr bwMode="auto">
          <a:xfrm>
            <a:off x="8410575" y="6477000"/>
            <a:ext cx="733425" cy="2746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/>
          <a:lstStyle/>
          <a:p>
            <a:fld id="{35031E6D-12EC-4B5E-B429-F415522189CA}" type="slidenum">
              <a:rPr lang="en-GB" altLang="en-US"/>
              <a:pPr/>
              <a:t>30</a:t>
            </a:fld>
            <a:endParaRPr lang="en-GB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410575" y="6477000"/>
            <a:ext cx="733425" cy="274638"/>
          </a:xfrm>
          <a:prstGeom prst="rect">
            <a:avLst/>
          </a:prstGeom>
        </p:spPr>
        <p:txBody>
          <a:bodyPr/>
          <a:lstStyle/>
          <a:p>
            <a:fld id="{D478541C-0DF6-4E72-841D-78836C7C8725}" type="slidenum">
              <a:rPr lang="en-GB" altLang="en-US" smtClean="0"/>
              <a:pPr/>
              <a:t>31</a:t>
            </a:fld>
            <a:endParaRPr lang="en-GB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600200" y="914400"/>
            <a:ext cx="571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Recap 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481064" y="1752600"/>
            <a:ext cx="7953271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Scope refers to all the work involved in creating the </a:t>
            </a:r>
            <a:r>
              <a:rPr lang="en-US" sz="2000" b="1" dirty="0"/>
              <a:t>products</a:t>
            </a:r>
            <a:r>
              <a:rPr lang="en-US" sz="2000" dirty="0"/>
              <a:t> </a:t>
            </a:r>
            <a:r>
              <a:rPr lang="en-US" sz="2000" b="1" dirty="0"/>
              <a:t>of the project and the</a:t>
            </a:r>
            <a:r>
              <a:rPr lang="en-US" sz="2000" dirty="0"/>
              <a:t> </a:t>
            </a:r>
            <a:r>
              <a:rPr lang="en-US" sz="2000" b="1" dirty="0"/>
              <a:t>processes</a:t>
            </a:r>
            <a:r>
              <a:rPr lang="en-US" sz="2000" dirty="0"/>
              <a:t> used to create </a:t>
            </a:r>
            <a:r>
              <a:rPr lang="en-US" sz="2000" dirty="0" smtClean="0"/>
              <a:t>them.</a:t>
            </a:r>
            <a:endParaRPr lang="en-US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/>
              <a:t>Five main process are involved in project scope management: scope-&gt; </a:t>
            </a:r>
            <a:r>
              <a:rPr lang="en-US" sz="2000" b="1" i="1" dirty="0" smtClean="0"/>
              <a:t>initiation, planning, definition, verification and change control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/>
              <a:t>To authoring a project: many </a:t>
            </a:r>
            <a:r>
              <a:rPr lang="en-US" sz="2000" dirty="0"/>
              <a:t>organizations follow a planning process for selecting IT </a:t>
            </a:r>
            <a:r>
              <a:rPr lang="en-US" sz="2000" dirty="0" smtClean="0"/>
              <a:t>projects: </a:t>
            </a:r>
            <a:r>
              <a:rPr lang="en-US" sz="2000" b="1" i="1" dirty="0" smtClean="0">
                <a:solidFill>
                  <a:srgbClr val="FF0000"/>
                </a:solidFill>
              </a:rPr>
              <a:t>develop </a:t>
            </a:r>
            <a:r>
              <a:rPr lang="en-US" sz="2000" b="1" i="1" dirty="0">
                <a:solidFill>
                  <a:srgbClr val="FF0000"/>
                </a:solidFill>
              </a:rPr>
              <a:t>an IT strategic </a:t>
            </a:r>
            <a:r>
              <a:rPr lang="en-US" sz="2000" b="1" i="1" dirty="0" smtClean="0">
                <a:solidFill>
                  <a:srgbClr val="FF0000"/>
                </a:solidFill>
              </a:rPr>
              <a:t>plan</a:t>
            </a:r>
            <a:r>
              <a:rPr lang="en-US" sz="2000" dirty="0" smtClean="0"/>
              <a:t>, </a:t>
            </a:r>
            <a:r>
              <a:rPr lang="en-US" sz="2000" b="1" i="1" dirty="0" smtClean="0">
                <a:solidFill>
                  <a:srgbClr val="990099"/>
                </a:solidFill>
              </a:rPr>
              <a:t>perform </a:t>
            </a:r>
            <a:r>
              <a:rPr lang="en-US" sz="2000" b="1" i="1" dirty="0">
                <a:solidFill>
                  <a:srgbClr val="990099"/>
                </a:solidFill>
              </a:rPr>
              <a:t>a business area </a:t>
            </a:r>
            <a:r>
              <a:rPr lang="en-US" sz="2000" b="1" i="1" dirty="0" smtClean="0">
                <a:solidFill>
                  <a:srgbClr val="990099"/>
                </a:solidFill>
              </a:rPr>
              <a:t>analysis</a:t>
            </a:r>
            <a:r>
              <a:rPr lang="en-US" sz="2000" b="1" i="1" dirty="0" smtClean="0"/>
              <a:t>,</a:t>
            </a:r>
            <a:r>
              <a:rPr lang="en-US" sz="2000" dirty="0" smtClean="0"/>
              <a:t> </a:t>
            </a:r>
            <a:r>
              <a:rPr lang="en-US" sz="2000" b="1" i="1" dirty="0">
                <a:solidFill>
                  <a:srgbClr val="00B050"/>
                </a:solidFill>
              </a:rPr>
              <a:t>define potential </a:t>
            </a:r>
            <a:r>
              <a:rPr lang="en-US" sz="2000" b="1" i="1" dirty="0" smtClean="0">
                <a:solidFill>
                  <a:srgbClr val="00B050"/>
                </a:solidFill>
              </a:rPr>
              <a:t>projects, select </a:t>
            </a:r>
            <a:r>
              <a:rPr lang="en-US" sz="2000" b="1" i="1" dirty="0">
                <a:solidFill>
                  <a:srgbClr val="00B050"/>
                </a:solidFill>
              </a:rPr>
              <a:t>IT projects</a:t>
            </a:r>
            <a:r>
              <a:rPr lang="en-US" sz="2000" dirty="0"/>
              <a:t> and </a:t>
            </a:r>
            <a:r>
              <a:rPr lang="en-US" sz="2000" b="1" i="1" dirty="0">
                <a:solidFill>
                  <a:srgbClr val="0000CC"/>
                </a:solidFill>
              </a:rPr>
              <a:t>assign </a:t>
            </a:r>
            <a:r>
              <a:rPr lang="en-US" sz="2000" b="1" i="1" dirty="0" smtClean="0">
                <a:solidFill>
                  <a:srgbClr val="0000CC"/>
                </a:solidFill>
              </a:rPr>
              <a:t>resources</a:t>
            </a:r>
            <a:r>
              <a:rPr lang="en-US" sz="2000" dirty="0">
                <a:solidFill>
                  <a:srgbClr val="0000CC"/>
                </a:solidFill>
              </a:rPr>
              <a:t/>
            </a:r>
            <a:br>
              <a:rPr lang="en-US" sz="2000" dirty="0">
                <a:solidFill>
                  <a:srgbClr val="0000CC"/>
                </a:solidFill>
              </a:rPr>
            </a:br>
            <a:endParaRPr lang="en-US" sz="2000" dirty="0">
              <a:solidFill>
                <a:srgbClr val="0000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801496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410575" y="6477000"/>
            <a:ext cx="733425" cy="274638"/>
          </a:xfrm>
          <a:prstGeom prst="rect">
            <a:avLst/>
          </a:prstGeom>
        </p:spPr>
        <p:txBody>
          <a:bodyPr/>
          <a:lstStyle/>
          <a:p>
            <a:fld id="{D478541C-0DF6-4E72-841D-78836C7C8725}" type="slidenum">
              <a:rPr lang="en-GB" altLang="en-US" smtClean="0"/>
              <a:pPr/>
              <a:t>32</a:t>
            </a:fld>
            <a:endParaRPr lang="en-GB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600200" y="914400"/>
            <a:ext cx="571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Recap…. 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481063" y="1590039"/>
            <a:ext cx="7953271" cy="6093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/>
              <a:t>Methods include </a:t>
            </a:r>
            <a:r>
              <a:rPr lang="en-US" sz="2000" dirty="0" smtClean="0"/>
              <a:t>for selecting IT  project is focusing </a:t>
            </a:r>
            <a:r>
              <a:rPr lang="en-US" sz="2000" dirty="0"/>
              <a:t>on </a:t>
            </a:r>
            <a:r>
              <a:rPr lang="en-US" sz="2000" b="1" i="1" dirty="0">
                <a:solidFill>
                  <a:srgbClr val="FF0000"/>
                </a:solidFill>
              </a:rPr>
              <a:t>broad needs</a:t>
            </a:r>
            <a:r>
              <a:rPr lang="en-US" sz="2000" dirty="0">
                <a:solidFill>
                  <a:srgbClr val="FF0000"/>
                </a:solidFill>
              </a:rPr>
              <a:t>, </a:t>
            </a:r>
            <a:r>
              <a:rPr lang="en-US" sz="2000" b="1" i="1" dirty="0">
                <a:solidFill>
                  <a:srgbClr val="0070C0"/>
                </a:solidFill>
              </a:rPr>
              <a:t>categorizing projects</a:t>
            </a:r>
            <a:r>
              <a:rPr lang="en-US" sz="2000" dirty="0">
                <a:solidFill>
                  <a:srgbClr val="FF0000"/>
                </a:solidFill>
              </a:rPr>
              <a:t>, </a:t>
            </a:r>
            <a:r>
              <a:rPr lang="en-US" sz="2000" b="1" i="1" dirty="0">
                <a:solidFill>
                  <a:srgbClr val="00B050"/>
                </a:solidFill>
              </a:rPr>
              <a:t>financial methods</a:t>
            </a:r>
            <a:r>
              <a:rPr lang="en-US" sz="2000" dirty="0">
                <a:solidFill>
                  <a:srgbClr val="FF0000"/>
                </a:solidFill>
              </a:rPr>
              <a:t>, and </a:t>
            </a:r>
            <a:r>
              <a:rPr lang="en-US" sz="2000" b="1" i="1" dirty="0">
                <a:solidFill>
                  <a:srgbClr val="990099"/>
                </a:solidFill>
              </a:rPr>
              <a:t>weighted scoring </a:t>
            </a:r>
            <a:r>
              <a:rPr lang="en-US" sz="2000" b="1" i="1" dirty="0" smtClean="0">
                <a:solidFill>
                  <a:srgbClr val="990099"/>
                </a:solidFill>
              </a:rPr>
              <a:t>models</a:t>
            </a: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/>
              <a:t>Three </a:t>
            </a:r>
            <a:r>
              <a:rPr lang="en-US" sz="2000" dirty="0"/>
              <a:t>primary methods for determining the projected financial value of </a:t>
            </a:r>
            <a:r>
              <a:rPr lang="en-US" sz="2000" dirty="0" smtClean="0"/>
              <a:t>projects: </a:t>
            </a:r>
            <a:r>
              <a:rPr lang="en-US" sz="2000" dirty="0" smtClean="0">
                <a:solidFill>
                  <a:srgbClr val="FF0000"/>
                </a:solidFill>
              </a:rPr>
              <a:t>Net </a:t>
            </a:r>
            <a:r>
              <a:rPr lang="en-US" sz="2000" dirty="0">
                <a:solidFill>
                  <a:srgbClr val="FF0000"/>
                </a:solidFill>
              </a:rPr>
              <a:t>present value (NPV) </a:t>
            </a:r>
            <a:r>
              <a:rPr lang="en-US" sz="2000" dirty="0" smtClean="0">
                <a:solidFill>
                  <a:srgbClr val="FF0000"/>
                </a:solidFill>
              </a:rPr>
              <a:t>analysis</a:t>
            </a:r>
            <a:r>
              <a:rPr lang="en-US" sz="2000" dirty="0" smtClean="0"/>
              <a:t>, </a:t>
            </a:r>
            <a:r>
              <a:rPr lang="en-US" sz="2000" dirty="0" smtClean="0">
                <a:solidFill>
                  <a:srgbClr val="00B050"/>
                </a:solidFill>
              </a:rPr>
              <a:t>Return </a:t>
            </a:r>
            <a:r>
              <a:rPr lang="en-US" sz="2000" dirty="0">
                <a:solidFill>
                  <a:srgbClr val="00B050"/>
                </a:solidFill>
              </a:rPr>
              <a:t>on investment (</a:t>
            </a:r>
            <a:r>
              <a:rPr lang="en-US" sz="2000" dirty="0" smtClean="0">
                <a:solidFill>
                  <a:srgbClr val="00B050"/>
                </a:solidFill>
              </a:rPr>
              <a:t>ROI)</a:t>
            </a:r>
            <a:r>
              <a:rPr lang="en-US" sz="2000" dirty="0" smtClean="0">
                <a:solidFill>
                  <a:srgbClr val="FF0000"/>
                </a:solidFill>
              </a:rPr>
              <a:t>, Payback </a:t>
            </a:r>
            <a:r>
              <a:rPr lang="en-US" sz="2000" dirty="0">
                <a:solidFill>
                  <a:srgbClr val="FF0000"/>
                </a:solidFill>
              </a:rPr>
              <a:t>analysis</a:t>
            </a: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/>
              <a:t>Scope statement is used for scope planning and WBS is used for scope definition.</a:t>
            </a: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/>
              <a:t>WBS is develop using </a:t>
            </a:r>
            <a:r>
              <a:rPr lang="en-US" sz="2000" dirty="0" smtClean="0">
                <a:solidFill>
                  <a:srgbClr val="00B050"/>
                </a:solidFill>
              </a:rPr>
              <a:t>product oriented </a:t>
            </a:r>
            <a:r>
              <a:rPr lang="en-US" sz="2000" dirty="0" smtClean="0"/>
              <a:t>and </a:t>
            </a:r>
            <a:r>
              <a:rPr lang="en-US" sz="2000" dirty="0" smtClean="0">
                <a:solidFill>
                  <a:srgbClr val="FF0000"/>
                </a:solidFill>
              </a:rPr>
              <a:t>process oriented</a:t>
            </a:r>
            <a:r>
              <a:rPr lang="en-US" sz="2000" dirty="0" smtClean="0"/>
              <a:t>.</a:t>
            </a:r>
          </a:p>
          <a:p>
            <a:pPr marL="342900" indent="-342900" eaLnBrk="1" hangingPunct="1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000" dirty="0" smtClean="0"/>
              <a:t>Scope validation </a:t>
            </a:r>
            <a:r>
              <a:rPr lang="en-US" sz="2000" dirty="0"/>
              <a:t>involves formal acceptance of the completed project deliverables </a:t>
            </a:r>
            <a:br>
              <a:rPr lang="en-US" sz="2000" dirty="0"/>
            </a:br>
            <a:r>
              <a:rPr lang="en-US" sz="2000" dirty="0"/>
              <a:t/>
            </a:r>
            <a:br>
              <a:rPr lang="en-US" sz="2000" dirty="0"/>
            </a:b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6002219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410575" y="6477000"/>
            <a:ext cx="733425" cy="274638"/>
          </a:xfrm>
          <a:prstGeom prst="rect">
            <a:avLst/>
          </a:prstGeom>
        </p:spPr>
        <p:txBody>
          <a:bodyPr/>
          <a:lstStyle/>
          <a:p>
            <a:fld id="{D478541C-0DF6-4E72-841D-78836C7C8725}" type="slidenum">
              <a:rPr lang="en-GB" altLang="en-US" smtClean="0"/>
              <a:pPr/>
              <a:t>33</a:t>
            </a:fld>
            <a:endParaRPr lang="en-GB" altLang="en-US"/>
          </a:p>
        </p:txBody>
      </p:sp>
      <p:sp>
        <p:nvSpPr>
          <p:cNvPr id="3" name="TextBox 2"/>
          <p:cNvSpPr txBox="1"/>
          <p:nvPr/>
        </p:nvSpPr>
        <p:spPr>
          <a:xfrm>
            <a:off x="1600200" y="914400"/>
            <a:ext cx="571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/>
              <a:t>Home work</a:t>
            </a: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609600" y="2057400"/>
            <a:ext cx="795327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/>
              <a:t>Select a software project and prepare a work break down structure using </a:t>
            </a:r>
            <a:r>
              <a:rPr lang="en-US" sz="2800" dirty="0">
                <a:solidFill>
                  <a:srgbClr val="FF0000"/>
                </a:solidFill>
              </a:rPr>
              <a:t>product oriented </a:t>
            </a:r>
            <a:r>
              <a:rPr lang="en-US" sz="2800" dirty="0"/>
              <a:t>and </a:t>
            </a:r>
            <a:r>
              <a:rPr lang="en-US" sz="2800" dirty="0">
                <a:solidFill>
                  <a:srgbClr val="FF0000"/>
                </a:solidFill>
              </a:rPr>
              <a:t>process </a:t>
            </a:r>
            <a:r>
              <a:rPr lang="en-US" sz="2800" dirty="0" smtClean="0">
                <a:solidFill>
                  <a:srgbClr val="FF0000"/>
                </a:solidFill>
              </a:rPr>
              <a:t>oriented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800" dirty="0" smtClean="0"/>
              <a:t>By next weak you are come with a project title you are interesting to develop a project plan for this course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505200"/>
            <a:ext cx="8229600" cy="1143000"/>
          </a:xfrm>
        </p:spPr>
        <p:txBody>
          <a:bodyPr/>
          <a:lstStyle/>
          <a:p>
            <a:pPr algn="ctr"/>
            <a:r>
              <a:rPr lang="en-US" dirty="0" smtClean="0"/>
              <a:t>I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8410575" y="6477000"/>
            <a:ext cx="733425" cy="274638"/>
          </a:xfrm>
          <a:prstGeom prst="rect">
            <a:avLst/>
          </a:prstGeom>
        </p:spPr>
        <p:txBody>
          <a:bodyPr/>
          <a:lstStyle/>
          <a:p>
            <a:fld id="{D478541C-0DF6-4E72-841D-78836C7C8725}" type="slidenum">
              <a:rPr lang="en-GB" altLang="en-US" smtClean="0"/>
              <a:pPr/>
              <a:t>34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6466619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theme/_rels/themeOverr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jpeg"/></Relationships>
</file>

<file path=ppt/theme/theme1.xml><?xml version="1.0" encoding="utf-8"?>
<a:theme xmlns:a="http://schemas.openxmlformats.org/drawingml/2006/main" name="Theme15">
  <a:themeElements>
    <a:clrScheme name="Profile 10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00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00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10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00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00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="" xmlns:thm15="http://schemas.microsoft.com/office/thememl/2012/main" name="Theme15" id="{880C9D84-309F-486A-8D25-5E34B4635D31}" vid="{9E9E3EC4-F9FF-4BAB-B2C8-9ED60FC07925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riel">
    <a:dk1>
      <a:sysClr val="windowText" lastClr="000000"/>
    </a:dk1>
    <a:lt1>
      <a:sysClr val="window" lastClr="FFFFFF"/>
    </a:lt1>
    <a:dk2>
      <a:srgbClr val="575F6D"/>
    </a:dk2>
    <a:lt2>
      <a:srgbClr val="FFF39D"/>
    </a:lt2>
    <a:accent1>
      <a:srgbClr val="FE8637"/>
    </a:accent1>
    <a:accent2>
      <a:srgbClr val="7598D9"/>
    </a:accent2>
    <a:accent3>
      <a:srgbClr val="B32C16"/>
    </a:accent3>
    <a:accent4>
      <a:srgbClr val="F5CD2D"/>
    </a:accent4>
    <a:accent5>
      <a:srgbClr val="AEBAD5"/>
    </a:accent5>
    <a:accent6>
      <a:srgbClr val="777C84"/>
    </a:accent6>
    <a:hlink>
      <a:srgbClr val="D2611C"/>
    </a:hlink>
    <a:folHlink>
      <a:srgbClr val="3B435B"/>
    </a:folHlink>
  </a:clrScheme>
  <a:fontScheme name="Oriel">
    <a:majorFont>
      <a:latin typeface="Century Schoolbook"/>
      <a:ea typeface=""/>
      <a:cs typeface=""/>
      <a:font script="Jpan" typeface="ＭＳ Ｐ明朝"/>
      <a:font script="Hang" typeface="휴먼매직체"/>
      <a:font script="Hans" typeface="华文楷体"/>
      <a:font script="Hant" typeface="新細明體"/>
      <a:font script="Arab" typeface="Times New Roman"/>
      <a:font script="Hebr" typeface="Times New Roman"/>
      <a:font script="Thai" typeface="KodchiangUPC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ajorFont>
    <a:minorFont>
      <a:latin typeface="Century Schoolbook"/>
      <a:ea typeface=""/>
      <a:cs typeface=""/>
      <a:font script="Jpan" typeface="ＭＳ Ｐ明朝"/>
      <a:font script="Hang" typeface="휴먼매직체"/>
      <a:font script="Hans" typeface="宋体"/>
      <a:font script="Hant" typeface="新細明體"/>
      <a:font script="Arab" typeface="Times New Roman"/>
      <a:font script="Hebr" typeface="Times New Roman"/>
      <a:font script="Thai" typeface="KodchiangUPC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</a:minorFont>
  </a:fontScheme>
  <a:fmtScheme name="Oriel">
    <a:fillStyleLst>
      <a:solidFill>
        <a:schemeClr val="phClr"/>
      </a:solidFill>
      <a:gradFill rotWithShape="1">
        <a:gsLst>
          <a:gs pos="0">
            <a:schemeClr val="phClr">
              <a:tint val="35000"/>
              <a:satMod val="260000"/>
            </a:schemeClr>
          </a:gs>
          <a:gs pos="30000">
            <a:schemeClr val="phClr">
              <a:tint val="38000"/>
              <a:satMod val="260000"/>
            </a:schemeClr>
          </a:gs>
          <a:gs pos="75000">
            <a:schemeClr val="phClr">
              <a:tint val="55000"/>
              <a:satMod val="255000"/>
            </a:schemeClr>
          </a:gs>
          <a:gs pos="100000">
            <a:schemeClr val="phClr">
              <a:tint val="70000"/>
              <a:satMod val="255000"/>
            </a:schemeClr>
          </a:gs>
        </a:gsLst>
        <a:path path="circle">
          <a:fillToRect l="5000" t="100000" r="120000" b="10000"/>
        </a:path>
      </a:gradFill>
      <a:gradFill rotWithShape="1">
        <a:gsLst>
          <a:gs pos="0">
            <a:schemeClr val="phClr">
              <a:shade val="63000"/>
              <a:satMod val="165000"/>
            </a:schemeClr>
          </a:gs>
          <a:gs pos="30000">
            <a:schemeClr val="phClr">
              <a:shade val="58000"/>
              <a:satMod val="165000"/>
            </a:schemeClr>
          </a:gs>
          <a:gs pos="75000">
            <a:schemeClr val="phClr">
              <a:shade val="30000"/>
              <a:satMod val="175000"/>
            </a:schemeClr>
          </a:gs>
          <a:gs pos="100000">
            <a:schemeClr val="phClr">
              <a:shade val="15000"/>
              <a:satMod val="175000"/>
            </a:schemeClr>
          </a:gs>
        </a:gsLst>
        <a:path path="circle">
          <a:fillToRect l="5000" t="100000" r="120000" b="10000"/>
        </a:path>
      </a:gradFill>
    </a:fillStyleLst>
    <a:lnStyleLst>
      <a:ln w="12700" cap="flat" cmpd="sng" algn="ctr">
        <a:solidFill>
          <a:schemeClr val="phClr">
            <a:shade val="70000"/>
            <a:satMod val="150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4925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50800" dist="25000" dir="5400000" rotWithShape="0">
            <a:srgbClr val="000000">
              <a:alpha val="40000"/>
            </a:srgbClr>
          </a:outerShdw>
        </a:effectLst>
      </a:effectStyle>
      <a:effectStyle>
        <a:effectLst>
          <a:outerShdw blurRad="50800" dist="20000" dir="5400000" rotWithShape="0">
            <a:srgbClr val="000000">
              <a:alpha val="42000"/>
            </a:srgbClr>
          </a:outerShdw>
        </a:effectLst>
      </a:effectStyle>
      <a:effectStyle>
        <a:effectLst>
          <a:outerShdw blurRad="50800" dist="20000" dir="5400000" rotWithShape="0">
            <a:srgbClr val="000000">
              <a:alpha val="42000"/>
            </a:srgbClr>
          </a:outerShdw>
        </a:effectLst>
        <a:scene3d>
          <a:camera prst="orthographicFront">
            <a:rot lat="0" lon="0" rev="0"/>
          </a:camera>
          <a:lightRig rig="balanced" dir="t">
            <a:rot lat="0" lon="0" rev="0"/>
          </a:lightRig>
        </a:scene3d>
        <a:sp3d>
          <a:bevelT w="47625" h="69850"/>
          <a:contourClr>
            <a:schemeClr val="lt1"/>
          </a:contourClr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shade val="58000"/>
              <a:satMod val="125000"/>
            </a:schemeClr>
          </a:gs>
          <a:gs pos="40000">
            <a:schemeClr val="phClr">
              <a:tint val="90000"/>
              <a:shade val="90000"/>
              <a:satMod val="120000"/>
            </a:schemeClr>
          </a:gs>
          <a:gs pos="100000">
            <a:schemeClr val="phClr">
              <a:tint val="50000"/>
            </a:schemeClr>
          </a:gs>
        </a:gsLst>
        <a:lin ang="16200000" scaled="1"/>
      </a:gradFill>
      <a:blipFill>
        <a:blip xmlns:r="http://schemas.openxmlformats.org/officeDocument/2006/relationships" r:embed="rId1">
          <a:duotone>
            <a:schemeClr val="phClr">
              <a:shade val="80000"/>
            </a:schemeClr>
            <a:schemeClr val="phClr">
              <a:tint val="91000"/>
            </a:schemeClr>
          </a:duotone>
        </a:blip>
        <a:tile tx="0" ty="0" sx="40000" sy="50000" flip="y" algn="tl"/>
      </a:blip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Theme4</Template>
  <TotalTime>6283</TotalTime>
  <Words>1426</Words>
  <Application>Microsoft Office PowerPoint</Application>
  <PresentationFormat>On-screen Show (4:3)</PresentationFormat>
  <Paragraphs>182</Paragraphs>
  <Slides>34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Theme15</vt:lpstr>
      <vt:lpstr>Project Scope Management</vt:lpstr>
      <vt:lpstr>What is Project Scope Management?</vt:lpstr>
      <vt:lpstr>Project Scope Management Processes</vt:lpstr>
      <vt:lpstr>Project Initiation: Strategic Planning and Project Selection</vt:lpstr>
      <vt:lpstr>Identifying Potential Projects</vt:lpstr>
      <vt:lpstr>Information Technology Planning Process</vt:lpstr>
      <vt:lpstr>Methods for Selecting Projects</vt:lpstr>
      <vt:lpstr>Focusing on Broad Organizational Needs</vt:lpstr>
      <vt:lpstr>Categorizing IT Projects</vt:lpstr>
      <vt:lpstr>Financial Analysis of Projects</vt:lpstr>
      <vt:lpstr>Definition of terms</vt:lpstr>
      <vt:lpstr>Net Present Value Analysis</vt:lpstr>
      <vt:lpstr>- NPV can be computed using the following formula</vt:lpstr>
      <vt:lpstr>NET PRESENT VALUE EXAMPLE</vt:lpstr>
      <vt:lpstr>Return on Investment</vt:lpstr>
      <vt:lpstr>Payback Analysis</vt:lpstr>
      <vt:lpstr>NPV, ROI, AND PAYBACK ANALYSIS FOR PROJECT 1</vt:lpstr>
      <vt:lpstr>NPV, ROI, and Payback Analysis for Project 2</vt:lpstr>
      <vt:lpstr>Weighted Scoring Model</vt:lpstr>
      <vt:lpstr>PowerPoint Presentation</vt:lpstr>
      <vt:lpstr>SAMPLE WEIGHTED SCORING MODEL FOR PROJECT SELECTION</vt:lpstr>
      <vt:lpstr>Project Charters</vt:lpstr>
      <vt:lpstr>Scope Planning and the Scope Statement</vt:lpstr>
      <vt:lpstr>Scope Planning and the Work Breakdown Structure</vt:lpstr>
      <vt:lpstr>The Work Breakdown Structure</vt:lpstr>
      <vt:lpstr>Sample Intranet WBS Organized by Product </vt:lpstr>
      <vt:lpstr>Intranet Project … Level-2 WBS</vt:lpstr>
      <vt:lpstr>Sample Intranet WBS Organized by Phase</vt:lpstr>
      <vt:lpstr>Approaches to Developing WBSs</vt:lpstr>
      <vt:lpstr>Scope Verification and Scope Change Control</vt:lpstr>
      <vt:lpstr>PowerPoint Presentation</vt:lpstr>
      <vt:lpstr>PowerPoint Presentation</vt:lpstr>
      <vt:lpstr>PowerPoint Presentation</vt:lpstr>
      <vt:lpstr>I thank you.</vt:lpstr>
    </vt:vector>
  </TitlesOfParts>
  <Company>Addis Ababa University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4: Project Scope Management</dc:title>
  <dc:creator>Your User Name</dc:creator>
  <cp:lastModifiedBy>hp</cp:lastModifiedBy>
  <cp:revision>149</cp:revision>
  <dcterms:created xsi:type="dcterms:W3CDTF">2003-01-19T12:40:24Z</dcterms:created>
  <dcterms:modified xsi:type="dcterms:W3CDTF">2026-02-12T07:28:12Z</dcterms:modified>
</cp:coreProperties>
</file>