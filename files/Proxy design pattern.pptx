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8288000" cy="10287000"/>
  <p:notesSz cx="6858000" cy="9144000"/>
  <p:embeddedFontLst>
    <p:embeddedFont>
      <p:font typeface="Canva Sans Bold" charset="1" panose="020B0803030501040103"/>
      <p:regular r:id="rId20"/>
    </p:embeddedFont>
    <p:embeddedFont>
      <p:font typeface="Canva Sans" charset="1" panose="020B0503030501040103"/>
      <p:regular r:id="rId21"/>
    </p:embeddedFont>
    <p:embeddedFont>
      <p:font typeface="Canva Sans Bold Italics" charset="1" panose="020B0803030501040103"/>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06715" y="2562960"/>
            <a:ext cx="9255595" cy="1014350"/>
            <a:chOff x="0" y="0"/>
            <a:chExt cx="2437688" cy="267154"/>
          </a:xfrm>
        </p:grpSpPr>
        <p:sp>
          <p:nvSpPr>
            <p:cNvPr name="Freeform 3" id="3"/>
            <p:cNvSpPr/>
            <p:nvPr/>
          </p:nvSpPr>
          <p:spPr>
            <a:xfrm flipH="false" flipV="false" rot="0">
              <a:off x="0" y="0"/>
              <a:ext cx="2437688" cy="267154"/>
            </a:xfrm>
            <a:custGeom>
              <a:avLst/>
              <a:gdLst/>
              <a:ahLst/>
              <a:cxnLst/>
              <a:rect r="r" b="b" t="t" l="l"/>
              <a:pathLst>
                <a:path h="267154" w="2437688">
                  <a:moveTo>
                    <a:pt x="41823" y="0"/>
                  </a:moveTo>
                  <a:lnTo>
                    <a:pt x="2395865" y="0"/>
                  </a:lnTo>
                  <a:cubicBezTo>
                    <a:pt x="2418963" y="0"/>
                    <a:pt x="2437688" y="18725"/>
                    <a:pt x="2437688" y="41823"/>
                  </a:cubicBezTo>
                  <a:lnTo>
                    <a:pt x="2437688" y="225331"/>
                  </a:lnTo>
                  <a:cubicBezTo>
                    <a:pt x="2437688" y="248429"/>
                    <a:pt x="2418963" y="267154"/>
                    <a:pt x="2395865" y="267154"/>
                  </a:cubicBezTo>
                  <a:lnTo>
                    <a:pt x="41823" y="267154"/>
                  </a:lnTo>
                  <a:cubicBezTo>
                    <a:pt x="18725" y="267154"/>
                    <a:pt x="0" y="248429"/>
                    <a:pt x="0" y="225331"/>
                  </a:cubicBezTo>
                  <a:lnTo>
                    <a:pt x="0" y="41823"/>
                  </a:lnTo>
                  <a:cubicBezTo>
                    <a:pt x="0" y="18725"/>
                    <a:pt x="18725" y="0"/>
                    <a:pt x="41823" y="0"/>
                  </a:cubicBezTo>
                  <a:close/>
                </a:path>
              </a:pathLst>
            </a:custGeom>
            <a:solidFill>
              <a:srgbClr val="7C6AF2"/>
            </a:solidFill>
          </p:spPr>
        </p:sp>
        <p:sp>
          <p:nvSpPr>
            <p:cNvPr name="TextBox 4" id="4"/>
            <p:cNvSpPr txBox="true"/>
            <p:nvPr/>
          </p:nvSpPr>
          <p:spPr>
            <a:xfrm>
              <a:off x="0" y="-38100"/>
              <a:ext cx="2437688" cy="305254"/>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8452326" y="3758551"/>
            <a:ext cx="9255595" cy="6488536"/>
            <a:chOff x="0" y="0"/>
            <a:chExt cx="2437688" cy="1708915"/>
          </a:xfrm>
        </p:grpSpPr>
        <p:sp>
          <p:nvSpPr>
            <p:cNvPr name="Freeform 6" id="6"/>
            <p:cNvSpPr/>
            <p:nvPr/>
          </p:nvSpPr>
          <p:spPr>
            <a:xfrm flipH="false" flipV="false" rot="0">
              <a:off x="0" y="0"/>
              <a:ext cx="2437688" cy="1708915"/>
            </a:xfrm>
            <a:custGeom>
              <a:avLst/>
              <a:gdLst/>
              <a:ahLst/>
              <a:cxnLst/>
              <a:rect r="r" b="b" t="t" l="l"/>
              <a:pathLst>
                <a:path h="1708915" w="2437688">
                  <a:moveTo>
                    <a:pt x="25094" y="0"/>
                  </a:moveTo>
                  <a:lnTo>
                    <a:pt x="2412594" y="0"/>
                  </a:lnTo>
                  <a:cubicBezTo>
                    <a:pt x="2426453" y="0"/>
                    <a:pt x="2437688" y="11235"/>
                    <a:pt x="2437688" y="25094"/>
                  </a:cubicBezTo>
                  <a:lnTo>
                    <a:pt x="2437688" y="1683821"/>
                  </a:lnTo>
                  <a:cubicBezTo>
                    <a:pt x="2437688" y="1697680"/>
                    <a:pt x="2426453" y="1708915"/>
                    <a:pt x="2412594" y="1708915"/>
                  </a:cubicBezTo>
                  <a:lnTo>
                    <a:pt x="25094" y="1708915"/>
                  </a:lnTo>
                  <a:cubicBezTo>
                    <a:pt x="11235" y="1708915"/>
                    <a:pt x="0" y="1697680"/>
                    <a:pt x="0" y="1683821"/>
                  </a:cubicBezTo>
                  <a:lnTo>
                    <a:pt x="0" y="25094"/>
                  </a:lnTo>
                  <a:cubicBezTo>
                    <a:pt x="0" y="11235"/>
                    <a:pt x="11235" y="0"/>
                    <a:pt x="25094" y="0"/>
                  </a:cubicBezTo>
                  <a:close/>
                </a:path>
              </a:pathLst>
            </a:custGeom>
            <a:solidFill>
              <a:srgbClr val="FEFEFE"/>
            </a:solidFill>
            <a:ln w="19050" cap="rnd">
              <a:solidFill>
                <a:srgbClr val="181818"/>
              </a:solidFill>
              <a:prstDash val="solid"/>
              <a:round/>
            </a:ln>
          </p:spPr>
        </p:sp>
        <p:sp>
          <p:nvSpPr>
            <p:cNvPr name="TextBox 7" id="7"/>
            <p:cNvSpPr txBox="true"/>
            <p:nvPr/>
          </p:nvSpPr>
          <p:spPr>
            <a:xfrm>
              <a:off x="0" y="-38100"/>
              <a:ext cx="2437688" cy="1747015"/>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8" id="8"/>
          <p:cNvGrpSpPr/>
          <p:nvPr/>
        </p:nvGrpSpPr>
        <p:grpSpPr>
          <a:xfrm rot="0">
            <a:off x="8900947" y="4148569"/>
            <a:ext cx="8358353" cy="5708501"/>
            <a:chOff x="0" y="0"/>
            <a:chExt cx="1433934" cy="979333"/>
          </a:xfrm>
        </p:grpSpPr>
        <p:sp>
          <p:nvSpPr>
            <p:cNvPr name="Freeform 9" id="9"/>
            <p:cNvSpPr/>
            <p:nvPr/>
          </p:nvSpPr>
          <p:spPr>
            <a:xfrm flipH="false" flipV="false" rot="0">
              <a:off x="0" y="0"/>
              <a:ext cx="1433934" cy="979333"/>
            </a:xfrm>
            <a:custGeom>
              <a:avLst/>
              <a:gdLst/>
              <a:ahLst/>
              <a:cxnLst/>
              <a:rect r="r" b="b" t="t" l="l"/>
              <a:pathLst>
                <a:path h="979333" w="1433934">
                  <a:moveTo>
                    <a:pt x="27787" y="0"/>
                  </a:moveTo>
                  <a:lnTo>
                    <a:pt x="1406146" y="0"/>
                  </a:lnTo>
                  <a:cubicBezTo>
                    <a:pt x="1413516" y="0"/>
                    <a:pt x="1420584" y="2928"/>
                    <a:pt x="1425795" y="8139"/>
                  </a:cubicBezTo>
                  <a:cubicBezTo>
                    <a:pt x="1431006" y="13350"/>
                    <a:pt x="1433934" y="20418"/>
                    <a:pt x="1433934" y="27787"/>
                  </a:cubicBezTo>
                  <a:lnTo>
                    <a:pt x="1433934" y="951546"/>
                  </a:lnTo>
                  <a:cubicBezTo>
                    <a:pt x="1433934" y="958915"/>
                    <a:pt x="1431006" y="965983"/>
                    <a:pt x="1425795" y="971194"/>
                  </a:cubicBezTo>
                  <a:cubicBezTo>
                    <a:pt x="1420584" y="976406"/>
                    <a:pt x="1413516" y="979333"/>
                    <a:pt x="1406146" y="979333"/>
                  </a:cubicBezTo>
                  <a:lnTo>
                    <a:pt x="27787" y="979333"/>
                  </a:lnTo>
                  <a:cubicBezTo>
                    <a:pt x="20418" y="979333"/>
                    <a:pt x="13350" y="976406"/>
                    <a:pt x="8139" y="971194"/>
                  </a:cubicBezTo>
                  <a:cubicBezTo>
                    <a:pt x="2928" y="965983"/>
                    <a:pt x="0" y="958915"/>
                    <a:pt x="0" y="951546"/>
                  </a:cubicBezTo>
                  <a:lnTo>
                    <a:pt x="0" y="27787"/>
                  </a:lnTo>
                  <a:cubicBezTo>
                    <a:pt x="0" y="20418"/>
                    <a:pt x="2928" y="13350"/>
                    <a:pt x="8139" y="8139"/>
                  </a:cubicBezTo>
                  <a:cubicBezTo>
                    <a:pt x="13350" y="2928"/>
                    <a:pt x="20418" y="0"/>
                    <a:pt x="27787" y="0"/>
                  </a:cubicBezTo>
                  <a:close/>
                </a:path>
              </a:pathLst>
            </a:custGeom>
            <a:blipFill>
              <a:blip r:embed="rId2"/>
              <a:stretch>
                <a:fillRect l="-1158" t="0" r="-1158" b="0"/>
              </a:stretch>
            </a:blipFill>
          </p:spPr>
        </p:sp>
      </p:grpSp>
      <p:sp>
        <p:nvSpPr>
          <p:cNvPr name="Freeform 10" id="10"/>
          <p:cNvSpPr/>
          <p:nvPr/>
        </p:nvSpPr>
        <p:spPr>
          <a:xfrm flipH="false" flipV="false" rot="0">
            <a:off x="1028700" y="8738215"/>
            <a:ext cx="668334" cy="520085"/>
          </a:xfrm>
          <a:custGeom>
            <a:avLst/>
            <a:gdLst/>
            <a:ahLst/>
            <a:cxnLst/>
            <a:rect r="r" b="b" t="t" l="l"/>
            <a:pathLst>
              <a:path h="520085" w="668334">
                <a:moveTo>
                  <a:pt x="0" y="0"/>
                </a:moveTo>
                <a:lnTo>
                  <a:pt x="668334" y="0"/>
                </a:lnTo>
                <a:lnTo>
                  <a:pt x="668334" y="520085"/>
                </a:lnTo>
                <a:lnTo>
                  <a:pt x="0" y="52008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1" id="11"/>
          <p:cNvSpPr/>
          <p:nvPr/>
        </p:nvSpPr>
        <p:spPr>
          <a:xfrm flipH="false" flipV="false" rot="0">
            <a:off x="3023252" y="4261893"/>
            <a:ext cx="3506019" cy="4736364"/>
          </a:xfrm>
          <a:custGeom>
            <a:avLst/>
            <a:gdLst/>
            <a:ahLst/>
            <a:cxnLst/>
            <a:rect r="r" b="b" t="t" l="l"/>
            <a:pathLst>
              <a:path h="4736364" w="3506019">
                <a:moveTo>
                  <a:pt x="0" y="0"/>
                </a:moveTo>
                <a:lnTo>
                  <a:pt x="3506020" y="0"/>
                </a:lnTo>
                <a:lnTo>
                  <a:pt x="3506020" y="4736364"/>
                </a:lnTo>
                <a:lnTo>
                  <a:pt x="0" y="4736364"/>
                </a:lnTo>
                <a:lnTo>
                  <a:pt x="0" y="0"/>
                </a:lnTo>
                <a:close/>
              </a:path>
            </a:pathLst>
          </a:custGeom>
          <a:blipFill>
            <a:blip r:embed="rId5"/>
            <a:stretch>
              <a:fillRect l="0" t="0" r="0" b="0"/>
            </a:stretch>
          </a:blipFill>
        </p:spPr>
      </p:sp>
      <p:sp>
        <p:nvSpPr>
          <p:cNvPr name="TextBox 12" id="12"/>
          <p:cNvSpPr txBox="true"/>
          <p:nvPr/>
        </p:nvSpPr>
        <p:spPr>
          <a:xfrm rot="0">
            <a:off x="697434" y="861481"/>
            <a:ext cx="16893132" cy="1223987"/>
          </a:xfrm>
          <a:prstGeom prst="rect">
            <a:avLst/>
          </a:prstGeom>
        </p:spPr>
        <p:txBody>
          <a:bodyPr anchor="t" rtlCol="false" tIns="0" lIns="0" bIns="0" rIns="0">
            <a:spAutoFit/>
          </a:bodyPr>
          <a:lstStyle/>
          <a:p>
            <a:pPr algn="l">
              <a:lnSpc>
                <a:spcPts val="9160"/>
              </a:lnSpc>
            </a:pPr>
            <a:r>
              <a:rPr lang="en-US" b="true" sz="9160">
                <a:solidFill>
                  <a:srgbClr val="181818"/>
                </a:solidFill>
                <a:latin typeface="Canva Sans Bold"/>
                <a:ea typeface="Canva Sans Bold"/>
                <a:cs typeface="Canva Sans Bold"/>
                <a:sym typeface="Canva Sans Bold"/>
              </a:rPr>
              <a:t>THE PROXY DESI</a:t>
            </a:r>
            <a:r>
              <a:rPr lang="en-US" b="true" sz="9160">
                <a:solidFill>
                  <a:srgbClr val="181818"/>
                </a:solidFill>
                <a:latin typeface="Canva Sans Bold"/>
                <a:ea typeface="Canva Sans Bold"/>
                <a:cs typeface="Canva Sans Bold"/>
                <a:sym typeface="Canva Sans Bold"/>
              </a:rPr>
              <a:t>GN PATTERN</a:t>
            </a:r>
          </a:p>
        </p:txBody>
      </p:sp>
      <p:sp>
        <p:nvSpPr>
          <p:cNvPr name="TextBox 13" id="13"/>
          <p:cNvSpPr txBox="true"/>
          <p:nvPr/>
        </p:nvSpPr>
        <p:spPr>
          <a:xfrm rot="0">
            <a:off x="1697034" y="2772637"/>
            <a:ext cx="7945294" cy="537846"/>
          </a:xfrm>
          <a:prstGeom prst="rect">
            <a:avLst/>
          </a:prstGeom>
        </p:spPr>
        <p:txBody>
          <a:bodyPr anchor="t" rtlCol="false" tIns="0" lIns="0" bIns="0" rIns="0">
            <a:spAutoFit/>
          </a:bodyPr>
          <a:lstStyle/>
          <a:p>
            <a:pPr algn="l">
              <a:lnSpc>
                <a:spcPts val="4479"/>
              </a:lnSpc>
              <a:spcBef>
                <a:spcPct val="0"/>
              </a:spcBef>
            </a:pPr>
            <a:r>
              <a:rPr lang="en-US" b="true" sz="3199">
                <a:solidFill>
                  <a:srgbClr val="FFFFFF"/>
                </a:solidFill>
                <a:latin typeface="Canva Sans Bold"/>
                <a:ea typeface="Canva Sans Bold"/>
                <a:cs typeface="Canva Sans Bold"/>
                <a:sym typeface="Canva Sans Bold"/>
              </a:rPr>
              <a:t>STRUCTURAL DESIGN PATTERN IN JAVA</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EFEFE"/>
        </a:solidFill>
      </p:bgPr>
    </p:bg>
    <p:spTree>
      <p:nvGrpSpPr>
        <p:cNvPr id="1" name=""/>
        <p:cNvGrpSpPr/>
        <p:nvPr/>
      </p:nvGrpSpPr>
      <p:grpSpPr>
        <a:xfrm>
          <a:off x="0" y="0"/>
          <a:ext cx="0" cy="0"/>
          <a:chOff x="0" y="0"/>
          <a:chExt cx="0" cy="0"/>
        </a:xfrm>
      </p:grpSpPr>
      <p:grpSp>
        <p:nvGrpSpPr>
          <p:cNvPr name="Group 2" id="2"/>
          <p:cNvGrpSpPr/>
          <p:nvPr/>
        </p:nvGrpSpPr>
        <p:grpSpPr>
          <a:xfrm rot="0">
            <a:off x="696677" y="669650"/>
            <a:ext cx="9255595" cy="718099"/>
            <a:chOff x="0" y="0"/>
            <a:chExt cx="2437688" cy="189129"/>
          </a:xfrm>
        </p:grpSpPr>
        <p:sp>
          <p:nvSpPr>
            <p:cNvPr name="Freeform 3" id="3"/>
            <p:cNvSpPr/>
            <p:nvPr/>
          </p:nvSpPr>
          <p:spPr>
            <a:xfrm flipH="false" flipV="false" rot="0">
              <a:off x="0" y="0"/>
              <a:ext cx="2437688" cy="189129"/>
            </a:xfrm>
            <a:custGeom>
              <a:avLst/>
              <a:gdLst/>
              <a:ahLst/>
              <a:cxnLst/>
              <a:rect r="r" b="b" t="t" l="l"/>
              <a:pathLst>
                <a:path h="189129" w="2437688">
                  <a:moveTo>
                    <a:pt x="41823" y="0"/>
                  </a:moveTo>
                  <a:lnTo>
                    <a:pt x="2395865" y="0"/>
                  </a:lnTo>
                  <a:cubicBezTo>
                    <a:pt x="2418963" y="0"/>
                    <a:pt x="2437688" y="18725"/>
                    <a:pt x="2437688" y="41823"/>
                  </a:cubicBezTo>
                  <a:lnTo>
                    <a:pt x="2437688" y="147306"/>
                  </a:lnTo>
                  <a:cubicBezTo>
                    <a:pt x="2437688" y="170404"/>
                    <a:pt x="2418963" y="189129"/>
                    <a:pt x="2395865" y="189129"/>
                  </a:cubicBezTo>
                  <a:lnTo>
                    <a:pt x="41823" y="189129"/>
                  </a:lnTo>
                  <a:cubicBezTo>
                    <a:pt x="18725" y="189129"/>
                    <a:pt x="0" y="170404"/>
                    <a:pt x="0" y="147306"/>
                  </a:cubicBezTo>
                  <a:lnTo>
                    <a:pt x="0" y="41823"/>
                  </a:lnTo>
                  <a:cubicBezTo>
                    <a:pt x="0" y="18725"/>
                    <a:pt x="18725" y="0"/>
                    <a:pt x="41823" y="0"/>
                  </a:cubicBezTo>
                  <a:close/>
                </a:path>
              </a:pathLst>
            </a:custGeom>
            <a:solidFill>
              <a:srgbClr val="7C6AF2"/>
            </a:solidFill>
          </p:spPr>
        </p:sp>
        <p:sp>
          <p:nvSpPr>
            <p:cNvPr name="TextBox 4" id="4"/>
            <p:cNvSpPr txBox="true"/>
            <p:nvPr/>
          </p:nvSpPr>
          <p:spPr>
            <a:xfrm>
              <a:off x="0" y="-38100"/>
              <a:ext cx="2437688" cy="227229"/>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9671538" y="3350530"/>
            <a:ext cx="8171210" cy="3195998"/>
            <a:chOff x="0" y="0"/>
            <a:chExt cx="2152088" cy="841744"/>
          </a:xfrm>
        </p:grpSpPr>
        <p:sp>
          <p:nvSpPr>
            <p:cNvPr name="Freeform 6" id="6"/>
            <p:cNvSpPr/>
            <p:nvPr/>
          </p:nvSpPr>
          <p:spPr>
            <a:xfrm flipH="false" flipV="false" rot="0">
              <a:off x="0" y="0"/>
              <a:ext cx="2152088" cy="841744"/>
            </a:xfrm>
            <a:custGeom>
              <a:avLst/>
              <a:gdLst/>
              <a:ahLst/>
              <a:cxnLst/>
              <a:rect r="r" b="b" t="t" l="l"/>
              <a:pathLst>
                <a:path h="841744" w="2152088">
                  <a:moveTo>
                    <a:pt x="28424" y="0"/>
                  </a:moveTo>
                  <a:lnTo>
                    <a:pt x="2123665" y="0"/>
                  </a:lnTo>
                  <a:cubicBezTo>
                    <a:pt x="2131203" y="0"/>
                    <a:pt x="2138433" y="2995"/>
                    <a:pt x="2143763" y="8325"/>
                  </a:cubicBezTo>
                  <a:cubicBezTo>
                    <a:pt x="2149094" y="13656"/>
                    <a:pt x="2152088" y="20885"/>
                    <a:pt x="2152088" y="28424"/>
                  </a:cubicBezTo>
                  <a:lnTo>
                    <a:pt x="2152088" y="813321"/>
                  </a:lnTo>
                  <a:cubicBezTo>
                    <a:pt x="2152088" y="820859"/>
                    <a:pt x="2149094" y="828089"/>
                    <a:pt x="2143763" y="833419"/>
                  </a:cubicBezTo>
                  <a:cubicBezTo>
                    <a:pt x="2138433" y="838750"/>
                    <a:pt x="2131203" y="841744"/>
                    <a:pt x="2123665" y="841744"/>
                  </a:cubicBezTo>
                  <a:lnTo>
                    <a:pt x="28424" y="841744"/>
                  </a:lnTo>
                  <a:cubicBezTo>
                    <a:pt x="20885" y="841744"/>
                    <a:pt x="13656" y="838750"/>
                    <a:pt x="8325" y="833419"/>
                  </a:cubicBezTo>
                  <a:cubicBezTo>
                    <a:pt x="2995" y="828089"/>
                    <a:pt x="0" y="820859"/>
                    <a:pt x="0" y="813321"/>
                  </a:cubicBezTo>
                  <a:lnTo>
                    <a:pt x="0" y="28424"/>
                  </a:lnTo>
                  <a:cubicBezTo>
                    <a:pt x="0" y="20885"/>
                    <a:pt x="2995" y="13656"/>
                    <a:pt x="8325" y="8325"/>
                  </a:cubicBezTo>
                  <a:cubicBezTo>
                    <a:pt x="13656" y="2995"/>
                    <a:pt x="20885" y="0"/>
                    <a:pt x="28424" y="0"/>
                  </a:cubicBezTo>
                  <a:close/>
                </a:path>
              </a:pathLst>
            </a:custGeom>
            <a:solidFill>
              <a:srgbClr val="FEFEFE"/>
            </a:solidFill>
            <a:ln w="19050" cap="rnd">
              <a:solidFill>
                <a:srgbClr val="181818"/>
              </a:solidFill>
              <a:prstDash val="solid"/>
              <a:round/>
            </a:ln>
          </p:spPr>
        </p:sp>
        <p:sp>
          <p:nvSpPr>
            <p:cNvPr name="TextBox 7" id="7"/>
            <p:cNvSpPr txBox="true"/>
            <p:nvPr/>
          </p:nvSpPr>
          <p:spPr>
            <a:xfrm>
              <a:off x="0" y="-38100"/>
              <a:ext cx="2152088" cy="879844"/>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8" id="8"/>
          <p:cNvGrpSpPr/>
          <p:nvPr/>
        </p:nvGrpSpPr>
        <p:grpSpPr>
          <a:xfrm rot="0">
            <a:off x="9796104" y="3569271"/>
            <a:ext cx="7889438" cy="2931366"/>
            <a:chOff x="0" y="0"/>
            <a:chExt cx="1174649" cy="436448"/>
          </a:xfrm>
        </p:grpSpPr>
        <p:sp>
          <p:nvSpPr>
            <p:cNvPr name="Freeform 9" id="9"/>
            <p:cNvSpPr/>
            <p:nvPr/>
          </p:nvSpPr>
          <p:spPr>
            <a:xfrm flipH="false" flipV="false" rot="0">
              <a:off x="0" y="0"/>
              <a:ext cx="1174649" cy="436448"/>
            </a:xfrm>
            <a:custGeom>
              <a:avLst/>
              <a:gdLst/>
              <a:ahLst/>
              <a:cxnLst/>
              <a:rect r="r" b="b" t="t" l="l"/>
              <a:pathLst>
                <a:path h="436448" w="1174649">
                  <a:moveTo>
                    <a:pt x="29439" y="0"/>
                  </a:moveTo>
                  <a:lnTo>
                    <a:pt x="1145210" y="0"/>
                  </a:lnTo>
                  <a:cubicBezTo>
                    <a:pt x="1161469" y="0"/>
                    <a:pt x="1174649" y="13180"/>
                    <a:pt x="1174649" y="29439"/>
                  </a:cubicBezTo>
                  <a:lnTo>
                    <a:pt x="1174649" y="407008"/>
                  </a:lnTo>
                  <a:cubicBezTo>
                    <a:pt x="1174649" y="423267"/>
                    <a:pt x="1161469" y="436448"/>
                    <a:pt x="1145210" y="436448"/>
                  </a:cubicBezTo>
                  <a:lnTo>
                    <a:pt x="29439" y="436448"/>
                  </a:lnTo>
                  <a:cubicBezTo>
                    <a:pt x="21631" y="436448"/>
                    <a:pt x="14143" y="433346"/>
                    <a:pt x="8623" y="427825"/>
                  </a:cubicBezTo>
                  <a:cubicBezTo>
                    <a:pt x="3102" y="422304"/>
                    <a:pt x="0" y="414816"/>
                    <a:pt x="0" y="407008"/>
                  </a:cubicBezTo>
                  <a:lnTo>
                    <a:pt x="0" y="29439"/>
                  </a:lnTo>
                  <a:cubicBezTo>
                    <a:pt x="0" y="21631"/>
                    <a:pt x="3102" y="14143"/>
                    <a:pt x="8623" y="8623"/>
                  </a:cubicBezTo>
                  <a:cubicBezTo>
                    <a:pt x="14143" y="3102"/>
                    <a:pt x="21631" y="0"/>
                    <a:pt x="29439" y="0"/>
                  </a:cubicBezTo>
                  <a:close/>
                </a:path>
              </a:pathLst>
            </a:custGeom>
            <a:blipFill>
              <a:blip r:embed="rId2"/>
              <a:stretch>
                <a:fillRect l="-1604" t="0" r="-1604" b="0"/>
              </a:stretch>
            </a:blipFill>
          </p:spPr>
        </p:sp>
      </p:grpSp>
      <p:sp>
        <p:nvSpPr>
          <p:cNvPr name="TextBox 10" id="10"/>
          <p:cNvSpPr txBox="true"/>
          <p:nvPr/>
        </p:nvSpPr>
        <p:spPr>
          <a:xfrm rot="0">
            <a:off x="677627" y="1702616"/>
            <a:ext cx="15347736" cy="961733"/>
          </a:xfrm>
          <a:prstGeom prst="rect">
            <a:avLst/>
          </a:prstGeom>
        </p:spPr>
        <p:txBody>
          <a:bodyPr anchor="t" rtlCol="false" tIns="0" lIns="0" bIns="0" rIns="0">
            <a:spAutoFit/>
          </a:bodyPr>
          <a:lstStyle/>
          <a:p>
            <a:pPr algn="l">
              <a:lnSpc>
                <a:spcPts val="7251"/>
              </a:lnSpc>
            </a:pPr>
            <a:r>
              <a:rPr lang="en-US" b="true" sz="7251">
                <a:solidFill>
                  <a:srgbClr val="181818"/>
                </a:solidFill>
                <a:latin typeface="Canva Sans Bold"/>
                <a:ea typeface="Canva Sans Bold"/>
                <a:cs typeface="Canva Sans Bold"/>
                <a:sym typeface="Canva Sans Bold"/>
              </a:rPr>
              <a:t>WHAT IS PROXY DESIGN PATTERN</a:t>
            </a:r>
          </a:p>
        </p:txBody>
      </p:sp>
      <p:sp>
        <p:nvSpPr>
          <p:cNvPr name="TextBox 11" id="11"/>
          <p:cNvSpPr txBox="true"/>
          <p:nvPr/>
        </p:nvSpPr>
        <p:spPr>
          <a:xfrm rot="0">
            <a:off x="824410" y="3215890"/>
            <a:ext cx="8461346" cy="3683001"/>
          </a:xfrm>
          <a:prstGeom prst="rect">
            <a:avLst/>
          </a:prstGeom>
        </p:spPr>
        <p:txBody>
          <a:bodyPr anchor="t" rtlCol="false" tIns="0" lIns="0" bIns="0" rIns="0">
            <a:spAutoFit/>
          </a:bodyPr>
          <a:lstStyle/>
          <a:p>
            <a:pPr algn="l">
              <a:lnSpc>
                <a:spcPts val="4899"/>
              </a:lnSpc>
              <a:spcBef>
                <a:spcPct val="0"/>
              </a:spcBef>
            </a:pPr>
            <a:r>
              <a:rPr lang="en-US" sz="3499">
                <a:solidFill>
                  <a:srgbClr val="181818"/>
                </a:solidFill>
                <a:latin typeface="Canva Sans"/>
                <a:ea typeface="Canva Sans"/>
                <a:cs typeface="Canva Sans"/>
                <a:sym typeface="Canva Sans"/>
              </a:rPr>
              <a:t>structural design pattern that provides an intermediary for accessing a real object. The proxy object controls the access to the real object, adding an additional layer of functionality, such as logging, caching, or access control</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EFEFE"/>
        </a:solidFill>
      </p:bgPr>
    </p:bg>
    <p:spTree>
      <p:nvGrpSpPr>
        <p:cNvPr id="1" name=""/>
        <p:cNvGrpSpPr/>
        <p:nvPr/>
      </p:nvGrpSpPr>
      <p:grpSpPr>
        <a:xfrm>
          <a:off x="0" y="0"/>
          <a:ext cx="0" cy="0"/>
          <a:chOff x="0" y="0"/>
          <a:chExt cx="0" cy="0"/>
        </a:xfrm>
      </p:grpSpPr>
      <p:grpSp>
        <p:nvGrpSpPr>
          <p:cNvPr name="Group 2" id="2"/>
          <p:cNvGrpSpPr/>
          <p:nvPr/>
        </p:nvGrpSpPr>
        <p:grpSpPr>
          <a:xfrm rot="0">
            <a:off x="677627" y="669650"/>
            <a:ext cx="9255595" cy="718099"/>
            <a:chOff x="0" y="0"/>
            <a:chExt cx="2437688" cy="189129"/>
          </a:xfrm>
        </p:grpSpPr>
        <p:sp>
          <p:nvSpPr>
            <p:cNvPr name="Freeform 3" id="3"/>
            <p:cNvSpPr/>
            <p:nvPr/>
          </p:nvSpPr>
          <p:spPr>
            <a:xfrm flipH="false" flipV="false" rot="0">
              <a:off x="0" y="0"/>
              <a:ext cx="2437688" cy="189129"/>
            </a:xfrm>
            <a:custGeom>
              <a:avLst/>
              <a:gdLst/>
              <a:ahLst/>
              <a:cxnLst/>
              <a:rect r="r" b="b" t="t" l="l"/>
              <a:pathLst>
                <a:path h="189129" w="2437688">
                  <a:moveTo>
                    <a:pt x="41823" y="0"/>
                  </a:moveTo>
                  <a:lnTo>
                    <a:pt x="2395865" y="0"/>
                  </a:lnTo>
                  <a:cubicBezTo>
                    <a:pt x="2418963" y="0"/>
                    <a:pt x="2437688" y="18725"/>
                    <a:pt x="2437688" y="41823"/>
                  </a:cubicBezTo>
                  <a:lnTo>
                    <a:pt x="2437688" y="147306"/>
                  </a:lnTo>
                  <a:cubicBezTo>
                    <a:pt x="2437688" y="170404"/>
                    <a:pt x="2418963" y="189129"/>
                    <a:pt x="2395865" y="189129"/>
                  </a:cubicBezTo>
                  <a:lnTo>
                    <a:pt x="41823" y="189129"/>
                  </a:lnTo>
                  <a:cubicBezTo>
                    <a:pt x="18725" y="189129"/>
                    <a:pt x="0" y="170404"/>
                    <a:pt x="0" y="147306"/>
                  </a:cubicBezTo>
                  <a:lnTo>
                    <a:pt x="0" y="41823"/>
                  </a:lnTo>
                  <a:cubicBezTo>
                    <a:pt x="0" y="18725"/>
                    <a:pt x="18725" y="0"/>
                    <a:pt x="41823" y="0"/>
                  </a:cubicBezTo>
                  <a:close/>
                </a:path>
              </a:pathLst>
            </a:custGeom>
            <a:solidFill>
              <a:srgbClr val="7C6AF2"/>
            </a:solidFill>
          </p:spPr>
        </p:sp>
        <p:sp>
          <p:nvSpPr>
            <p:cNvPr name="TextBox 4" id="4"/>
            <p:cNvSpPr txBox="true"/>
            <p:nvPr/>
          </p:nvSpPr>
          <p:spPr>
            <a:xfrm>
              <a:off x="0" y="-38100"/>
              <a:ext cx="2437688" cy="227229"/>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1028700" y="2918605"/>
            <a:ext cx="9408889" cy="5210176"/>
          </a:xfrm>
          <a:prstGeom prst="rect">
            <a:avLst/>
          </a:prstGeom>
        </p:spPr>
        <p:txBody>
          <a:bodyPr anchor="t" rtlCol="false" tIns="0" lIns="0" bIns="0" rIns="0">
            <a:spAutoFit/>
          </a:bodyPr>
          <a:lstStyle/>
          <a:p>
            <a:pPr algn="l">
              <a:lnSpc>
                <a:spcPts val="4199"/>
              </a:lnSpc>
            </a:pPr>
            <a:r>
              <a:rPr lang="en-US" sz="2999" b="true">
                <a:solidFill>
                  <a:srgbClr val="181818"/>
                </a:solidFill>
                <a:latin typeface="Canva Sans Bold"/>
                <a:ea typeface="Canva Sans Bold"/>
                <a:cs typeface="Canva Sans Bold"/>
                <a:sym typeface="Canva Sans Bold"/>
              </a:rPr>
              <a:t>Definition:</a:t>
            </a:r>
            <a:r>
              <a:rPr lang="en-US" sz="2999">
                <a:solidFill>
                  <a:srgbClr val="181818"/>
                </a:solidFill>
                <a:latin typeface="Canva Sans"/>
                <a:ea typeface="Canva Sans"/>
                <a:cs typeface="Canva Sans"/>
                <a:sym typeface="Canva Sans"/>
              </a:rPr>
              <a:t> To provide a surrogate or placeholder for another object to control access to it.</a:t>
            </a:r>
          </a:p>
          <a:p>
            <a:pPr algn="l">
              <a:lnSpc>
                <a:spcPts val="4199"/>
              </a:lnSpc>
            </a:pPr>
          </a:p>
          <a:p>
            <a:pPr algn="l">
              <a:lnSpc>
                <a:spcPts val="4199"/>
              </a:lnSpc>
            </a:pPr>
            <a:r>
              <a:rPr lang="en-US" sz="2999" b="true">
                <a:solidFill>
                  <a:srgbClr val="181818"/>
                </a:solidFill>
                <a:latin typeface="Canva Sans Bold"/>
                <a:ea typeface="Canva Sans Bold"/>
                <a:cs typeface="Canva Sans Bold"/>
                <a:sym typeface="Canva Sans Bold"/>
              </a:rPr>
              <a:t>The Goal:</a:t>
            </a:r>
            <a:r>
              <a:rPr lang="en-US" sz="2999">
                <a:solidFill>
                  <a:srgbClr val="181818"/>
                </a:solidFill>
                <a:latin typeface="Canva Sans"/>
                <a:ea typeface="Canva Sans"/>
                <a:cs typeface="Canva Sans"/>
                <a:sym typeface="Canva Sans"/>
              </a:rPr>
              <a:t> The Proxy acts as a "Gatekeeper" or "Agent" for the Real Object.</a:t>
            </a:r>
          </a:p>
          <a:p>
            <a:pPr algn="l">
              <a:lnSpc>
                <a:spcPts val="4199"/>
              </a:lnSpc>
            </a:pPr>
          </a:p>
          <a:p>
            <a:pPr algn="l">
              <a:lnSpc>
                <a:spcPts val="4199"/>
              </a:lnSpc>
            </a:pPr>
            <a:r>
              <a:rPr lang="en-US" sz="2999" b="true">
                <a:solidFill>
                  <a:srgbClr val="181818"/>
                </a:solidFill>
                <a:latin typeface="Canva Sans Bold"/>
                <a:ea typeface="Canva Sans Bold"/>
                <a:cs typeface="Canva Sans Bold"/>
                <a:sym typeface="Canva Sans Bold"/>
              </a:rPr>
              <a:t>Transparency:</a:t>
            </a:r>
            <a:r>
              <a:rPr lang="en-US" sz="2999">
                <a:solidFill>
                  <a:srgbClr val="181818"/>
                </a:solidFill>
                <a:latin typeface="Canva Sans"/>
                <a:ea typeface="Canva Sans"/>
                <a:cs typeface="Canva Sans"/>
                <a:sym typeface="Canva Sans"/>
              </a:rPr>
              <a:t> The Client interacts with the Proxy as if it were the Real Object, using the same interface.</a:t>
            </a:r>
          </a:p>
          <a:p>
            <a:pPr algn="l">
              <a:lnSpc>
                <a:spcPts val="4199"/>
              </a:lnSpc>
              <a:spcBef>
                <a:spcPct val="0"/>
              </a:spcBef>
            </a:pPr>
          </a:p>
        </p:txBody>
      </p:sp>
      <p:grpSp>
        <p:nvGrpSpPr>
          <p:cNvPr name="Group 6" id="6"/>
          <p:cNvGrpSpPr/>
          <p:nvPr/>
        </p:nvGrpSpPr>
        <p:grpSpPr>
          <a:xfrm rot="0">
            <a:off x="10333675" y="3457578"/>
            <a:ext cx="7497134" cy="3371844"/>
            <a:chOff x="0" y="0"/>
            <a:chExt cx="1974554" cy="888058"/>
          </a:xfrm>
        </p:grpSpPr>
        <p:sp>
          <p:nvSpPr>
            <p:cNvPr name="Freeform 7" id="7"/>
            <p:cNvSpPr/>
            <p:nvPr/>
          </p:nvSpPr>
          <p:spPr>
            <a:xfrm flipH="false" flipV="false" rot="0">
              <a:off x="0" y="0"/>
              <a:ext cx="1974554" cy="888058"/>
            </a:xfrm>
            <a:custGeom>
              <a:avLst/>
              <a:gdLst/>
              <a:ahLst/>
              <a:cxnLst/>
              <a:rect r="r" b="b" t="t" l="l"/>
              <a:pathLst>
                <a:path h="888058" w="1974554">
                  <a:moveTo>
                    <a:pt x="30980" y="0"/>
                  </a:moveTo>
                  <a:lnTo>
                    <a:pt x="1943574" y="0"/>
                  </a:lnTo>
                  <a:cubicBezTo>
                    <a:pt x="1960684" y="0"/>
                    <a:pt x="1974554" y="13870"/>
                    <a:pt x="1974554" y="30980"/>
                  </a:cubicBezTo>
                  <a:lnTo>
                    <a:pt x="1974554" y="857078"/>
                  </a:lnTo>
                  <a:cubicBezTo>
                    <a:pt x="1974554" y="865294"/>
                    <a:pt x="1971290" y="873174"/>
                    <a:pt x="1965480" y="878984"/>
                  </a:cubicBezTo>
                  <a:cubicBezTo>
                    <a:pt x="1959670" y="884794"/>
                    <a:pt x="1951791" y="888058"/>
                    <a:pt x="1943574" y="888058"/>
                  </a:cubicBezTo>
                  <a:lnTo>
                    <a:pt x="30980" y="888058"/>
                  </a:lnTo>
                  <a:cubicBezTo>
                    <a:pt x="13870" y="888058"/>
                    <a:pt x="0" y="874188"/>
                    <a:pt x="0" y="857078"/>
                  </a:cubicBezTo>
                  <a:lnTo>
                    <a:pt x="0" y="30980"/>
                  </a:lnTo>
                  <a:cubicBezTo>
                    <a:pt x="0" y="13870"/>
                    <a:pt x="13870" y="0"/>
                    <a:pt x="30980" y="0"/>
                  </a:cubicBezTo>
                  <a:close/>
                </a:path>
              </a:pathLst>
            </a:custGeom>
            <a:solidFill>
              <a:srgbClr val="FEFEFE"/>
            </a:solidFill>
            <a:ln w="19050" cap="rnd">
              <a:solidFill>
                <a:srgbClr val="181818"/>
              </a:solidFill>
              <a:prstDash val="solid"/>
              <a:round/>
            </a:ln>
          </p:spPr>
        </p:sp>
        <p:sp>
          <p:nvSpPr>
            <p:cNvPr name="TextBox 8" id="8"/>
            <p:cNvSpPr txBox="true"/>
            <p:nvPr/>
          </p:nvSpPr>
          <p:spPr>
            <a:xfrm>
              <a:off x="0" y="-38100"/>
              <a:ext cx="1974554" cy="926158"/>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9" id="9"/>
          <p:cNvGrpSpPr/>
          <p:nvPr/>
        </p:nvGrpSpPr>
        <p:grpSpPr>
          <a:xfrm rot="0">
            <a:off x="10559044" y="3734934"/>
            <a:ext cx="7154517" cy="2838222"/>
            <a:chOff x="0" y="0"/>
            <a:chExt cx="1100186" cy="436448"/>
          </a:xfrm>
        </p:grpSpPr>
        <p:sp>
          <p:nvSpPr>
            <p:cNvPr name="Freeform 10" id="10"/>
            <p:cNvSpPr/>
            <p:nvPr/>
          </p:nvSpPr>
          <p:spPr>
            <a:xfrm flipH="false" flipV="false" rot="0">
              <a:off x="0" y="0"/>
              <a:ext cx="1100186" cy="436448"/>
            </a:xfrm>
            <a:custGeom>
              <a:avLst/>
              <a:gdLst/>
              <a:ahLst/>
              <a:cxnLst/>
              <a:rect r="r" b="b" t="t" l="l"/>
              <a:pathLst>
                <a:path h="436448" w="1100186">
                  <a:moveTo>
                    <a:pt x="32463" y="0"/>
                  </a:moveTo>
                  <a:lnTo>
                    <a:pt x="1067723" y="0"/>
                  </a:lnTo>
                  <a:cubicBezTo>
                    <a:pt x="1076332" y="0"/>
                    <a:pt x="1084589" y="3420"/>
                    <a:pt x="1090677" y="9508"/>
                  </a:cubicBezTo>
                  <a:cubicBezTo>
                    <a:pt x="1096765" y="15596"/>
                    <a:pt x="1100186" y="23853"/>
                    <a:pt x="1100186" y="32463"/>
                  </a:cubicBezTo>
                  <a:lnTo>
                    <a:pt x="1100186" y="403984"/>
                  </a:lnTo>
                  <a:cubicBezTo>
                    <a:pt x="1100186" y="412594"/>
                    <a:pt x="1096765" y="420851"/>
                    <a:pt x="1090677" y="426939"/>
                  </a:cubicBezTo>
                  <a:cubicBezTo>
                    <a:pt x="1084589" y="433027"/>
                    <a:pt x="1076332" y="436448"/>
                    <a:pt x="1067723" y="436448"/>
                  </a:cubicBezTo>
                  <a:lnTo>
                    <a:pt x="32463" y="436448"/>
                  </a:lnTo>
                  <a:cubicBezTo>
                    <a:pt x="23853" y="436448"/>
                    <a:pt x="15596" y="433027"/>
                    <a:pt x="9508" y="426939"/>
                  </a:cubicBezTo>
                  <a:cubicBezTo>
                    <a:pt x="3420" y="420851"/>
                    <a:pt x="0" y="412594"/>
                    <a:pt x="0" y="403984"/>
                  </a:cubicBezTo>
                  <a:lnTo>
                    <a:pt x="0" y="32463"/>
                  </a:lnTo>
                  <a:cubicBezTo>
                    <a:pt x="0" y="23853"/>
                    <a:pt x="3420" y="15596"/>
                    <a:pt x="9508" y="9508"/>
                  </a:cubicBezTo>
                  <a:cubicBezTo>
                    <a:pt x="15596" y="3420"/>
                    <a:pt x="23853" y="0"/>
                    <a:pt x="32463" y="0"/>
                  </a:cubicBezTo>
                  <a:close/>
                </a:path>
              </a:pathLst>
            </a:custGeom>
            <a:blipFill>
              <a:blip r:embed="rId2"/>
              <a:stretch>
                <a:fillRect l="0" t="-14026" r="0" b="-14026"/>
              </a:stretch>
            </a:blipFill>
          </p:spPr>
        </p:sp>
      </p:grpSp>
      <p:sp>
        <p:nvSpPr>
          <p:cNvPr name="TextBox 11" id="11"/>
          <p:cNvSpPr txBox="true"/>
          <p:nvPr/>
        </p:nvSpPr>
        <p:spPr>
          <a:xfrm rot="0">
            <a:off x="677627" y="1702616"/>
            <a:ext cx="15347736" cy="961733"/>
          </a:xfrm>
          <a:prstGeom prst="rect">
            <a:avLst/>
          </a:prstGeom>
        </p:spPr>
        <p:txBody>
          <a:bodyPr anchor="t" rtlCol="false" tIns="0" lIns="0" bIns="0" rIns="0">
            <a:spAutoFit/>
          </a:bodyPr>
          <a:lstStyle/>
          <a:p>
            <a:pPr algn="l">
              <a:lnSpc>
                <a:spcPts val="7251"/>
              </a:lnSpc>
            </a:pPr>
            <a:r>
              <a:rPr lang="en-US" b="true" sz="7251">
                <a:solidFill>
                  <a:srgbClr val="181818"/>
                </a:solidFill>
                <a:latin typeface="Canva Sans Bold"/>
                <a:ea typeface="Canva Sans Bold"/>
                <a:cs typeface="Canva Sans Bold"/>
                <a:sym typeface="Canva Sans Bold"/>
              </a:rPr>
              <a:t> WHAT IS THE INTENT?</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EFEFE"/>
        </a:solidFill>
      </p:bgPr>
    </p:bg>
    <p:spTree>
      <p:nvGrpSpPr>
        <p:cNvPr id="1" name=""/>
        <p:cNvGrpSpPr/>
        <p:nvPr/>
      </p:nvGrpSpPr>
      <p:grpSpPr>
        <a:xfrm>
          <a:off x="0" y="0"/>
          <a:ext cx="0" cy="0"/>
          <a:chOff x="0" y="0"/>
          <a:chExt cx="0" cy="0"/>
        </a:xfrm>
      </p:grpSpPr>
      <p:grpSp>
        <p:nvGrpSpPr>
          <p:cNvPr name="Group 2" id="2"/>
          <p:cNvGrpSpPr/>
          <p:nvPr/>
        </p:nvGrpSpPr>
        <p:grpSpPr>
          <a:xfrm rot="0">
            <a:off x="965408" y="2822610"/>
            <a:ext cx="9255595" cy="718099"/>
            <a:chOff x="0" y="0"/>
            <a:chExt cx="2437688" cy="189129"/>
          </a:xfrm>
        </p:grpSpPr>
        <p:sp>
          <p:nvSpPr>
            <p:cNvPr name="Freeform 3" id="3"/>
            <p:cNvSpPr/>
            <p:nvPr/>
          </p:nvSpPr>
          <p:spPr>
            <a:xfrm flipH="false" flipV="false" rot="0">
              <a:off x="0" y="0"/>
              <a:ext cx="2437688" cy="189129"/>
            </a:xfrm>
            <a:custGeom>
              <a:avLst/>
              <a:gdLst/>
              <a:ahLst/>
              <a:cxnLst/>
              <a:rect r="r" b="b" t="t" l="l"/>
              <a:pathLst>
                <a:path h="189129" w="2437688">
                  <a:moveTo>
                    <a:pt x="41823" y="0"/>
                  </a:moveTo>
                  <a:lnTo>
                    <a:pt x="2395865" y="0"/>
                  </a:lnTo>
                  <a:cubicBezTo>
                    <a:pt x="2418963" y="0"/>
                    <a:pt x="2437688" y="18725"/>
                    <a:pt x="2437688" y="41823"/>
                  </a:cubicBezTo>
                  <a:lnTo>
                    <a:pt x="2437688" y="147306"/>
                  </a:lnTo>
                  <a:cubicBezTo>
                    <a:pt x="2437688" y="170404"/>
                    <a:pt x="2418963" y="189129"/>
                    <a:pt x="2395865" y="189129"/>
                  </a:cubicBezTo>
                  <a:lnTo>
                    <a:pt x="41823" y="189129"/>
                  </a:lnTo>
                  <a:cubicBezTo>
                    <a:pt x="18725" y="189129"/>
                    <a:pt x="0" y="170404"/>
                    <a:pt x="0" y="147306"/>
                  </a:cubicBezTo>
                  <a:lnTo>
                    <a:pt x="0" y="41823"/>
                  </a:lnTo>
                  <a:cubicBezTo>
                    <a:pt x="0" y="18725"/>
                    <a:pt x="18725" y="0"/>
                    <a:pt x="41823" y="0"/>
                  </a:cubicBezTo>
                  <a:close/>
                </a:path>
              </a:pathLst>
            </a:custGeom>
            <a:solidFill>
              <a:srgbClr val="7C6AF2"/>
            </a:solidFill>
          </p:spPr>
        </p:sp>
        <p:sp>
          <p:nvSpPr>
            <p:cNvPr name="TextBox 4" id="4"/>
            <p:cNvSpPr txBox="true"/>
            <p:nvPr/>
          </p:nvSpPr>
          <p:spPr>
            <a:xfrm>
              <a:off x="0" y="-38100"/>
              <a:ext cx="2437688" cy="227229"/>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1191643" y="3385495"/>
            <a:ext cx="6685945" cy="3420116"/>
            <a:chOff x="0" y="0"/>
            <a:chExt cx="921388" cy="471325"/>
          </a:xfrm>
        </p:grpSpPr>
        <p:sp>
          <p:nvSpPr>
            <p:cNvPr name="Freeform 6" id="6"/>
            <p:cNvSpPr/>
            <p:nvPr/>
          </p:nvSpPr>
          <p:spPr>
            <a:xfrm flipH="false" flipV="false" rot="0">
              <a:off x="0" y="0"/>
              <a:ext cx="921388" cy="471325"/>
            </a:xfrm>
            <a:custGeom>
              <a:avLst/>
              <a:gdLst/>
              <a:ahLst/>
              <a:cxnLst/>
              <a:rect r="r" b="b" t="t" l="l"/>
              <a:pathLst>
                <a:path h="471325" w="921388">
                  <a:moveTo>
                    <a:pt x="34738" y="0"/>
                  </a:moveTo>
                  <a:lnTo>
                    <a:pt x="886650" y="0"/>
                  </a:lnTo>
                  <a:cubicBezTo>
                    <a:pt x="905836" y="0"/>
                    <a:pt x="921388" y="15553"/>
                    <a:pt x="921388" y="34738"/>
                  </a:cubicBezTo>
                  <a:lnTo>
                    <a:pt x="921388" y="436587"/>
                  </a:lnTo>
                  <a:cubicBezTo>
                    <a:pt x="921388" y="455773"/>
                    <a:pt x="905836" y="471325"/>
                    <a:pt x="886650" y="471325"/>
                  </a:cubicBezTo>
                  <a:lnTo>
                    <a:pt x="34738" y="471325"/>
                  </a:lnTo>
                  <a:cubicBezTo>
                    <a:pt x="15553" y="471325"/>
                    <a:pt x="0" y="455773"/>
                    <a:pt x="0" y="436587"/>
                  </a:cubicBezTo>
                  <a:lnTo>
                    <a:pt x="0" y="34738"/>
                  </a:lnTo>
                  <a:cubicBezTo>
                    <a:pt x="0" y="15553"/>
                    <a:pt x="15553" y="0"/>
                    <a:pt x="34738" y="0"/>
                  </a:cubicBezTo>
                  <a:close/>
                </a:path>
              </a:pathLst>
            </a:custGeom>
            <a:blipFill>
              <a:blip r:embed="rId2"/>
              <a:stretch>
                <a:fillRect l="-950" t="-10312" r="-32572" b="-22808"/>
              </a:stretch>
            </a:blipFill>
          </p:spPr>
        </p:sp>
      </p:grpSp>
      <p:sp>
        <p:nvSpPr>
          <p:cNvPr name="TextBox 7" id="7"/>
          <p:cNvSpPr txBox="true"/>
          <p:nvPr/>
        </p:nvSpPr>
        <p:spPr>
          <a:xfrm rot="0">
            <a:off x="1028700" y="1658741"/>
            <a:ext cx="15347736" cy="961733"/>
          </a:xfrm>
          <a:prstGeom prst="rect">
            <a:avLst/>
          </a:prstGeom>
        </p:spPr>
        <p:txBody>
          <a:bodyPr anchor="t" rtlCol="false" tIns="0" lIns="0" bIns="0" rIns="0">
            <a:spAutoFit/>
          </a:bodyPr>
          <a:lstStyle/>
          <a:p>
            <a:pPr algn="l">
              <a:lnSpc>
                <a:spcPts val="7251"/>
              </a:lnSpc>
            </a:pPr>
            <a:r>
              <a:rPr lang="en-US" b="true" sz="7251">
                <a:solidFill>
                  <a:srgbClr val="181818"/>
                </a:solidFill>
                <a:latin typeface="Canva Sans Bold"/>
                <a:ea typeface="Canva Sans Bold"/>
                <a:cs typeface="Canva Sans Bold"/>
                <a:sym typeface="Canva Sans Bold"/>
              </a:rPr>
              <a:t>THE REAL-WORLD ANALOGY</a:t>
            </a:r>
          </a:p>
        </p:txBody>
      </p:sp>
      <p:sp>
        <p:nvSpPr>
          <p:cNvPr name="TextBox 8" id="8"/>
          <p:cNvSpPr txBox="true"/>
          <p:nvPr/>
        </p:nvSpPr>
        <p:spPr>
          <a:xfrm rot="0">
            <a:off x="1218254" y="2920675"/>
            <a:ext cx="4374952" cy="464821"/>
          </a:xfrm>
          <a:prstGeom prst="rect">
            <a:avLst/>
          </a:prstGeom>
        </p:spPr>
        <p:txBody>
          <a:bodyPr anchor="t" rtlCol="false" tIns="0" lIns="0" bIns="0" rIns="0">
            <a:spAutoFit/>
          </a:bodyPr>
          <a:lstStyle/>
          <a:p>
            <a:pPr algn="ctr">
              <a:lnSpc>
                <a:spcPts val="3779"/>
              </a:lnSpc>
              <a:spcBef>
                <a:spcPct val="0"/>
              </a:spcBef>
            </a:pPr>
            <a:r>
              <a:rPr lang="en-US" b="true" sz="2699">
                <a:solidFill>
                  <a:srgbClr val="FFFFFF"/>
                </a:solidFill>
                <a:latin typeface="Canva Sans Bold"/>
                <a:ea typeface="Canva Sans Bold"/>
                <a:cs typeface="Canva Sans Bold"/>
                <a:sym typeface="Canva Sans Bold"/>
              </a:rPr>
              <a:t>The "Credit Card" Analogy</a:t>
            </a:r>
          </a:p>
        </p:txBody>
      </p:sp>
      <p:sp>
        <p:nvSpPr>
          <p:cNvPr name="TextBox 9" id="9"/>
          <p:cNvSpPr txBox="true"/>
          <p:nvPr/>
        </p:nvSpPr>
        <p:spPr>
          <a:xfrm rot="0">
            <a:off x="979621" y="3861418"/>
            <a:ext cx="10874592" cy="1047750"/>
          </a:xfrm>
          <a:prstGeom prst="rect">
            <a:avLst/>
          </a:prstGeom>
        </p:spPr>
        <p:txBody>
          <a:bodyPr anchor="t" rtlCol="false" tIns="0" lIns="0" bIns="0" rIns="0">
            <a:spAutoFit/>
          </a:bodyPr>
          <a:lstStyle/>
          <a:p>
            <a:pPr algn="l">
              <a:lnSpc>
                <a:spcPts val="4200"/>
              </a:lnSpc>
              <a:spcBef>
                <a:spcPct val="0"/>
              </a:spcBef>
            </a:pPr>
            <a:r>
              <a:rPr lang="en-US" b="true" sz="3000">
                <a:solidFill>
                  <a:srgbClr val="181818"/>
                </a:solidFill>
                <a:latin typeface="Canva Sans Bold"/>
                <a:ea typeface="Canva Sans Bold"/>
                <a:cs typeface="Canva Sans Bold"/>
                <a:sym typeface="Canva Sans Bold"/>
              </a:rPr>
              <a:t>Real Subject</a:t>
            </a:r>
            <a:r>
              <a:rPr lang="en-US" sz="3000">
                <a:solidFill>
                  <a:srgbClr val="181818"/>
                </a:solidFill>
                <a:latin typeface="Canva Sans"/>
                <a:ea typeface="Canva Sans"/>
                <a:cs typeface="Canva Sans"/>
                <a:sym typeface="Canva Sans"/>
              </a:rPr>
              <a:t>: The actual Cash in your bank vault. (Heavy/Protected)</a:t>
            </a:r>
          </a:p>
        </p:txBody>
      </p:sp>
      <p:sp>
        <p:nvSpPr>
          <p:cNvPr name="TextBox 10" id="10"/>
          <p:cNvSpPr txBox="true"/>
          <p:nvPr/>
        </p:nvSpPr>
        <p:spPr>
          <a:xfrm rot="0">
            <a:off x="965408" y="5052043"/>
            <a:ext cx="9714836" cy="1047750"/>
          </a:xfrm>
          <a:prstGeom prst="rect">
            <a:avLst/>
          </a:prstGeom>
        </p:spPr>
        <p:txBody>
          <a:bodyPr anchor="t" rtlCol="false" tIns="0" lIns="0" bIns="0" rIns="0">
            <a:spAutoFit/>
          </a:bodyPr>
          <a:lstStyle/>
          <a:p>
            <a:pPr algn="l">
              <a:lnSpc>
                <a:spcPts val="4200"/>
              </a:lnSpc>
              <a:spcBef>
                <a:spcPct val="0"/>
              </a:spcBef>
            </a:pPr>
            <a:r>
              <a:rPr lang="en-US" b="true" sz="3000">
                <a:solidFill>
                  <a:srgbClr val="181818"/>
                </a:solidFill>
                <a:latin typeface="Canva Sans Bold"/>
                <a:ea typeface="Canva Sans Bold"/>
                <a:cs typeface="Canva Sans Bold"/>
                <a:sym typeface="Canva Sans Bold"/>
              </a:rPr>
              <a:t>Proxy</a:t>
            </a:r>
            <a:r>
              <a:rPr lang="en-US" sz="3000">
                <a:solidFill>
                  <a:srgbClr val="181818"/>
                </a:solidFill>
                <a:latin typeface="Canva Sans"/>
                <a:ea typeface="Canva Sans"/>
                <a:cs typeface="Canva Sans"/>
                <a:sym typeface="Canva Sans"/>
              </a:rPr>
              <a:t>: The Plastic Credit Card. (Lightweight/Access Control)</a:t>
            </a:r>
          </a:p>
        </p:txBody>
      </p:sp>
      <p:sp>
        <p:nvSpPr>
          <p:cNvPr name="TextBox 11" id="11"/>
          <p:cNvSpPr txBox="true"/>
          <p:nvPr/>
        </p:nvSpPr>
        <p:spPr>
          <a:xfrm rot="0">
            <a:off x="979621" y="6253981"/>
            <a:ext cx="9841855" cy="2066926"/>
          </a:xfrm>
          <a:prstGeom prst="rect">
            <a:avLst/>
          </a:prstGeom>
        </p:spPr>
        <p:txBody>
          <a:bodyPr anchor="t" rtlCol="false" tIns="0" lIns="0" bIns="0" rIns="0">
            <a:spAutoFit/>
          </a:bodyPr>
          <a:lstStyle/>
          <a:p>
            <a:pPr algn="l">
              <a:lnSpc>
                <a:spcPts val="4199"/>
              </a:lnSpc>
              <a:spcBef>
                <a:spcPct val="0"/>
              </a:spcBef>
            </a:pPr>
            <a:r>
              <a:rPr lang="en-US" b="true" sz="2999">
                <a:solidFill>
                  <a:srgbClr val="181818"/>
                </a:solidFill>
                <a:latin typeface="Canva Sans Bold"/>
                <a:ea typeface="Canva Sans Bold"/>
                <a:cs typeface="Canva Sans Bold"/>
                <a:sym typeface="Canva Sans Bold"/>
              </a:rPr>
              <a:t>How it works:</a:t>
            </a:r>
            <a:r>
              <a:rPr lang="en-US" sz="2999">
                <a:solidFill>
                  <a:srgbClr val="181818"/>
                </a:solidFill>
                <a:latin typeface="Canva Sans"/>
                <a:ea typeface="Canva Sans"/>
                <a:cs typeface="Canva Sans"/>
                <a:sym typeface="Canva Sans"/>
              </a:rPr>
              <a:t> You don't carry $5,000 in cash to the store. You carry the Card. The store "talks" to the Card, and the Card authorizes the bank to release the funds.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EFEFE"/>
        </a:solidFill>
      </p:bgPr>
    </p:bg>
    <p:spTree>
      <p:nvGrpSpPr>
        <p:cNvPr id="1" name=""/>
        <p:cNvGrpSpPr/>
        <p:nvPr/>
      </p:nvGrpSpPr>
      <p:grpSpPr>
        <a:xfrm>
          <a:off x="0" y="0"/>
          <a:ext cx="0" cy="0"/>
          <a:chOff x="0" y="0"/>
          <a:chExt cx="0" cy="0"/>
        </a:xfrm>
      </p:grpSpPr>
      <p:grpSp>
        <p:nvGrpSpPr>
          <p:cNvPr name="Group 2" id="2"/>
          <p:cNvGrpSpPr/>
          <p:nvPr/>
        </p:nvGrpSpPr>
        <p:grpSpPr>
          <a:xfrm rot="0">
            <a:off x="965408" y="2822610"/>
            <a:ext cx="9255595" cy="718099"/>
            <a:chOff x="0" y="0"/>
            <a:chExt cx="2437688" cy="189129"/>
          </a:xfrm>
        </p:grpSpPr>
        <p:sp>
          <p:nvSpPr>
            <p:cNvPr name="Freeform 3" id="3"/>
            <p:cNvSpPr/>
            <p:nvPr/>
          </p:nvSpPr>
          <p:spPr>
            <a:xfrm flipH="false" flipV="false" rot="0">
              <a:off x="0" y="0"/>
              <a:ext cx="2437688" cy="189129"/>
            </a:xfrm>
            <a:custGeom>
              <a:avLst/>
              <a:gdLst/>
              <a:ahLst/>
              <a:cxnLst/>
              <a:rect r="r" b="b" t="t" l="l"/>
              <a:pathLst>
                <a:path h="189129" w="2437688">
                  <a:moveTo>
                    <a:pt x="41823" y="0"/>
                  </a:moveTo>
                  <a:lnTo>
                    <a:pt x="2395865" y="0"/>
                  </a:lnTo>
                  <a:cubicBezTo>
                    <a:pt x="2418963" y="0"/>
                    <a:pt x="2437688" y="18725"/>
                    <a:pt x="2437688" y="41823"/>
                  </a:cubicBezTo>
                  <a:lnTo>
                    <a:pt x="2437688" y="147306"/>
                  </a:lnTo>
                  <a:cubicBezTo>
                    <a:pt x="2437688" y="170404"/>
                    <a:pt x="2418963" y="189129"/>
                    <a:pt x="2395865" y="189129"/>
                  </a:cubicBezTo>
                  <a:lnTo>
                    <a:pt x="41823" y="189129"/>
                  </a:lnTo>
                  <a:cubicBezTo>
                    <a:pt x="18725" y="189129"/>
                    <a:pt x="0" y="170404"/>
                    <a:pt x="0" y="147306"/>
                  </a:cubicBezTo>
                  <a:lnTo>
                    <a:pt x="0" y="41823"/>
                  </a:lnTo>
                  <a:cubicBezTo>
                    <a:pt x="0" y="18725"/>
                    <a:pt x="18725" y="0"/>
                    <a:pt x="41823" y="0"/>
                  </a:cubicBezTo>
                  <a:close/>
                </a:path>
              </a:pathLst>
            </a:custGeom>
            <a:solidFill>
              <a:srgbClr val="7C6AF2"/>
            </a:solidFill>
          </p:spPr>
        </p:sp>
        <p:sp>
          <p:nvSpPr>
            <p:cNvPr name="TextBox 4" id="4"/>
            <p:cNvSpPr txBox="true"/>
            <p:nvPr/>
          </p:nvSpPr>
          <p:spPr>
            <a:xfrm>
              <a:off x="0" y="-38100"/>
              <a:ext cx="2437688" cy="227229"/>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0852123" y="4142429"/>
            <a:ext cx="6497807" cy="3719539"/>
          </a:xfrm>
          <a:custGeom>
            <a:avLst/>
            <a:gdLst/>
            <a:ahLst/>
            <a:cxnLst/>
            <a:rect r="r" b="b" t="t" l="l"/>
            <a:pathLst>
              <a:path h="3719539" w="6497807">
                <a:moveTo>
                  <a:pt x="0" y="0"/>
                </a:moveTo>
                <a:lnTo>
                  <a:pt x="6497808" y="0"/>
                </a:lnTo>
                <a:lnTo>
                  <a:pt x="6497808" y="3719539"/>
                </a:lnTo>
                <a:lnTo>
                  <a:pt x="0" y="3719539"/>
                </a:lnTo>
                <a:lnTo>
                  <a:pt x="0" y="0"/>
                </a:lnTo>
                <a:close/>
              </a:path>
            </a:pathLst>
          </a:custGeom>
          <a:blipFill>
            <a:blip r:embed="rId2"/>
            <a:stretch>
              <a:fillRect l="-33118" t="-71928" r="-33352" b="-71991"/>
            </a:stretch>
          </a:blipFill>
        </p:spPr>
      </p:sp>
      <p:sp>
        <p:nvSpPr>
          <p:cNvPr name="TextBox 6" id="6"/>
          <p:cNvSpPr txBox="true"/>
          <p:nvPr/>
        </p:nvSpPr>
        <p:spPr>
          <a:xfrm rot="0">
            <a:off x="1028700" y="1658741"/>
            <a:ext cx="16775024" cy="1882161"/>
          </a:xfrm>
          <a:prstGeom prst="rect">
            <a:avLst/>
          </a:prstGeom>
        </p:spPr>
        <p:txBody>
          <a:bodyPr anchor="t" rtlCol="false" tIns="0" lIns="0" bIns="0" rIns="0">
            <a:spAutoFit/>
          </a:bodyPr>
          <a:lstStyle/>
          <a:p>
            <a:pPr algn="l">
              <a:lnSpc>
                <a:spcPts val="7251"/>
              </a:lnSpc>
            </a:pPr>
            <a:r>
              <a:rPr lang="en-US" sz="7251" b="true">
                <a:solidFill>
                  <a:srgbClr val="181818"/>
                </a:solidFill>
                <a:latin typeface="Canva Sans Bold"/>
                <a:ea typeface="Canva Sans Bold"/>
                <a:cs typeface="Canva Sans Bold"/>
                <a:sym typeface="Canva Sans Bold"/>
              </a:rPr>
              <a:t>KEY PARTICIPANTS / COMPONENTS</a:t>
            </a:r>
          </a:p>
          <a:p>
            <a:pPr algn="l">
              <a:lnSpc>
                <a:spcPts val="7251"/>
              </a:lnSpc>
            </a:pPr>
          </a:p>
        </p:txBody>
      </p:sp>
      <p:sp>
        <p:nvSpPr>
          <p:cNvPr name="TextBox 7" id="7"/>
          <p:cNvSpPr txBox="true"/>
          <p:nvPr/>
        </p:nvSpPr>
        <p:spPr>
          <a:xfrm rot="0">
            <a:off x="965408" y="3927047"/>
            <a:ext cx="9569923" cy="3181350"/>
          </a:xfrm>
          <a:prstGeom prst="rect">
            <a:avLst/>
          </a:prstGeom>
        </p:spPr>
        <p:txBody>
          <a:bodyPr anchor="t" rtlCol="false" tIns="0" lIns="0" bIns="0" rIns="0">
            <a:spAutoFit/>
          </a:bodyPr>
          <a:lstStyle/>
          <a:p>
            <a:pPr algn="l">
              <a:lnSpc>
                <a:spcPts val="4200"/>
              </a:lnSpc>
              <a:spcBef>
                <a:spcPct val="0"/>
              </a:spcBef>
            </a:pPr>
            <a:r>
              <a:rPr lang="en-US" b="true" sz="3000">
                <a:solidFill>
                  <a:srgbClr val="181818"/>
                </a:solidFill>
                <a:latin typeface="Canva Sans Bold"/>
                <a:ea typeface="Canva Sans Bold"/>
                <a:cs typeface="Canva Sans Bold"/>
                <a:sym typeface="Canva Sans Bold"/>
              </a:rPr>
              <a:t>Subject</a:t>
            </a:r>
            <a:r>
              <a:rPr lang="en-US" sz="3000">
                <a:solidFill>
                  <a:srgbClr val="181818"/>
                </a:solidFill>
                <a:latin typeface="Canva Sans"/>
                <a:ea typeface="Canva Sans"/>
                <a:cs typeface="Canva Sans"/>
                <a:sym typeface="Canva Sans"/>
              </a:rPr>
              <a:t>: The Subject is an interface or an abstract class that defines the common interface shared by the RealSubject and Proxy classes. It declares the methods that the Proxy uses to control access to the RealSubject.</a:t>
            </a:r>
          </a:p>
          <a:p>
            <a:pPr algn="l">
              <a:lnSpc>
                <a:spcPts val="4200"/>
              </a:lnSpc>
              <a:spcBef>
                <a:spcPct val="0"/>
              </a:spcBef>
            </a:pPr>
          </a:p>
        </p:txBody>
      </p:sp>
      <p:sp>
        <p:nvSpPr>
          <p:cNvPr name="TextBox 8" id="8"/>
          <p:cNvSpPr txBox="true"/>
          <p:nvPr/>
        </p:nvSpPr>
        <p:spPr>
          <a:xfrm rot="0">
            <a:off x="1028700" y="6648483"/>
            <a:ext cx="8298345" cy="2369821"/>
          </a:xfrm>
          <a:prstGeom prst="rect">
            <a:avLst/>
          </a:prstGeom>
        </p:spPr>
        <p:txBody>
          <a:bodyPr anchor="t" rtlCol="false" tIns="0" lIns="0" bIns="0" rIns="0">
            <a:spAutoFit/>
          </a:bodyPr>
          <a:lstStyle/>
          <a:p>
            <a:pPr algn="l" marL="582925" indent="-291463" lvl="1">
              <a:lnSpc>
                <a:spcPts val="3779"/>
              </a:lnSpc>
              <a:buFont typeface="Arial"/>
              <a:buChar char="•"/>
            </a:pPr>
            <a:r>
              <a:rPr lang="en-US" sz="2699">
                <a:solidFill>
                  <a:srgbClr val="181818"/>
                </a:solidFill>
                <a:latin typeface="Canva Sans"/>
                <a:ea typeface="Canva Sans"/>
                <a:cs typeface="Canva Sans"/>
                <a:sym typeface="Canva Sans"/>
              </a:rPr>
              <a:t>Declares the common interface for both RealSubject and Proxy.</a:t>
            </a:r>
          </a:p>
          <a:p>
            <a:pPr algn="l" marL="582925" indent="-291463" lvl="1">
              <a:lnSpc>
                <a:spcPts val="3779"/>
              </a:lnSpc>
              <a:buFont typeface="Arial"/>
              <a:buChar char="•"/>
            </a:pPr>
            <a:r>
              <a:rPr lang="en-US" sz="2699">
                <a:solidFill>
                  <a:srgbClr val="181818"/>
                </a:solidFill>
                <a:latin typeface="Canva Sans"/>
                <a:ea typeface="Canva Sans"/>
                <a:cs typeface="Canva Sans"/>
                <a:sym typeface="Canva Sans"/>
              </a:rPr>
              <a:t>Usually includes the methods that the client code can invoke on the RealSubject and the Proxy.</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EFEFE"/>
        </a:solidFill>
      </p:bgPr>
    </p:bg>
    <p:spTree>
      <p:nvGrpSpPr>
        <p:cNvPr id="1" name=""/>
        <p:cNvGrpSpPr/>
        <p:nvPr/>
      </p:nvGrpSpPr>
      <p:grpSpPr>
        <a:xfrm>
          <a:off x="0" y="0"/>
          <a:ext cx="0" cy="0"/>
          <a:chOff x="0" y="0"/>
          <a:chExt cx="0" cy="0"/>
        </a:xfrm>
      </p:grpSpPr>
      <p:grpSp>
        <p:nvGrpSpPr>
          <p:cNvPr name="Group 2" id="2"/>
          <p:cNvGrpSpPr/>
          <p:nvPr/>
        </p:nvGrpSpPr>
        <p:grpSpPr>
          <a:xfrm rot="0">
            <a:off x="965408" y="2822610"/>
            <a:ext cx="9255595" cy="718099"/>
            <a:chOff x="0" y="0"/>
            <a:chExt cx="2437688" cy="189129"/>
          </a:xfrm>
        </p:grpSpPr>
        <p:sp>
          <p:nvSpPr>
            <p:cNvPr name="Freeform 3" id="3"/>
            <p:cNvSpPr/>
            <p:nvPr/>
          </p:nvSpPr>
          <p:spPr>
            <a:xfrm flipH="false" flipV="false" rot="0">
              <a:off x="0" y="0"/>
              <a:ext cx="2437688" cy="189129"/>
            </a:xfrm>
            <a:custGeom>
              <a:avLst/>
              <a:gdLst/>
              <a:ahLst/>
              <a:cxnLst/>
              <a:rect r="r" b="b" t="t" l="l"/>
              <a:pathLst>
                <a:path h="189129" w="2437688">
                  <a:moveTo>
                    <a:pt x="41823" y="0"/>
                  </a:moveTo>
                  <a:lnTo>
                    <a:pt x="2395865" y="0"/>
                  </a:lnTo>
                  <a:cubicBezTo>
                    <a:pt x="2418963" y="0"/>
                    <a:pt x="2437688" y="18725"/>
                    <a:pt x="2437688" y="41823"/>
                  </a:cubicBezTo>
                  <a:lnTo>
                    <a:pt x="2437688" y="147306"/>
                  </a:lnTo>
                  <a:cubicBezTo>
                    <a:pt x="2437688" y="170404"/>
                    <a:pt x="2418963" y="189129"/>
                    <a:pt x="2395865" y="189129"/>
                  </a:cubicBezTo>
                  <a:lnTo>
                    <a:pt x="41823" y="189129"/>
                  </a:lnTo>
                  <a:cubicBezTo>
                    <a:pt x="18725" y="189129"/>
                    <a:pt x="0" y="170404"/>
                    <a:pt x="0" y="147306"/>
                  </a:cubicBezTo>
                  <a:lnTo>
                    <a:pt x="0" y="41823"/>
                  </a:lnTo>
                  <a:cubicBezTo>
                    <a:pt x="0" y="18725"/>
                    <a:pt x="18725" y="0"/>
                    <a:pt x="41823" y="0"/>
                  </a:cubicBezTo>
                  <a:close/>
                </a:path>
              </a:pathLst>
            </a:custGeom>
            <a:solidFill>
              <a:srgbClr val="7C6AF2"/>
            </a:solidFill>
          </p:spPr>
        </p:sp>
        <p:sp>
          <p:nvSpPr>
            <p:cNvPr name="TextBox 4" id="4"/>
            <p:cNvSpPr txBox="true"/>
            <p:nvPr/>
          </p:nvSpPr>
          <p:spPr>
            <a:xfrm>
              <a:off x="0" y="-38100"/>
              <a:ext cx="2437688" cy="227229"/>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1086275" y="3540902"/>
            <a:ext cx="6903708" cy="5892053"/>
          </a:xfrm>
          <a:custGeom>
            <a:avLst/>
            <a:gdLst/>
            <a:ahLst/>
            <a:cxnLst/>
            <a:rect r="r" b="b" t="t" l="l"/>
            <a:pathLst>
              <a:path h="5892053" w="6903708">
                <a:moveTo>
                  <a:pt x="0" y="0"/>
                </a:moveTo>
                <a:lnTo>
                  <a:pt x="6903707" y="0"/>
                </a:lnTo>
                <a:lnTo>
                  <a:pt x="6903707" y="5892054"/>
                </a:lnTo>
                <a:lnTo>
                  <a:pt x="0" y="5892054"/>
                </a:lnTo>
                <a:lnTo>
                  <a:pt x="0" y="0"/>
                </a:lnTo>
                <a:close/>
              </a:path>
            </a:pathLst>
          </a:custGeom>
          <a:blipFill>
            <a:blip r:embed="rId2"/>
            <a:stretch>
              <a:fillRect l="-16011" t="-23097" r="-15882" b="-23909"/>
            </a:stretch>
          </a:blipFill>
        </p:spPr>
      </p:sp>
      <p:sp>
        <p:nvSpPr>
          <p:cNvPr name="TextBox 6" id="6"/>
          <p:cNvSpPr txBox="true"/>
          <p:nvPr/>
        </p:nvSpPr>
        <p:spPr>
          <a:xfrm rot="0">
            <a:off x="1028700" y="1658741"/>
            <a:ext cx="16775024" cy="1882161"/>
          </a:xfrm>
          <a:prstGeom prst="rect">
            <a:avLst/>
          </a:prstGeom>
        </p:spPr>
        <p:txBody>
          <a:bodyPr anchor="t" rtlCol="false" tIns="0" lIns="0" bIns="0" rIns="0">
            <a:spAutoFit/>
          </a:bodyPr>
          <a:lstStyle/>
          <a:p>
            <a:pPr algn="l">
              <a:lnSpc>
                <a:spcPts val="7251"/>
              </a:lnSpc>
            </a:pPr>
            <a:r>
              <a:rPr lang="en-US" sz="7251" b="true">
                <a:solidFill>
                  <a:srgbClr val="181818"/>
                </a:solidFill>
                <a:latin typeface="Canva Sans Bold"/>
                <a:ea typeface="Canva Sans Bold"/>
                <a:cs typeface="Canva Sans Bold"/>
                <a:sym typeface="Canva Sans Bold"/>
              </a:rPr>
              <a:t>KEY PARTICIPANTS / COMPONENTS</a:t>
            </a:r>
          </a:p>
          <a:p>
            <a:pPr algn="l">
              <a:lnSpc>
                <a:spcPts val="7251"/>
              </a:lnSpc>
            </a:pPr>
          </a:p>
        </p:txBody>
      </p:sp>
      <p:sp>
        <p:nvSpPr>
          <p:cNvPr name="TextBox 7" id="7"/>
          <p:cNvSpPr txBox="true"/>
          <p:nvPr/>
        </p:nvSpPr>
        <p:spPr>
          <a:xfrm rot="0">
            <a:off x="1028700" y="3820730"/>
            <a:ext cx="9933742" cy="4781550"/>
          </a:xfrm>
          <a:prstGeom prst="rect">
            <a:avLst/>
          </a:prstGeom>
        </p:spPr>
        <p:txBody>
          <a:bodyPr anchor="t" rtlCol="false" tIns="0" lIns="0" bIns="0" rIns="0">
            <a:spAutoFit/>
          </a:bodyPr>
          <a:lstStyle/>
          <a:p>
            <a:pPr algn="l">
              <a:lnSpc>
                <a:spcPts val="4200"/>
              </a:lnSpc>
              <a:spcBef>
                <a:spcPct val="0"/>
              </a:spcBef>
            </a:pPr>
            <a:r>
              <a:rPr lang="en-US" b="true" sz="3000">
                <a:solidFill>
                  <a:srgbClr val="181818"/>
                </a:solidFill>
                <a:latin typeface="Canva Sans Bold"/>
                <a:ea typeface="Canva Sans Bold"/>
                <a:cs typeface="Canva Sans Bold"/>
                <a:sym typeface="Canva Sans Bold"/>
              </a:rPr>
              <a:t>Real</a:t>
            </a:r>
            <a:r>
              <a:rPr lang="en-US" b="true" sz="3000">
                <a:solidFill>
                  <a:srgbClr val="181818"/>
                </a:solidFill>
                <a:latin typeface="Canva Sans Bold"/>
                <a:ea typeface="Canva Sans Bold"/>
                <a:cs typeface="Canva Sans Bold"/>
                <a:sym typeface="Canva Sans Bold"/>
              </a:rPr>
              <a:t>Subject</a:t>
            </a:r>
            <a:r>
              <a:rPr lang="en-US" sz="3000">
                <a:solidFill>
                  <a:srgbClr val="181818"/>
                </a:solidFill>
                <a:latin typeface="Canva Sans"/>
                <a:ea typeface="Canva Sans"/>
                <a:cs typeface="Canva Sans"/>
                <a:sym typeface="Canva Sans"/>
              </a:rPr>
              <a:t>: is the actual object that the Proxy represents. It contains the real implementation of the business logic or the resource that the client code wants to access.</a:t>
            </a:r>
          </a:p>
          <a:p>
            <a:pPr algn="l" marL="647700" indent="-323850" lvl="1">
              <a:lnSpc>
                <a:spcPts val="4200"/>
              </a:lnSpc>
              <a:spcBef>
                <a:spcPct val="0"/>
              </a:spcBef>
              <a:buFont typeface="Arial"/>
              <a:buChar char="•"/>
            </a:pPr>
            <a:r>
              <a:rPr lang="en-US" sz="3000">
                <a:solidFill>
                  <a:srgbClr val="181818"/>
                </a:solidFill>
                <a:latin typeface="Canva Sans"/>
                <a:ea typeface="Canva Sans"/>
                <a:cs typeface="Canva Sans"/>
                <a:sym typeface="Canva Sans"/>
              </a:rPr>
              <a:t>It Implements the operations declared by the Subject interface.</a:t>
            </a:r>
          </a:p>
          <a:p>
            <a:pPr algn="l" marL="647700" indent="-323850" lvl="1">
              <a:lnSpc>
                <a:spcPts val="4200"/>
              </a:lnSpc>
              <a:spcBef>
                <a:spcPct val="0"/>
              </a:spcBef>
              <a:buFont typeface="Arial"/>
              <a:buChar char="•"/>
            </a:pPr>
            <a:r>
              <a:rPr lang="en-US" sz="3000">
                <a:solidFill>
                  <a:srgbClr val="181818"/>
                </a:solidFill>
                <a:latin typeface="Canva Sans"/>
                <a:ea typeface="Canva Sans"/>
                <a:cs typeface="Canva Sans"/>
                <a:sym typeface="Canva Sans"/>
              </a:rPr>
              <a:t>Represents the real resource or object that the Proxy controls access to.</a:t>
            </a:r>
          </a:p>
          <a:p>
            <a:pPr algn="l">
              <a:lnSpc>
                <a:spcPts val="4200"/>
              </a:lnSpc>
              <a:spcBef>
                <a:spcPct val="0"/>
              </a:spcBef>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EFEFE"/>
        </a:solidFill>
      </p:bgPr>
    </p:bg>
    <p:spTree>
      <p:nvGrpSpPr>
        <p:cNvPr id="1" name=""/>
        <p:cNvGrpSpPr/>
        <p:nvPr/>
      </p:nvGrpSpPr>
      <p:grpSpPr>
        <a:xfrm>
          <a:off x="0" y="0"/>
          <a:ext cx="0" cy="0"/>
          <a:chOff x="0" y="0"/>
          <a:chExt cx="0" cy="0"/>
        </a:xfrm>
      </p:grpSpPr>
      <p:grpSp>
        <p:nvGrpSpPr>
          <p:cNvPr name="Group 2" id="2"/>
          <p:cNvGrpSpPr/>
          <p:nvPr/>
        </p:nvGrpSpPr>
        <p:grpSpPr>
          <a:xfrm rot="0">
            <a:off x="965408" y="2822610"/>
            <a:ext cx="9255595" cy="718099"/>
            <a:chOff x="0" y="0"/>
            <a:chExt cx="2437688" cy="189129"/>
          </a:xfrm>
        </p:grpSpPr>
        <p:sp>
          <p:nvSpPr>
            <p:cNvPr name="Freeform 3" id="3"/>
            <p:cNvSpPr/>
            <p:nvPr/>
          </p:nvSpPr>
          <p:spPr>
            <a:xfrm flipH="false" flipV="false" rot="0">
              <a:off x="0" y="0"/>
              <a:ext cx="2437688" cy="189129"/>
            </a:xfrm>
            <a:custGeom>
              <a:avLst/>
              <a:gdLst/>
              <a:ahLst/>
              <a:cxnLst/>
              <a:rect r="r" b="b" t="t" l="l"/>
              <a:pathLst>
                <a:path h="189129" w="2437688">
                  <a:moveTo>
                    <a:pt x="41823" y="0"/>
                  </a:moveTo>
                  <a:lnTo>
                    <a:pt x="2395865" y="0"/>
                  </a:lnTo>
                  <a:cubicBezTo>
                    <a:pt x="2418963" y="0"/>
                    <a:pt x="2437688" y="18725"/>
                    <a:pt x="2437688" y="41823"/>
                  </a:cubicBezTo>
                  <a:lnTo>
                    <a:pt x="2437688" y="147306"/>
                  </a:lnTo>
                  <a:cubicBezTo>
                    <a:pt x="2437688" y="170404"/>
                    <a:pt x="2418963" y="189129"/>
                    <a:pt x="2395865" y="189129"/>
                  </a:cubicBezTo>
                  <a:lnTo>
                    <a:pt x="41823" y="189129"/>
                  </a:lnTo>
                  <a:cubicBezTo>
                    <a:pt x="18725" y="189129"/>
                    <a:pt x="0" y="170404"/>
                    <a:pt x="0" y="147306"/>
                  </a:cubicBezTo>
                  <a:lnTo>
                    <a:pt x="0" y="41823"/>
                  </a:lnTo>
                  <a:cubicBezTo>
                    <a:pt x="0" y="18725"/>
                    <a:pt x="18725" y="0"/>
                    <a:pt x="41823" y="0"/>
                  </a:cubicBezTo>
                  <a:close/>
                </a:path>
              </a:pathLst>
            </a:custGeom>
            <a:solidFill>
              <a:srgbClr val="7C6AF2"/>
            </a:solidFill>
          </p:spPr>
        </p:sp>
        <p:sp>
          <p:nvSpPr>
            <p:cNvPr name="TextBox 4" id="4"/>
            <p:cNvSpPr txBox="true"/>
            <p:nvPr/>
          </p:nvSpPr>
          <p:spPr>
            <a:xfrm>
              <a:off x="0" y="-38100"/>
              <a:ext cx="2437688" cy="227229"/>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0881334" y="3877880"/>
            <a:ext cx="7057278" cy="4210393"/>
          </a:xfrm>
          <a:custGeom>
            <a:avLst/>
            <a:gdLst/>
            <a:ahLst/>
            <a:cxnLst/>
            <a:rect r="r" b="b" t="t" l="l"/>
            <a:pathLst>
              <a:path h="4210393" w="7057278">
                <a:moveTo>
                  <a:pt x="0" y="0"/>
                </a:moveTo>
                <a:lnTo>
                  <a:pt x="7057278" y="0"/>
                </a:lnTo>
                <a:lnTo>
                  <a:pt x="7057278" y="4210393"/>
                </a:lnTo>
                <a:lnTo>
                  <a:pt x="0" y="4210393"/>
                </a:lnTo>
                <a:lnTo>
                  <a:pt x="0" y="0"/>
                </a:lnTo>
                <a:close/>
              </a:path>
            </a:pathLst>
          </a:custGeom>
          <a:blipFill>
            <a:blip r:embed="rId2"/>
            <a:stretch>
              <a:fillRect l="-12076" t="-25381" r="-11652" b="-25493"/>
            </a:stretch>
          </a:blipFill>
        </p:spPr>
      </p:sp>
      <p:sp>
        <p:nvSpPr>
          <p:cNvPr name="TextBox 6" id="6"/>
          <p:cNvSpPr txBox="true"/>
          <p:nvPr/>
        </p:nvSpPr>
        <p:spPr>
          <a:xfrm rot="0">
            <a:off x="1028700" y="1658741"/>
            <a:ext cx="16775024" cy="1882161"/>
          </a:xfrm>
          <a:prstGeom prst="rect">
            <a:avLst/>
          </a:prstGeom>
        </p:spPr>
        <p:txBody>
          <a:bodyPr anchor="t" rtlCol="false" tIns="0" lIns="0" bIns="0" rIns="0">
            <a:spAutoFit/>
          </a:bodyPr>
          <a:lstStyle/>
          <a:p>
            <a:pPr algn="l">
              <a:lnSpc>
                <a:spcPts val="7251"/>
              </a:lnSpc>
            </a:pPr>
            <a:r>
              <a:rPr lang="en-US" sz="7251" b="true">
                <a:solidFill>
                  <a:srgbClr val="181818"/>
                </a:solidFill>
                <a:latin typeface="Canva Sans Bold"/>
                <a:ea typeface="Canva Sans Bold"/>
                <a:cs typeface="Canva Sans Bold"/>
                <a:sym typeface="Canva Sans Bold"/>
              </a:rPr>
              <a:t>KEY PARTICIPANTS / COMPONENTS</a:t>
            </a:r>
          </a:p>
          <a:p>
            <a:pPr algn="l">
              <a:lnSpc>
                <a:spcPts val="7251"/>
              </a:lnSpc>
            </a:pPr>
          </a:p>
        </p:txBody>
      </p:sp>
      <p:sp>
        <p:nvSpPr>
          <p:cNvPr name="TextBox 7" id="7"/>
          <p:cNvSpPr txBox="true"/>
          <p:nvPr/>
        </p:nvSpPr>
        <p:spPr>
          <a:xfrm rot="0">
            <a:off x="1028700" y="3820730"/>
            <a:ext cx="9726697" cy="5205364"/>
          </a:xfrm>
          <a:prstGeom prst="rect">
            <a:avLst/>
          </a:prstGeom>
        </p:spPr>
        <p:txBody>
          <a:bodyPr anchor="t" rtlCol="false" tIns="0" lIns="0" bIns="0" rIns="0">
            <a:spAutoFit/>
          </a:bodyPr>
          <a:lstStyle/>
          <a:p>
            <a:pPr algn="l">
              <a:lnSpc>
                <a:spcPts val="4112"/>
              </a:lnSpc>
              <a:spcBef>
                <a:spcPct val="0"/>
              </a:spcBef>
            </a:pPr>
            <a:r>
              <a:rPr lang="en-US" b="true" sz="2937">
                <a:solidFill>
                  <a:srgbClr val="181818"/>
                </a:solidFill>
                <a:latin typeface="Canva Sans Bold"/>
                <a:ea typeface="Canva Sans Bold"/>
                <a:cs typeface="Canva Sans Bold"/>
                <a:sym typeface="Canva Sans Bold"/>
              </a:rPr>
              <a:t>Proxy</a:t>
            </a:r>
            <a:r>
              <a:rPr lang="en-US" sz="2937">
                <a:solidFill>
                  <a:srgbClr val="181818"/>
                </a:solidFill>
                <a:latin typeface="Canva Sans"/>
                <a:ea typeface="Canva Sans"/>
                <a:cs typeface="Canva Sans"/>
                <a:sym typeface="Canva Sans"/>
              </a:rPr>
              <a:t>: The Proxy a</a:t>
            </a:r>
            <a:r>
              <a:rPr lang="en-US" sz="2937">
                <a:solidFill>
                  <a:srgbClr val="181818"/>
                </a:solidFill>
                <a:latin typeface="Canva Sans"/>
                <a:ea typeface="Canva Sans"/>
                <a:cs typeface="Canva Sans"/>
                <a:sym typeface="Canva Sans"/>
              </a:rPr>
              <a:t>cts as a surrogate or placeholder for the RealSubject. It controls access to the real object and may provide additional functionality such as lazy loading, access control, or logging.</a:t>
            </a:r>
          </a:p>
          <a:p>
            <a:pPr algn="l" marL="634200" indent="-317100" lvl="1">
              <a:lnSpc>
                <a:spcPts val="4112"/>
              </a:lnSpc>
              <a:spcBef>
                <a:spcPct val="0"/>
              </a:spcBef>
              <a:buFont typeface="Arial"/>
              <a:buChar char="•"/>
            </a:pPr>
            <a:r>
              <a:rPr lang="en-US" sz="2937">
                <a:solidFill>
                  <a:srgbClr val="181818"/>
                </a:solidFill>
                <a:latin typeface="Canva Sans"/>
                <a:ea typeface="Canva Sans"/>
                <a:cs typeface="Canva Sans"/>
                <a:sym typeface="Canva Sans"/>
              </a:rPr>
              <a:t>Implements the same interface as the RealSubject (Subject).</a:t>
            </a:r>
          </a:p>
          <a:p>
            <a:pPr algn="l" marL="634200" indent="-317100" lvl="1">
              <a:lnSpc>
                <a:spcPts val="4112"/>
              </a:lnSpc>
              <a:spcBef>
                <a:spcPct val="0"/>
              </a:spcBef>
              <a:buFont typeface="Arial"/>
              <a:buChar char="•"/>
            </a:pPr>
            <a:r>
              <a:rPr lang="en-US" sz="2937">
                <a:solidFill>
                  <a:srgbClr val="181818"/>
                </a:solidFill>
                <a:latin typeface="Canva Sans"/>
                <a:ea typeface="Canva Sans"/>
                <a:cs typeface="Canva Sans"/>
                <a:sym typeface="Canva Sans"/>
              </a:rPr>
              <a:t>Maintains a reference to the RealSubject.</a:t>
            </a:r>
          </a:p>
          <a:p>
            <a:pPr algn="l" marL="634200" indent="-317100" lvl="1">
              <a:lnSpc>
                <a:spcPts val="4112"/>
              </a:lnSpc>
              <a:spcBef>
                <a:spcPct val="0"/>
              </a:spcBef>
              <a:buFont typeface="Arial"/>
              <a:buChar char="•"/>
            </a:pPr>
            <a:r>
              <a:rPr lang="en-US" sz="2937">
                <a:solidFill>
                  <a:srgbClr val="181818"/>
                </a:solidFill>
                <a:latin typeface="Canva Sans"/>
                <a:ea typeface="Canva Sans"/>
                <a:cs typeface="Canva Sans"/>
                <a:sym typeface="Canva Sans"/>
              </a:rPr>
              <a:t>Controls access to the RealSubject, adding additional logic if necessary.</a:t>
            </a:r>
          </a:p>
          <a:p>
            <a:pPr algn="l">
              <a:lnSpc>
                <a:spcPts val="4112"/>
              </a:lnSpc>
              <a:spcBef>
                <a:spcPct val="0"/>
              </a:spcBef>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EFEFE"/>
        </a:solidFill>
      </p:bgPr>
    </p:bg>
    <p:spTree>
      <p:nvGrpSpPr>
        <p:cNvPr id="1" name=""/>
        <p:cNvGrpSpPr/>
        <p:nvPr/>
      </p:nvGrpSpPr>
      <p:grpSpPr>
        <a:xfrm>
          <a:off x="0" y="0"/>
          <a:ext cx="0" cy="0"/>
          <a:chOff x="0" y="0"/>
          <a:chExt cx="0" cy="0"/>
        </a:xfrm>
      </p:grpSpPr>
      <p:grpSp>
        <p:nvGrpSpPr>
          <p:cNvPr name="Group 2" id="2"/>
          <p:cNvGrpSpPr/>
          <p:nvPr/>
        </p:nvGrpSpPr>
        <p:grpSpPr>
          <a:xfrm rot="0">
            <a:off x="965408" y="2822610"/>
            <a:ext cx="9668332" cy="718099"/>
            <a:chOff x="0" y="0"/>
            <a:chExt cx="2546392" cy="189129"/>
          </a:xfrm>
        </p:grpSpPr>
        <p:sp>
          <p:nvSpPr>
            <p:cNvPr name="Freeform 3" id="3"/>
            <p:cNvSpPr/>
            <p:nvPr/>
          </p:nvSpPr>
          <p:spPr>
            <a:xfrm flipH="false" flipV="false" rot="0">
              <a:off x="0" y="0"/>
              <a:ext cx="2546392" cy="189129"/>
            </a:xfrm>
            <a:custGeom>
              <a:avLst/>
              <a:gdLst/>
              <a:ahLst/>
              <a:cxnLst/>
              <a:rect r="r" b="b" t="t" l="l"/>
              <a:pathLst>
                <a:path h="189129" w="2546392">
                  <a:moveTo>
                    <a:pt x="40038" y="0"/>
                  </a:moveTo>
                  <a:lnTo>
                    <a:pt x="2506354" y="0"/>
                  </a:lnTo>
                  <a:cubicBezTo>
                    <a:pt x="2516973" y="0"/>
                    <a:pt x="2527157" y="4218"/>
                    <a:pt x="2534665" y="11727"/>
                  </a:cubicBezTo>
                  <a:cubicBezTo>
                    <a:pt x="2542174" y="19235"/>
                    <a:pt x="2546392" y="29419"/>
                    <a:pt x="2546392" y="40038"/>
                  </a:cubicBezTo>
                  <a:lnTo>
                    <a:pt x="2546392" y="149092"/>
                  </a:lnTo>
                  <a:cubicBezTo>
                    <a:pt x="2546392" y="171204"/>
                    <a:pt x="2528466" y="189129"/>
                    <a:pt x="2506354" y="189129"/>
                  </a:cubicBezTo>
                  <a:lnTo>
                    <a:pt x="40038" y="189129"/>
                  </a:lnTo>
                  <a:cubicBezTo>
                    <a:pt x="29419" y="189129"/>
                    <a:pt x="19235" y="184911"/>
                    <a:pt x="11727" y="177402"/>
                  </a:cubicBezTo>
                  <a:cubicBezTo>
                    <a:pt x="4218" y="169894"/>
                    <a:pt x="0" y="159710"/>
                    <a:pt x="0" y="149092"/>
                  </a:cubicBezTo>
                  <a:lnTo>
                    <a:pt x="0" y="40038"/>
                  </a:lnTo>
                  <a:cubicBezTo>
                    <a:pt x="0" y="29419"/>
                    <a:pt x="4218" y="19235"/>
                    <a:pt x="11727" y="11727"/>
                  </a:cubicBezTo>
                  <a:cubicBezTo>
                    <a:pt x="19235" y="4218"/>
                    <a:pt x="29419" y="0"/>
                    <a:pt x="40038" y="0"/>
                  </a:cubicBezTo>
                  <a:close/>
                </a:path>
              </a:pathLst>
            </a:custGeom>
            <a:solidFill>
              <a:srgbClr val="7C6AF2"/>
            </a:solidFill>
          </p:spPr>
        </p:sp>
        <p:sp>
          <p:nvSpPr>
            <p:cNvPr name="TextBox 4" id="4"/>
            <p:cNvSpPr txBox="true"/>
            <p:nvPr/>
          </p:nvSpPr>
          <p:spPr>
            <a:xfrm>
              <a:off x="0" y="-38100"/>
              <a:ext cx="2546392" cy="227229"/>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0857535" y="3740735"/>
            <a:ext cx="7308013" cy="4749372"/>
          </a:xfrm>
          <a:custGeom>
            <a:avLst/>
            <a:gdLst/>
            <a:ahLst/>
            <a:cxnLst/>
            <a:rect r="r" b="b" t="t" l="l"/>
            <a:pathLst>
              <a:path h="4749372" w="7308013">
                <a:moveTo>
                  <a:pt x="0" y="0"/>
                </a:moveTo>
                <a:lnTo>
                  <a:pt x="7308013" y="0"/>
                </a:lnTo>
                <a:lnTo>
                  <a:pt x="7308013" y="4749372"/>
                </a:lnTo>
                <a:lnTo>
                  <a:pt x="0" y="4749372"/>
                </a:lnTo>
                <a:lnTo>
                  <a:pt x="0" y="0"/>
                </a:lnTo>
                <a:close/>
              </a:path>
            </a:pathLst>
          </a:custGeom>
          <a:blipFill>
            <a:blip r:embed="rId2"/>
            <a:stretch>
              <a:fillRect l="-13353" t="-26472" r="-13353" b="-24872"/>
            </a:stretch>
          </a:blipFill>
        </p:spPr>
      </p:sp>
      <p:sp>
        <p:nvSpPr>
          <p:cNvPr name="TextBox 6" id="6"/>
          <p:cNvSpPr txBox="true"/>
          <p:nvPr/>
        </p:nvSpPr>
        <p:spPr>
          <a:xfrm rot="0">
            <a:off x="1028700" y="1658741"/>
            <a:ext cx="16775024" cy="961733"/>
          </a:xfrm>
          <a:prstGeom prst="rect">
            <a:avLst/>
          </a:prstGeom>
        </p:spPr>
        <p:txBody>
          <a:bodyPr anchor="t" rtlCol="false" tIns="0" lIns="0" bIns="0" rIns="0">
            <a:spAutoFit/>
          </a:bodyPr>
          <a:lstStyle/>
          <a:p>
            <a:pPr algn="l">
              <a:lnSpc>
                <a:spcPts val="7251"/>
              </a:lnSpc>
            </a:pPr>
            <a:r>
              <a:rPr lang="en-US" b="true" sz="7251">
                <a:solidFill>
                  <a:srgbClr val="181818"/>
                </a:solidFill>
                <a:latin typeface="Canva Sans Bold"/>
                <a:ea typeface="Canva Sans Bold"/>
                <a:cs typeface="Canva Sans Bold"/>
                <a:sym typeface="Canva Sans Bold"/>
              </a:rPr>
              <a:t>CLIENT CODE</a:t>
            </a:r>
          </a:p>
        </p:txBody>
      </p:sp>
      <p:sp>
        <p:nvSpPr>
          <p:cNvPr name="TextBox 7" id="7"/>
          <p:cNvSpPr txBox="true"/>
          <p:nvPr/>
        </p:nvSpPr>
        <p:spPr>
          <a:xfrm rot="0">
            <a:off x="1028700" y="3683585"/>
            <a:ext cx="9605040" cy="4313455"/>
          </a:xfrm>
          <a:prstGeom prst="rect">
            <a:avLst/>
          </a:prstGeom>
        </p:spPr>
        <p:txBody>
          <a:bodyPr anchor="t" rtlCol="false" tIns="0" lIns="0" bIns="0" rIns="0">
            <a:spAutoFit/>
          </a:bodyPr>
          <a:lstStyle/>
          <a:p>
            <a:pPr algn="l">
              <a:lnSpc>
                <a:spcPts val="3783"/>
              </a:lnSpc>
              <a:spcBef>
                <a:spcPct val="0"/>
              </a:spcBef>
            </a:pPr>
            <a:r>
              <a:rPr lang="en-US" sz="2702">
                <a:solidFill>
                  <a:srgbClr val="181818"/>
                </a:solidFill>
                <a:latin typeface="Canva Sans"/>
                <a:ea typeface="Canva Sans"/>
                <a:cs typeface="Canva Sans"/>
                <a:sym typeface="Canva Sans"/>
              </a:rPr>
              <a:t>T</a:t>
            </a:r>
            <a:r>
              <a:rPr lang="en-US" sz="2702">
                <a:solidFill>
                  <a:srgbClr val="181818"/>
                </a:solidFill>
                <a:latin typeface="Canva Sans"/>
                <a:ea typeface="Canva Sans"/>
                <a:cs typeface="Canva Sans"/>
                <a:sym typeface="Canva Sans"/>
              </a:rPr>
              <a:t>he usage of the Proxy Design Pattern. It creates an Image object, which is actually an instance of ProxyImage.</a:t>
            </a:r>
          </a:p>
          <a:p>
            <a:pPr algn="l" marL="583526" indent="-291763" lvl="1">
              <a:lnSpc>
                <a:spcPts val="3783"/>
              </a:lnSpc>
              <a:spcBef>
                <a:spcPct val="0"/>
              </a:spcBef>
              <a:buFont typeface="Arial"/>
              <a:buChar char="•"/>
            </a:pPr>
            <a:r>
              <a:rPr lang="en-US" sz="2702">
                <a:solidFill>
                  <a:srgbClr val="181818"/>
                </a:solidFill>
                <a:latin typeface="Canva Sans"/>
                <a:ea typeface="Canva Sans"/>
                <a:cs typeface="Canva Sans"/>
                <a:sym typeface="Canva Sans"/>
              </a:rPr>
              <a:t>The client invokes the display() method on the proxy.</a:t>
            </a:r>
          </a:p>
          <a:p>
            <a:pPr algn="l" marL="583526" indent="-291763" lvl="1">
              <a:lnSpc>
                <a:spcPts val="3783"/>
              </a:lnSpc>
              <a:spcBef>
                <a:spcPct val="0"/>
              </a:spcBef>
              <a:buFont typeface="Arial"/>
              <a:buChar char="•"/>
            </a:pPr>
            <a:r>
              <a:rPr lang="en-US" sz="2702">
                <a:solidFill>
                  <a:srgbClr val="181818"/>
                </a:solidFill>
                <a:latin typeface="Canva Sans"/>
                <a:ea typeface="Canva Sans"/>
                <a:cs typeface="Canva Sans"/>
                <a:sym typeface="Canva Sans"/>
              </a:rPr>
              <a:t>The proxy, in turn, controls access to the real image, ensuring that it is loaded from disk only when needed.</a:t>
            </a:r>
          </a:p>
          <a:p>
            <a:pPr algn="l" marL="583526" indent="-291763" lvl="1">
              <a:lnSpc>
                <a:spcPts val="3783"/>
              </a:lnSpc>
              <a:spcBef>
                <a:spcPct val="0"/>
              </a:spcBef>
              <a:buFont typeface="Arial"/>
              <a:buChar char="•"/>
            </a:pPr>
            <a:r>
              <a:rPr lang="en-US" sz="2702">
                <a:solidFill>
                  <a:srgbClr val="181818"/>
                </a:solidFill>
                <a:latin typeface="Canva Sans"/>
                <a:ea typeface="Canva Sans"/>
                <a:cs typeface="Canva Sans"/>
                <a:sym typeface="Canva Sans"/>
              </a:rPr>
              <a:t>Subsequent calls to display() use the cached image in the proxy, avoiding redundant loading and improving performance.</a:t>
            </a:r>
          </a:p>
          <a:p>
            <a:pPr algn="l">
              <a:lnSpc>
                <a:spcPts val="3783"/>
              </a:lnSpc>
              <a:spcBef>
                <a:spcPct val="0"/>
              </a:spcBef>
            </a:pPr>
          </a:p>
        </p:txBody>
      </p:sp>
    </p:spTree>
  </p:cSld>
  <p:clrMapOvr>
    <a:masterClrMapping/>
  </p:clrMapOvr>
</p:sld>
</file>

<file path=ppt/slides/slide9.xml><?xml version="1.0" encoding="utf-8"?>
<p:sld xmlns:p="http://schemas.openxmlformats.org/presentationml/2006/main" xmlns:a="http://schemas.openxmlformats.org/drawingml/2006/main">
  <p:cSld>
    <p:bg>
      <p:bgPr>
        <a:solidFill>
          <a:srgbClr val="FEFEFE"/>
        </a:solidFill>
      </p:bgPr>
    </p:bg>
    <p:spTree>
      <p:nvGrpSpPr>
        <p:cNvPr id="1" name=""/>
        <p:cNvGrpSpPr/>
        <p:nvPr/>
      </p:nvGrpSpPr>
      <p:grpSpPr>
        <a:xfrm>
          <a:off x="0" y="0"/>
          <a:ext cx="0" cy="0"/>
          <a:chOff x="0" y="0"/>
          <a:chExt cx="0" cy="0"/>
        </a:xfrm>
      </p:grpSpPr>
      <p:grpSp>
        <p:nvGrpSpPr>
          <p:cNvPr name="Group 2" id="2"/>
          <p:cNvGrpSpPr/>
          <p:nvPr/>
        </p:nvGrpSpPr>
        <p:grpSpPr>
          <a:xfrm rot="0">
            <a:off x="1028700" y="2743056"/>
            <a:ext cx="9255595" cy="718099"/>
            <a:chOff x="0" y="0"/>
            <a:chExt cx="2437688" cy="189129"/>
          </a:xfrm>
        </p:grpSpPr>
        <p:sp>
          <p:nvSpPr>
            <p:cNvPr name="Freeform 3" id="3"/>
            <p:cNvSpPr/>
            <p:nvPr/>
          </p:nvSpPr>
          <p:spPr>
            <a:xfrm flipH="false" flipV="false" rot="0">
              <a:off x="0" y="0"/>
              <a:ext cx="2437688" cy="189129"/>
            </a:xfrm>
            <a:custGeom>
              <a:avLst/>
              <a:gdLst/>
              <a:ahLst/>
              <a:cxnLst/>
              <a:rect r="r" b="b" t="t" l="l"/>
              <a:pathLst>
                <a:path h="189129" w="2437688">
                  <a:moveTo>
                    <a:pt x="41823" y="0"/>
                  </a:moveTo>
                  <a:lnTo>
                    <a:pt x="2395865" y="0"/>
                  </a:lnTo>
                  <a:cubicBezTo>
                    <a:pt x="2418963" y="0"/>
                    <a:pt x="2437688" y="18725"/>
                    <a:pt x="2437688" y="41823"/>
                  </a:cubicBezTo>
                  <a:lnTo>
                    <a:pt x="2437688" y="147306"/>
                  </a:lnTo>
                  <a:cubicBezTo>
                    <a:pt x="2437688" y="170404"/>
                    <a:pt x="2418963" y="189129"/>
                    <a:pt x="2395865" y="189129"/>
                  </a:cubicBezTo>
                  <a:lnTo>
                    <a:pt x="41823" y="189129"/>
                  </a:lnTo>
                  <a:cubicBezTo>
                    <a:pt x="18725" y="189129"/>
                    <a:pt x="0" y="170404"/>
                    <a:pt x="0" y="147306"/>
                  </a:cubicBezTo>
                  <a:lnTo>
                    <a:pt x="0" y="41823"/>
                  </a:lnTo>
                  <a:cubicBezTo>
                    <a:pt x="0" y="18725"/>
                    <a:pt x="18725" y="0"/>
                    <a:pt x="41823" y="0"/>
                  </a:cubicBezTo>
                  <a:close/>
                </a:path>
              </a:pathLst>
            </a:custGeom>
            <a:solidFill>
              <a:srgbClr val="7C6AF2"/>
            </a:solidFill>
          </p:spPr>
        </p:sp>
        <p:sp>
          <p:nvSpPr>
            <p:cNvPr name="TextBox 4" id="4"/>
            <p:cNvSpPr txBox="true"/>
            <p:nvPr/>
          </p:nvSpPr>
          <p:spPr>
            <a:xfrm>
              <a:off x="0" y="-47625"/>
              <a:ext cx="2437688" cy="236754"/>
            </a:xfrm>
            <a:prstGeom prst="rect">
              <a:avLst/>
            </a:prstGeom>
          </p:spPr>
          <p:txBody>
            <a:bodyPr anchor="ctr" rtlCol="false" tIns="50800" lIns="50800" bIns="50800" rIns="50800"/>
            <a:lstStyle/>
            <a:p>
              <a:pPr algn="ctr">
                <a:lnSpc>
                  <a:spcPts val="4339"/>
                </a:lnSpc>
              </a:pPr>
              <a:r>
                <a:rPr lang="en-US" b="true" sz="3099">
                  <a:solidFill>
                    <a:srgbClr val="FFFFFF"/>
                  </a:solidFill>
                  <a:latin typeface="Canva Sans Bold"/>
                  <a:ea typeface="Canva Sans Bold"/>
                  <a:cs typeface="Canva Sans Bold"/>
                  <a:sym typeface="Canva Sans Bold"/>
                </a:rPr>
                <a:t>Three Flavors of Proxy</a:t>
              </a:r>
            </a:p>
          </p:txBody>
        </p:sp>
      </p:grpSp>
      <p:sp>
        <p:nvSpPr>
          <p:cNvPr name="TextBox 5" id="5"/>
          <p:cNvSpPr txBox="true"/>
          <p:nvPr/>
        </p:nvSpPr>
        <p:spPr>
          <a:xfrm rot="0">
            <a:off x="852811" y="874851"/>
            <a:ext cx="18160199" cy="1544355"/>
          </a:xfrm>
          <a:prstGeom prst="rect">
            <a:avLst/>
          </a:prstGeom>
        </p:spPr>
        <p:txBody>
          <a:bodyPr anchor="t" rtlCol="false" tIns="0" lIns="0" bIns="0" rIns="0">
            <a:spAutoFit/>
          </a:bodyPr>
          <a:lstStyle/>
          <a:p>
            <a:pPr algn="l">
              <a:lnSpc>
                <a:spcPts val="11676"/>
              </a:lnSpc>
            </a:pPr>
            <a:r>
              <a:rPr lang="en-US" b="true" sz="11676">
                <a:solidFill>
                  <a:srgbClr val="181818"/>
                </a:solidFill>
                <a:latin typeface="Canva Sans Bold"/>
                <a:ea typeface="Canva Sans Bold"/>
                <a:cs typeface="Canva Sans Bold"/>
                <a:sym typeface="Canva Sans Bold"/>
              </a:rPr>
              <a:t>COMMON</a:t>
            </a:r>
            <a:r>
              <a:rPr lang="en-US" b="true" sz="11676">
                <a:solidFill>
                  <a:srgbClr val="181818"/>
                </a:solidFill>
                <a:latin typeface="Canva Sans Bold"/>
                <a:ea typeface="Canva Sans Bold"/>
                <a:cs typeface="Canva Sans Bold"/>
                <a:sym typeface="Canva Sans Bold"/>
              </a:rPr>
              <a:t> VARIATIONS</a:t>
            </a:r>
          </a:p>
        </p:txBody>
      </p:sp>
      <p:grpSp>
        <p:nvGrpSpPr>
          <p:cNvPr name="Group 6" id="6"/>
          <p:cNvGrpSpPr/>
          <p:nvPr/>
        </p:nvGrpSpPr>
        <p:grpSpPr>
          <a:xfrm rot="0">
            <a:off x="852811" y="3785005"/>
            <a:ext cx="8291189" cy="2854597"/>
            <a:chOff x="0" y="0"/>
            <a:chExt cx="2183688" cy="751828"/>
          </a:xfrm>
        </p:grpSpPr>
        <p:sp>
          <p:nvSpPr>
            <p:cNvPr name="Freeform 7" id="7"/>
            <p:cNvSpPr/>
            <p:nvPr/>
          </p:nvSpPr>
          <p:spPr>
            <a:xfrm flipH="false" flipV="false" rot="0">
              <a:off x="0" y="0"/>
              <a:ext cx="2183688" cy="751828"/>
            </a:xfrm>
            <a:custGeom>
              <a:avLst/>
              <a:gdLst/>
              <a:ahLst/>
              <a:cxnLst/>
              <a:rect r="r" b="b" t="t" l="l"/>
              <a:pathLst>
                <a:path h="751828" w="2183688">
                  <a:moveTo>
                    <a:pt x="28013" y="0"/>
                  </a:moveTo>
                  <a:lnTo>
                    <a:pt x="2155675" y="0"/>
                  </a:lnTo>
                  <a:cubicBezTo>
                    <a:pt x="2171146" y="0"/>
                    <a:pt x="2183688" y="12542"/>
                    <a:pt x="2183688" y="28013"/>
                  </a:cubicBezTo>
                  <a:lnTo>
                    <a:pt x="2183688" y="723815"/>
                  </a:lnTo>
                  <a:cubicBezTo>
                    <a:pt x="2183688" y="739286"/>
                    <a:pt x="2171146" y="751828"/>
                    <a:pt x="2155675" y="751828"/>
                  </a:cubicBezTo>
                  <a:lnTo>
                    <a:pt x="28013" y="751828"/>
                  </a:lnTo>
                  <a:cubicBezTo>
                    <a:pt x="20583" y="751828"/>
                    <a:pt x="13458" y="748877"/>
                    <a:pt x="8205" y="743623"/>
                  </a:cubicBezTo>
                  <a:cubicBezTo>
                    <a:pt x="2951" y="738370"/>
                    <a:pt x="0" y="731245"/>
                    <a:pt x="0" y="723815"/>
                  </a:cubicBezTo>
                  <a:lnTo>
                    <a:pt x="0" y="28013"/>
                  </a:lnTo>
                  <a:cubicBezTo>
                    <a:pt x="0" y="12542"/>
                    <a:pt x="12542" y="0"/>
                    <a:pt x="28013" y="0"/>
                  </a:cubicBezTo>
                  <a:close/>
                </a:path>
              </a:pathLst>
            </a:custGeom>
            <a:solidFill>
              <a:srgbClr val="FEFEFE"/>
            </a:solidFill>
            <a:ln w="19050" cap="rnd">
              <a:solidFill>
                <a:srgbClr val="181818"/>
              </a:solidFill>
              <a:prstDash val="solid"/>
              <a:round/>
            </a:ln>
          </p:spPr>
        </p:sp>
        <p:sp>
          <p:nvSpPr>
            <p:cNvPr name="TextBox 8" id="8"/>
            <p:cNvSpPr txBox="true"/>
            <p:nvPr/>
          </p:nvSpPr>
          <p:spPr>
            <a:xfrm>
              <a:off x="0" y="-38100"/>
              <a:ext cx="2183688" cy="789928"/>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9" id="9"/>
          <p:cNvGrpSpPr/>
          <p:nvPr/>
        </p:nvGrpSpPr>
        <p:grpSpPr>
          <a:xfrm rot="0">
            <a:off x="9276607" y="3785005"/>
            <a:ext cx="8291189" cy="2854597"/>
            <a:chOff x="0" y="0"/>
            <a:chExt cx="2183688" cy="751828"/>
          </a:xfrm>
        </p:grpSpPr>
        <p:sp>
          <p:nvSpPr>
            <p:cNvPr name="Freeform 10" id="10"/>
            <p:cNvSpPr/>
            <p:nvPr/>
          </p:nvSpPr>
          <p:spPr>
            <a:xfrm flipH="false" flipV="false" rot="0">
              <a:off x="0" y="0"/>
              <a:ext cx="2183688" cy="751828"/>
            </a:xfrm>
            <a:custGeom>
              <a:avLst/>
              <a:gdLst/>
              <a:ahLst/>
              <a:cxnLst/>
              <a:rect r="r" b="b" t="t" l="l"/>
              <a:pathLst>
                <a:path h="751828" w="2183688">
                  <a:moveTo>
                    <a:pt x="28013" y="0"/>
                  </a:moveTo>
                  <a:lnTo>
                    <a:pt x="2155675" y="0"/>
                  </a:lnTo>
                  <a:cubicBezTo>
                    <a:pt x="2171146" y="0"/>
                    <a:pt x="2183688" y="12542"/>
                    <a:pt x="2183688" y="28013"/>
                  </a:cubicBezTo>
                  <a:lnTo>
                    <a:pt x="2183688" y="723815"/>
                  </a:lnTo>
                  <a:cubicBezTo>
                    <a:pt x="2183688" y="739286"/>
                    <a:pt x="2171146" y="751828"/>
                    <a:pt x="2155675" y="751828"/>
                  </a:cubicBezTo>
                  <a:lnTo>
                    <a:pt x="28013" y="751828"/>
                  </a:lnTo>
                  <a:cubicBezTo>
                    <a:pt x="20583" y="751828"/>
                    <a:pt x="13458" y="748877"/>
                    <a:pt x="8205" y="743623"/>
                  </a:cubicBezTo>
                  <a:cubicBezTo>
                    <a:pt x="2951" y="738370"/>
                    <a:pt x="0" y="731245"/>
                    <a:pt x="0" y="723815"/>
                  </a:cubicBezTo>
                  <a:lnTo>
                    <a:pt x="0" y="28013"/>
                  </a:lnTo>
                  <a:cubicBezTo>
                    <a:pt x="0" y="12542"/>
                    <a:pt x="12542" y="0"/>
                    <a:pt x="28013" y="0"/>
                  </a:cubicBezTo>
                  <a:close/>
                </a:path>
              </a:pathLst>
            </a:custGeom>
            <a:solidFill>
              <a:srgbClr val="FEFEFE"/>
            </a:solidFill>
            <a:ln w="19050" cap="rnd">
              <a:solidFill>
                <a:srgbClr val="181818"/>
              </a:solidFill>
              <a:prstDash val="solid"/>
              <a:round/>
            </a:ln>
          </p:spPr>
        </p:sp>
        <p:sp>
          <p:nvSpPr>
            <p:cNvPr name="TextBox 11" id="11"/>
            <p:cNvSpPr txBox="true"/>
            <p:nvPr/>
          </p:nvSpPr>
          <p:spPr>
            <a:xfrm>
              <a:off x="0" y="-38100"/>
              <a:ext cx="2183688" cy="789928"/>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2" id="12"/>
          <p:cNvSpPr txBox="true"/>
          <p:nvPr/>
        </p:nvSpPr>
        <p:spPr>
          <a:xfrm rot="0">
            <a:off x="1516726" y="3990722"/>
            <a:ext cx="6963359" cy="537846"/>
          </a:xfrm>
          <a:prstGeom prst="rect">
            <a:avLst/>
          </a:prstGeom>
        </p:spPr>
        <p:txBody>
          <a:bodyPr anchor="t" rtlCol="false" tIns="0" lIns="0" bIns="0" rIns="0">
            <a:spAutoFit/>
          </a:bodyPr>
          <a:lstStyle/>
          <a:p>
            <a:pPr algn="l">
              <a:lnSpc>
                <a:spcPts val="4479"/>
              </a:lnSpc>
              <a:spcBef>
                <a:spcPct val="0"/>
              </a:spcBef>
            </a:pPr>
            <a:r>
              <a:rPr lang="en-US" b="true" sz="3199">
                <a:solidFill>
                  <a:srgbClr val="181818"/>
                </a:solidFill>
                <a:latin typeface="Canva Sans Bold"/>
                <a:ea typeface="Canva Sans Bold"/>
                <a:cs typeface="Canva Sans Bold"/>
                <a:sym typeface="Canva Sans Bold"/>
              </a:rPr>
              <a:t>Virtual</a:t>
            </a:r>
            <a:r>
              <a:rPr lang="en-US" b="true" sz="3199" i="true">
                <a:solidFill>
                  <a:srgbClr val="181818"/>
                </a:solidFill>
                <a:latin typeface="Canva Sans Bold Italics"/>
                <a:ea typeface="Canva Sans Bold Italics"/>
                <a:cs typeface="Canva Sans Bold Italics"/>
                <a:sym typeface="Canva Sans Bold Italics"/>
              </a:rPr>
              <a:t> Proxy</a:t>
            </a:r>
          </a:p>
        </p:txBody>
      </p:sp>
      <p:sp>
        <p:nvSpPr>
          <p:cNvPr name="TextBox 13" id="13"/>
          <p:cNvSpPr txBox="true"/>
          <p:nvPr/>
        </p:nvSpPr>
        <p:spPr>
          <a:xfrm rot="0">
            <a:off x="9940523" y="3990722"/>
            <a:ext cx="6963359" cy="537846"/>
          </a:xfrm>
          <a:prstGeom prst="rect">
            <a:avLst/>
          </a:prstGeom>
        </p:spPr>
        <p:txBody>
          <a:bodyPr anchor="t" rtlCol="false" tIns="0" lIns="0" bIns="0" rIns="0">
            <a:spAutoFit/>
          </a:bodyPr>
          <a:lstStyle/>
          <a:p>
            <a:pPr algn="l">
              <a:lnSpc>
                <a:spcPts val="4479"/>
              </a:lnSpc>
              <a:spcBef>
                <a:spcPct val="0"/>
              </a:spcBef>
            </a:pPr>
            <a:r>
              <a:rPr lang="en-US" b="true" sz="3199">
                <a:solidFill>
                  <a:srgbClr val="181818"/>
                </a:solidFill>
                <a:latin typeface="Canva Sans Bold"/>
                <a:ea typeface="Canva Sans Bold"/>
                <a:cs typeface="Canva Sans Bold"/>
                <a:sym typeface="Canva Sans Bold"/>
              </a:rPr>
              <a:t>Protection Proxy</a:t>
            </a:r>
          </a:p>
        </p:txBody>
      </p:sp>
      <p:sp>
        <p:nvSpPr>
          <p:cNvPr name="TextBox 14" id="14"/>
          <p:cNvSpPr txBox="true"/>
          <p:nvPr/>
        </p:nvSpPr>
        <p:spPr>
          <a:xfrm rot="0">
            <a:off x="1614677" y="4666608"/>
            <a:ext cx="7187247" cy="1581150"/>
          </a:xfrm>
          <a:prstGeom prst="rect">
            <a:avLst/>
          </a:prstGeom>
        </p:spPr>
        <p:txBody>
          <a:bodyPr anchor="t" rtlCol="false" tIns="0" lIns="0" bIns="0" rIns="0">
            <a:spAutoFit/>
          </a:bodyPr>
          <a:lstStyle/>
          <a:p>
            <a:pPr algn="l">
              <a:lnSpc>
                <a:spcPts val="4200"/>
              </a:lnSpc>
              <a:spcBef>
                <a:spcPct val="0"/>
              </a:spcBef>
            </a:pPr>
            <a:r>
              <a:rPr lang="en-US" sz="3000">
                <a:solidFill>
                  <a:srgbClr val="181818"/>
                </a:solidFill>
                <a:latin typeface="Canva Sans"/>
                <a:ea typeface="Canva Sans"/>
                <a:cs typeface="Canva Sans"/>
                <a:sym typeface="Canva Sans"/>
              </a:rPr>
              <a:t>Used for "Lazy Loading." It creates expensive objects only when they are actually needed.</a:t>
            </a:r>
          </a:p>
        </p:txBody>
      </p:sp>
      <p:sp>
        <p:nvSpPr>
          <p:cNvPr name="TextBox 15" id="15"/>
          <p:cNvSpPr txBox="true"/>
          <p:nvPr/>
        </p:nvSpPr>
        <p:spPr>
          <a:xfrm rot="0">
            <a:off x="9932910" y="4666608"/>
            <a:ext cx="7187247" cy="1581150"/>
          </a:xfrm>
          <a:prstGeom prst="rect">
            <a:avLst/>
          </a:prstGeom>
        </p:spPr>
        <p:txBody>
          <a:bodyPr anchor="t" rtlCol="false" tIns="0" lIns="0" bIns="0" rIns="0">
            <a:spAutoFit/>
          </a:bodyPr>
          <a:lstStyle/>
          <a:p>
            <a:pPr algn="l">
              <a:lnSpc>
                <a:spcPts val="4200"/>
              </a:lnSpc>
              <a:spcBef>
                <a:spcPct val="0"/>
              </a:spcBef>
            </a:pPr>
            <a:r>
              <a:rPr lang="en-US" sz="3000">
                <a:solidFill>
                  <a:srgbClr val="181818"/>
                </a:solidFill>
                <a:latin typeface="Canva Sans"/>
                <a:ea typeface="Canva Sans"/>
                <a:cs typeface="Canva Sans"/>
                <a:sym typeface="Canva Sans"/>
              </a:rPr>
              <a:t>Used for Security. It checks the caller’s permissions before allowing access to the RealSubject.</a:t>
            </a:r>
          </a:p>
        </p:txBody>
      </p:sp>
      <p:grpSp>
        <p:nvGrpSpPr>
          <p:cNvPr name="Group 16" id="16"/>
          <p:cNvGrpSpPr/>
          <p:nvPr/>
        </p:nvGrpSpPr>
        <p:grpSpPr>
          <a:xfrm rot="0">
            <a:off x="852811" y="6830102"/>
            <a:ext cx="16714986" cy="2315927"/>
            <a:chOff x="0" y="0"/>
            <a:chExt cx="4980497" cy="690067"/>
          </a:xfrm>
        </p:grpSpPr>
        <p:sp>
          <p:nvSpPr>
            <p:cNvPr name="Freeform 17" id="17"/>
            <p:cNvSpPr/>
            <p:nvPr/>
          </p:nvSpPr>
          <p:spPr>
            <a:xfrm flipH="false" flipV="false" rot="0">
              <a:off x="0" y="0"/>
              <a:ext cx="4980497" cy="690067"/>
            </a:xfrm>
            <a:custGeom>
              <a:avLst/>
              <a:gdLst/>
              <a:ahLst/>
              <a:cxnLst/>
              <a:rect r="r" b="b" t="t" l="l"/>
              <a:pathLst>
                <a:path h="690067" w="4980497">
                  <a:moveTo>
                    <a:pt x="13895" y="0"/>
                  </a:moveTo>
                  <a:lnTo>
                    <a:pt x="4966602" y="0"/>
                  </a:lnTo>
                  <a:cubicBezTo>
                    <a:pt x="4970287" y="0"/>
                    <a:pt x="4973822" y="1464"/>
                    <a:pt x="4976427" y="4070"/>
                  </a:cubicBezTo>
                  <a:cubicBezTo>
                    <a:pt x="4979033" y="6676"/>
                    <a:pt x="4980497" y="10210"/>
                    <a:pt x="4980497" y="13895"/>
                  </a:cubicBezTo>
                  <a:lnTo>
                    <a:pt x="4980497" y="676172"/>
                  </a:lnTo>
                  <a:cubicBezTo>
                    <a:pt x="4980497" y="679858"/>
                    <a:pt x="4979033" y="683392"/>
                    <a:pt x="4976427" y="685998"/>
                  </a:cubicBezTo>
                  <a:cubicBezTo>
                    <a:pt x="4973822" y="688604"/>
                    <a:pt x="4970287" y="690067"/>
                    <a:pt x="4966602" y="690067"/>
                  </a:cubicBezTo>
                  <a:lnTo>
                    <a:pt x="13895" y="690067"/>
                  </a:lnTo>
                  <a:cubicBezTo>
                    <a:pt x="10210" y="690067"/>
                    <a:pt x="6676" y="688604"/>
                    <a:pt x="4070" y="685998"/>
                  </a:cubicBezTo>
                  <a:cubicBezTo>
                    <a:pt x="1464" y="683392"/>
                    <a:pt x="0" y="679858"/>
                    <a:pt x="0" y="676172"/>
                  </a:cubicBezTo>
                  <a:lnTo>
                    <a:pt x="0" y="13895"/>
                  </a:lnTo>
                  <a:cubicBezTo>
                    <a:pt x="0" y="10210"/>
                    <a:pt x="1464" y="6676"/>
                    <a:pt x="4070" y="4070"/>
                  </a:cubicBezTo>
                  <a:cubicBezTo>
                    <a:pt x="6676" y="1464"/>
                    <a:pt x="10210" y="0"/>
                    <a:pt x="13895" y="0"/>
                  </a:cubicBezTo>
                  <a:close/>
                </a:path>
              </a:pathLst>
            </a:custGeom>
            <a:solidFill>
              <a:srgbClr val="FEFEFE"/>
            </a:solidFill>
            <a:ln w="19050" cap="rnd">
              <a:solidFill>
                <a:srgbClr val="181818"/>
              </a:solidFill>
              <a:prstDash val="solid"/>
              <a:round/>
            </a:ln>
          </p:spPr>
        </p:sp>
        <p:sp>
          <p:nvSpPr>
            <p:cNvPr name="TextBox 18" id="18"/>
            <p:cNvSpPr txBox="true"/>
            <p:nvPr/>
          </p:nvSpPr>
          <p:spPr>
            <a:xfrm>
              <a:off x="0" y="-38100"/>
              <a:ext cx="4980497" cy="728167"/>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9" id="19"/>
          <p:cNvSpPr txBox="true"/>
          <p:nvPr/>
        </p:nvSpPr>
        <p:spPr>
          <a:xfrm rot="0">
            <a:off x="1516726" y="7071977"/>
            <a:ext cx="12408377" cy="471082"/>
          </a:xfrm>
          <a:prstGeom prst="rect">
            <a:avLst/>
          </a:prstGeom>
        </p:spPr>
        <p:txBody>
          <a:bodyPr anchor="t" rtlCol="false" tIns="0" lIns="0" bIns="0" rIns="0">
            <a:spAutoFit/>
          </a:bodyPr>
          <a:lstStyle/>
          <a:p>
            <a:pPr algn="l">
              <a:lnSpc>
                <a:spcPts val="3959"/>
              </a:lnSpc>
              <a:spcBef>
                <a:spcPct val="0"/>
              </a:spcBef>
            </a:pPr>
            <a:r>
              <a:rPr lang="en-US" b="true" sz="2828">
                <a:solidFill>
                  <a:srgbClr val="181818"/>
                </a:solidFill>
                <a:latin typeface="Canva Sans Bold"/>
                <a:ea typeface="Canva Sans Bold"/>
                <a:cs typeface="Canva Sans Bold"/>
                <a:sym typeface="Canva Sans Bold"/>
              </a:rPr>
              <a:t>Remote Proxy</a:t>
            </a:r>
          </a:p>
        </p:txBody>
      </p:sp>
      <p:sp>
        <p:nvSpPr>
          <p:cNvPr name="TextBox 20" id="20"/>
          <p:cNvSpPr txBox="true"/>
          <p:nvPr/>
        </p:nvSpPr>
        <p:spPr>
          <a:xfrm rot="0">
            <a:off x="1516726" y="7628946"/>
            <a:ext cx="14902835" cy="1046913"/>
          </a:xfrm>
          <a:prstGeom prst="rect">
            <a:avLst/>
          </a:prstGeom>
        </p:spPr>
        <p:txBody>
          <a:bodyPr anchor="t" rtlCol="false" tIns="0" lIns="0" bIns="0" rIns="0">
            <a:spAutoFit/>
          </a:bodyPr>
          <a:lstStyle/>
          <a:p>
            <a:pPr algn="l">
              <a:lnSpc>
                <a:spcPts val="4246"/>
              </a:lnSpc>
              <a:spcBef>
                <a:spcPct val="0"/>
              </a:spcBef>
            </a:pPr>
            <a:r>
              <a:rPr lang="en-US" sz="3032">
                <a:solidFill>
                  <a:srgbClr val="181818"/>
                </a:solidFill>
                <a:latin typeface="Canva Sans"/>
                <a:ea typeface="Canva Sans"/>
                <a:cs typeface="Canva Sans"/>
                <a:sym typeface="Canva Sans"/>
              </a:rPr>
              <a:t>Used for Networking. It represents an object that exists on a different server or JVM.</a:t>
            </a:r>
          </a:p>
        </p:txBody>
      </p:sp>
    </p:spTree>
  </p:cSld>
  <p:clrMapOvr>
    <a:masterClrMapping/>
  </p:clrMapOvr>
</p:sld>
</file>

<file path=ppt/slides/slide10.xml><?xml version="1.0" encoding="utf-8"?>
<p:sld xmlns:p="http://schemas.openxmlformats.org/presentationml/2006/main" xmlns:a="http://schemas.openxmlformats.org/drawingml/2006/main">
  <p:cSld>
    <p:bg>
      <p:bgPr>
        <a:solidFill>
          <a:srgbClr val="FEFEFE"/>
        </a:solidFill>
      </p:bgPr>
    </p:bg>
    <p:spTree>
      <p:nvGrpSpPr>
        <p:cNvPr id="1" name=""/>
        <p:cNvGrpSpPr/>
        <p:nvPr/>
      </p:nvGrpSpPr>
      <p:grpSpPr>
        <a:xfrm>
          <a:off x="0" y="0"/>
          <a:ext cx="0" cy="0"/>
          <a:chOff x="0" y="0"/>
          <a:chExt cx="0" cy="0"/>
        </a:xfrm>
      </p:grpSpPr>
      <p:grpSp>
        <p:nvGrpSpPr>
          <p:cNvPr name="Group 2" id="2"/>
          <p:cNvGrpSpPr/>
          <p:nvPr/>
        </p:nvGrpSpPr>
        <p:grpSpPr>
          <a:xfrm rot="0">
            <a:off x="1028700" y="2743056"/>
            <a:ext cx="9255595" cy="718099"/>
            <a:chOff x="0" y="0"/>
            <a:chExt cx="2437688" cy="189129"/>
          </a:xfrm>
        </p:grpSpPr>
        <p:sp>
          <p:nvSpPr>
            <p:cNvPr name="Freeform 3" id="3"/>
            <p:cNvSpPr/>
            <p:nvPr/>
          </p:nvSpPr>
          <p:spPr>
            <a:xfrm flipH="false" flipV="false" rot="0">
              <a:off x="0" y="0"/>
              <a:ext cx="2437688" cy="189129"/>
            </a:xfrm>
            <a:custGeom>
              <a:avLst/>
              <a:gdLst/>
              <a:ahLst/>
              <a:cxnLst/>
              <a:rect r="r" b="b" t="t" l="l"/>
              <a:pathLst>
                <a:path h="189129" w="2437688">
                  <a:moveTo>
                    <a:pt x="41823" y="0"/>
                  </a:moveTo>
                  <a:lnTo>
                    <a:pt x="2395865" y="0"/>
                  </a:lnTo>
                  <a:cubicBezTo>
                    <a:pt x="2418963" y="0"/>
                    <a:pt x="2437688" y="18725"/>
                    <a:pt x="2437688" y="41823"/>
                  </a:cubicBezTo>
                  <a:lnTo>
                    <a:pt x="2437688" y="147306"/>
                  </a:lnTo>
                  <a:cubicBezTo>
                    <a:pt x="2437688" y="170404"/>
                    <a:pt x="2418963" y="189129"/>
                    <a:pt x="2395865" y="189129"/>
                  </a:cubicBezTo>
                  <a:lnTo>
                    <a:pt x="41823" y="189129"/>
                  </a:lnTo>
                  <a:cubicBezTo>
                    <a:pt x="18725" y="189129"/>
                    <a:pt x="0" y="170404"/>
                    <a:pt x="0" y="147306"/>
                  </a:cubicBezTo>
                  <a:lnTo>
                    <a:pt x="0" y="41823"/>
                  </a:lnTo>
                  <a:cubicBezTo>
                    <a:pt x="0" y="18725"/>
                    <a:pt x="18725" y="0"/>
                    <a:pt x="41823" y="0"/>
                  </a:cubicBezTo>
                  <a:close/>
                </a:path>
              </a:pathLst>
            </a:custGeom>
            <a:solidFill>
              <a:srgbClr val="7C6AF2"/>
            </a:solidFill>
          </p:spPr>
        </p:sp>
        <p:sp>
          <p:nvSpPr>
            <p:cNvPr name="TextBox 4" id="4"/>
            <p:cNvSpPr txBox="true"/>
            <p:nvPr/>
          </p:nvSpPr>
          <p:spPr>
            <a:xfrm>
              <a:off x="0" y="-47625"/>
              <a:ext cx="2437688" cy="236754"/>
            </a:xfrm>
            <a:prstGeom prst="rect">
              <a:avLst/>
            </a:prstGeom>
          </p:spPr>
          <p:txBody>
            <a:bodyPr anchor="ctr" rtlCol="false" tIns="50800" lIns="50800" bIns="50800" rIns="50800"/>
            <a:lstStyle/>
            <a:p>
              <a:pPr algn="ctr">
                <a:lnSpc>
                  <a:spcPts val="4339"/>
                </a:lnSpc>
              </a:pPr>
            </a:p>
          </p:txBody>
        </p:sp>
      </p:grpSp>
      <p:sp>
        <p:nvSpPr>
          <p:cNvPr name="TextBox 5" id="5"/>
          <p:cNvSpPr txBox="true"/>
          <p:nvPr/>
        </p:nvSpPr>
        <p:spPr>
          <a:xfrm rot="0">
            <a:off x="852811" y="1064699"/>
            <a:ext cx="17435189" cy="1202106"/>
          </a:xfrm>
          <a:prstGeom prst="rect">
            <a:avLst/>
          </a:prstGeom>
        </p:spPr>
        <p:txBody>
          <a:bodyPr anchor="t" rtlCol="false" tIns="0" lIns="0" bIns="0" rIns="0">
            <a:spAutoFit/>
          </a:bodyPr>
          <a:lstStyle/>
          <a:p>
            <a:pPr algn="l">
              <a:lnSpc>
                <a:spcPts val="9077"/>
              </a:lnSpc>
            </a:pPr>
            <a:r>
              <a:rPr lang="en-US" b="true" sz="9077">
                <a:solidFill>
                  <a:srgbClr val="181818"/>
                </a:solidFill>
                <a:latin typeface="Canva Sans Bold"/>
                <a:ea typeface="Canva Sans Bold"/>
                <a:cs typeface="Canva Sans Bold"/>
                <a:sym typeface="Canva Sans Bold"/>
              </a:rPr>
              <a:t>WHY PROXY DESIGN PATTERN</a:t>
            </a:r>
          </a:p>
        </p:txBody>
      </p:sp>
      <p:grpSp>
        <p:nvGrpSpPr>
          <p:cNvPr name="Group 6" id="6"/>
          <p:cNvGrpSpPr/>
          <p:nvPr/>
        </p:nvGrpSpPr>
        <p:grpSpPr>
          <a:xfrm rot="0">
            <a:off x="852811" y="3785005"/>
            <a:ext cx="8291189" cy="2854597"/>
            <a:chOff x="0" y="0"/>
            <a:chExt cx="2183688" cy="751828"/>
          </a:xfrm>
        </p:grpSpPr>
        <p:sp>
          <p:nvSpPr>
            <p:cNvPr name="Freeform 7" id="7"/>
            <p:cNvSpPr/>
            <p:nvPr/>
          </p:nvSpPr>
          <p:spPr>
            <a:xfrm flipH="false" flipV="false" rot="0">
              <a:off x="0" y="0"/>
              <a:ext cx="2183688" cy="751828"/>
            </a:xfrm>
            <a:custGeom>
              <a:avLst/>
              <a:gdLst/>
              <a:ahLst/>
              <a:cxnLst/>
              <a:rect r="r" b="b" t="t" l="l"/>
              <a:pathLst>
                <a:path h="751828" w="2183688">
                  <a:moveTo>
                    <a:pt x="28013" y="0"/>
                  </a:moveTo>
                  <a:lnTo>
                    <a:pt x="2155675" y="0"/>
                  </a:lnTo>
                  <a:cubicBezTo>
                    <a:pt x="2171146" y="0"/>
                    <a:pt x="2183688" y="12542"/>
                    <a:pt x="2183688" y="28013"/>
                  </a:cubicBezTo>
                  <a:lnTo>
                    <a:pt x="2183688" y="723815"/>
                  </a:lnTo>
                  <a:cubicBezTo>
                    <a:pt x="2183688" y="739286"/>
                    <a:pt x="2171146" y="751828"/>
                    <a:pt x="2155675" y="751828"/>
                  </a:cubicBezTo>
                  <a:lnTo>
                    <a:pt x="28013" y="751828"/>
                  </a:lnTo>
                  <a:cubicBezTo>
                    <a:pt x="20583" y="751828"/>
                    <a:pt x="13458" y="748877"/>
                    <a:pt x="8205" y="743623"/>
                  </a:cubicBezTo>
                  <a:cubicBezTo>
                    <a:pt x="2951" y="738370"/>
                    <a:pt x="0" y="731245"/>
                    <a:pt x="0" y="723815"/>
                  </a:cubicBezTo>
                  <a:lnTo>
                    <a:pt x="0" y="28013"/>
                  </a:lnTo>
                  <a:cubicBezTo>
                    <a:pt x="0" y="12542"/>
                    <a:pt x="12542" y="0"/>
                    <a:pt x="28013" y="0"/>
                  </a:cubicBezTo>
                  <a:close/>
                </a:path>
              </a:pathLst>
            </a:custGeom>
            <a:solidFill>
              <a:srgbClr val="FEFEFE"/>
            </a:solidFill>
            <a:ln w="19050" cap="rnd">
              <a:solidFill>
                <a:srgbClr val="181818"/>
              </a:solidFill>
              <a:prstDash val="solid"/>
              <a:round/>
            </a:ln>
          </p:spPr>
        </p:sp>
        <p:sp>
          <p:nvSpPr>
            <p:cNvPr name="TextBox 8" id="8"/>
            <p:cNvSpPr txBox="true"/>
            <p:nvPr/>
          </p:nvSpPr>
          <p:spPr>
            <a:xfrm>
              <a:off x="0" y="-38100"/>
              <a:ext cx="2183688" cy="789928"/>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9" id="9"/>
          <p:cNvGrpSpPr/>
          <p:nvPr/>
        </p:nvGrpSpPr>
        <p:grpSpPr>
          <a:xfrm rot="0">
            <a:off x="9276607" y="3785005"/>
            <a:ext cx="8291189" cy="2854597"/>
            <a:chOff x="0" y="0"/>
            <a:chExt cx="2183688" cy="751828"/>
          </a:xfrm>
        </p:grpSpPr>
        <p:sp>
          <p:nvSpPr>
            <p:cNvPr name="Freeform 10" id="10"/>
            <p:cNvSpPr/>
            <p:nvPr/>
          </p:nvSpPr>
          <p:spPr>
            <a:xfrm flipH="false" flipV="false" rot="0">
              <a:off x="0" y="0"/>
              <a:ext cx="2183688" cy="751828"/>
            </a:xfrm>
            <a:custGeom>
              <a:avLst/>
              <a:gdLst/>
              <a:ahLst/>
              <a:cxnLst/>
              <a:rect r="r" b="b" t="t" l="l"/>
              <a:pathLst>
                <a:path h="751828" w="2183688">
                  <a:moveTo>
                    <a:pt x="28013" y="0"/>
                  </a:moveTo>
                  <a:lnTo>
                    <a:pt x="2155675" y="0"/>
                  </a:lnTo>
                  <a:cubicBezTo>
                    <a:pt x="2171146" y="0"/>
                    <a:pt x="2183688" y="12542"/>
                    <a:pt x="2183688" y="28013"/>
                  </a:cubicBezTo>
                  <a:lnTo>
                    <a:pt x="2183688" y="723815"/>
                  </a:lnTo>
                  <a:cubicBezTo>
                    <a:pt x="2183688" y="739286"/>
                    <a:pt x="2171146" y="751828"/>
                    <a:pt x="2155675" y="751828"/>
                  </a:cubicBezTo>
                  <a:lnTo>
                    <a:pt x="28013" y="751828"/>
                  </a:lnTo>
                  <a:cubicBezTo>
                    <a:pt x="20583" y="751828"/>
                    <a:pt x="13458" y="748877"/>
                    <a:pt x="8205" y="743623"/>
                  </a:cubicBezTo>
                  <a:cubicBezTo>
                    <a:pt x="2951" y="738370"/>
                    <a:pt x="0" y="731245"/>
                    <a:pt x="0" y="723815"/>
                  </a:cubicBezTo>
                  <a:lnTo>
                    <a:pt x="0" y="28013"/>
                  </a:lnTo>
                  <a:cubicBezTo>
                    <a:pt x="0" y="12542"/>
                    <a:pt x="12542" y="0"/>
                    <a:pt x="28013" y="0"/>
                  </a:cubicBezTo>
                  <a:close/>
                </a:path>
              </a:pathLst>
            </a:custGeom>
            <a:solidFill>
              <a:srgbClr val="FEFEFE"/>
            </a:solidFill>
            <a:ln w="19050" cap="rnd">
              <a:solidFill>
                <a:srgbClr val="181818"/>
              </a:solidFill>
              <a:prstDash val="solid"/>
              <a:round/>
            </a:ln>
          </p:spPr>
        </p:sp>
        <p:sp>
          <p:nvSpPr>
            <p:cNvPr name="TextBox 11" id="11"/>
            <p:cNvSpPr txBox="true"/>
            <p:nvPr/>
          </p:nvSpPr>
          <p:spPr>
            <a:xfrm>
              <a:off x="0" y="-38100"/>
              <a:ext cx="2183688" cy="789928"/>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2" id="12"/>
          <p:cNvSpPr txBox="true"/>
          <p:nvPr/>
        </p:nvSpPr>
        <p:spPr>
          <a:xfrm rot="0">
            <a:off x="1516726" y="3990722"/>
            <a:ext cx="6963359" cy="537846"/>
          </a:xfrm>
          <a:prstGeom prst="rect">
            <a:avLst/>
          </a:prstGeom>
        </p:spPr>
        <p:txBody>
          <a:bodyPr anchor="t" rtlCol="false" tIns="0" lIns="0" bIns="0" rIns="0">
            <a:spAutoFit/>
          </a:bodyPr>
          <a:lstStyle/>
          <a:p>
            <a:pPr algn="l">
              <a:lnSpc>
                <a:spcPts val="4479"/>
              </a:lnSpc>
              <a:spcBef>
                <a:spcPct val="0"/>
              </a:spcBef>
            </a:pPr>
            <a:r>
              <a:rPr lang="en-US" b="true" sz="3199" i="true">
                <a:solidFill>
                  <a:srgbClr val="181818"/>
                </a:solidFill>
                <a:latin typeface="Canva Sans Bold Italics"/>
                <a:ea typeface="Canva Sans Bold Italics"/>
                <a:cs typeface="Canva Sans Bold Italics"/>
                <a:sym typeface="Canva Sans Bold Italics"/>
              </a:rPr>
              <a:t>Security</a:t>
            </a:r>
          </a:p>
        </p:txBody>
      </p:sp>
      <p:sp>
        <p:nvSpPr>
          <p:cNvPr name="TextBox 13" id="13"/>
          <p:cNvSpPr txBox="true"/>
          <p:nvPr/>
        </p:nvSpPr>
        <p:spPr>
          <a:xfrm rot="0">
            <a:off x="9940523" y="3990722"/>
            <a:ext cx="6963359" cy="537846"/>
          </a:xfrm>
          <a:prstGeom prst="rect">
            <a:avLst/>
          </a:prstGeom>
        </p:spPr>
        <p:txBody>
          <a:bodyPr anchor="t" rtlCol="false" tIns="0" lIns="0" bIns="0" rIns="0">
            <a:spAutoFit/>
          </a:bodyPr>
          <a:lstStyle/>
          <a:p>
            <a:pPr algn="l">
              <a:lnSpc>
                <a:spcPts val="4479"/>
              </a:lnSpc>
              <a:spcBef>
                <a:spcPct val="0"/>
              </a:spcBef>
            </a:pPr>
            <a:r>
              <a:rPr lang="en-US" b="true" sz="3199">
                <a:solidFill>
                  <a:srgbClr val="181818"/>
                </a:solidFill>
                <a:latin typeface="Canva Sans Bold"/>
                <a:ea typeface="Canva Sans Bold"/>
                <a:cs typeface="Canva Sans Bold"/>
                <a:sym typeface="Canva Sans Bold"/>
              </a:rPr>
              <a:t>Performance</a:t>
            </a:r>
          </a:p>
        </p:txBody>
      </p:sp>
      <p:sp>
        <p:nvSpPr>
          <p:cNvPr name="TextBox 14" id="14"/>
          <p:cNvSpPr txBox="true"/>
          <p:nvPr/>
        </p:nvSpPr>
        <p:spPr>
          <a:xfrm rot="0">
            <a:off x="1614677" y="4666608"/>
            <a:ext cx="7187247" cy="1047750"/>
          </a:xfrm>
          <a:prstGeom prst="rect">
            <a:avLst/>
          </a:prstGeom>
        </p:spPr>
        <p:txBody>
          <a:bodyPr anchor="t" rtlCol="false" tIns="0" lIns="0" bIns="0" rIns="0">
            <a:spAutoFit/>
          </a:bodyPr>
          <a:lstStyle/>
          <a:p>
            <a:pPr algn="l">
              <a:lnSpc>
                <a:spcPts val="4200"/>
              </a:lnSpc>
              <a:spcBef>
                <a:spcPct val="0"/>
              </a:spcBef>
            </a:pPr>
            <a:r>
              <a:rPr lang="en-US" sz="3000">
                <a:solidFill>
                  <a:srgbClr val="181818"/>
                </a:solidFill>
                <a:latin typeface="Canva Sans"/>
                <a:ea typeface="Canva Sans"/>
                <a:cs typeface="Canva Sans"/>
                <a:sym typeface="Canva Sans"/>
              </a:rPr>
              <a:t>Adds a protective layer without modifying the original code.</a:t>
            </a:r>
          </a:p>
        </p:txBody>
      </p:sp>
      <p:sp>
        <p:nvSpPr>
          <p:cNvPr name="TextBox 15" id="15"/>
          <p:cNvSpPr txBox="true"/>
          <p:nvPr/>
        </p:nvSpPr>
        <p:spPr>
          <a:xfrm rot="0">
            <a:off x="9932910" y="4666608"/>
            <a:ext cx="7187247" cy="1047750"/>
          </a:xfrm>
          <a:prstGeom prst="rect">
            <a:avLst/>
          </a:prstGeom>
        </p:spPr>
        <p:txBody>
          <a:bodyPr anchor="t" rtlCol="false" tIns="0" lIns="0" bIns="0" rIns="0">
            <a:spAutoFit/>
          </a:bodyPr>
          <a:lstStyle/>
          <a:p>
            <a:pPr algn="l">
              <a:lnSpc>
                <a:spcPts val="4200"/>
              </a:lnSpc>
              <a:spcBef>
                <a:spcPct val="0"/>
              </a:spcBef>
            </a:pPr>
            <a:r>
              <a:rPr lang="en-US" sz="3000">
                <a:solidFill>
                  <a:srgbClr val="181818"/>
                </a:solidFill>
                <a:latin typeface="Canva Sans"/>
                <a:ea typeface="Canva Sans"/>
                <a:cs typeface="Canva Sans"/>
                <a:sym typeface="Canva Sans"/>
              </a:rPr>
              <a:t>Avoids memory waste by deferring the creation of "heavy" objects.</a:t>
            </a:r>
          </a:p>
        </p:txBody>
      </p:sp>
      <p:grpSp>
        <p:nvGrpSpPr>
          <p:cNvPr name="Group 16" id="16"/>
          <p:cNvGrpSpPr/>
          <p:nvPr/>
        </p:nvGrpSpPr>
        <p:grpSpPr>
          <a:xfrm rot="0">
            <a:off x="852811" y="6830102"/>
            <a:ext cx="16714986" cy="2315927"/>
            <a:chOff x="0" y="0"/>
            <a:chExt cx="4980497" cy="690067"/>
          </a:xfrm>
        </p:grpSpPr>
        <p:sp>
          <p:nvSpPr>
            <p:cNvPr name="Freeform 17" id="17"/>
            <p:cNvSpPr/>
            <p:nvPr/>
          </p:nvSpPr>
          <p:spPr>
            <a:xfrm flipH="false" flipV="false" rot="0">
              <a:off x="0" y="0"/>
              <a:ext cx="4980497" cy="690067"/>
            </a:xfrm>
            <a:custGeom>
              <a:avLst/>
              <a:gdLst/>
              <a:ahLst/>
              <a:cxnLst/>
              <a:rect r="r" b="b" t="t" l="l"/>
              <a:pathLst>
                <a:path h="690067" w="4980497">
                  <a:moveTo>
                    <a:pt x="13895" y="0"/>
                  </a:moveTo>
                  <a:lnTo>
                    <a:pt x="4966602" y="0"/>
                  </a:lnTo>
                  <a:cubicBezTo>
                    <a:pt x="4970287" y="0"/>
                    <a:pt x="4973822" y="1464"/>
                    <a:pt x="4976427" y="4070"/>
                  </a:cubicBezTo>
                  <a:cubicBezTo>
                    <a:pt x="4979033" y="6676"/>
                    <a:pt x="4980497" y="10210"/>
                    <a:pt x="4980497" y="13895"/>
                  </a:cubicBezTo>
                  <a:lnTo>
                    <a:pt x="4980497" y="676172"/>
                  </a:lnTo>
                  <a:cubicBezTo>
                    <a:pt x="4980497" y="679858"/>
                    <a:pt x="4979033" y="683392"/>
                    <a:pt x="4976427" y="685998"/>
                  </a:cubicBezTo>
                  <a:cubicBezTo>
                    <a:pt x="4973822" y="688604"/>
                    <a:pt x="4970287" y="690067"/>
                    <a:pt x="4966602" y="690067"/>
                  </a:cubicBezTo>
                  <a:lnTo>
                    <a:pt x="13895" y="690067"/>
                  </a:lnTo>
                  <a:cubicBezTo>
                    <a:pt x="10210" y="690067"/>
                    <a:pt x="6676" y="688604"/>
                    <a:pt x="4070" y="685998"/>
                  </a:cubicBezTo>
                  <a:cubicBezTo>
                    <a:pt x="1464" y="683392"/>
                    <a:pt x="0" y="679858"/>
                    <a:pt x="0" y="676172"/>
                  </a:cubicBezTo>
                  <a:lnTo>
                    <a:pt x="0" y="13895"/>
                  </a:lnTo>
                  <a:cubicBezTo>
                    <a:pt x="0" y="10210"/>
                    <a:pt x="1464" y="6676"/>
                    <a:pt x="4070" y="4070"/>
                  </a:cubicBezTo>
                  <a:cubicBezTo>
                    <a:pt x="6676" y="1464"/>
                    <a:pt x="10210" y="0"/>
                    <a:pt x="13895" y="0"/>
                  </a:cubicBezTo>
                  <a:close/>
                </a:path>
              </a:pathLst>
            </a:custGeom>
            <a:solidFill>
              <a:srgbClr val="FEFEFE"/>
            </a:solidFill>
            <a:ln w="19050" cap="rnd">
              <a:solidFill>
                <a:srgbClr val="181818"/>
              </a:solidFill>
              <a:prstDash val="solid"/>
              <a:round/>
            </a:ln>
          </p:spPr>
        </p:sp>
        <p:sp>
          <p:nvSpPr>
            <p:cNvPr name="TextBox 18" id="18"/>
            <p:cNvSpPr txBox="true"/>
            <p:nvPr/>
          </p:nvSpPr>
          <p:spPr>
            <a:xfrm>
              <a:off x="0" y="-38100"/>
              <a:ext cx="4980497" cy="728167"/>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9" id="19"/>
          <p:cNvSpPr txBox="true"/>
          <p:nvPr/>
        </p:nvSpPr>
        <p:spPr>
          <a:xfrm rot="0">
            <a:off x="1516726" y="7071977"/>
            <a:ext cx="12408377" cy="471082"/>
          </a:xfrm>
          <a:prstGeom prst="rect">
            <a:avLst/>
          </a:prstGeom>
        </p:spPr>
        <p:txBody>
          <a:bodyPr anchor="t" rtlCol="false" tIns="0" lIns="0" bIns="0" rIns="0">
            <a:spAutoFit/>
          </a:bodyPr>
          <a:lstStyle/>
          <a:p>
            <a:pPr algn="l">
              <a:lnSpc>
                <a:spcPts val="3959"/>
              </a:lnSpc>
              <a:spcBef>
                <a:spcPct val="0"/>
              </a:spcBef>
            </a:pPr>
            <a:r>
              <a:rPr lang="en-US" b="true" sz="2828">
                <a:solidFill>
                  <a:srgbClr val="181818"/>
                </a:solidFill>
                <a:latin typeface="Canva Sans Bold"/>
                <a:ea typeface="Canva Sans Bold"/>
                <a:cs typeface="Canva Sans Bold"/>
                <a:sym typeface="Canva Sans Bold"/>
              </a:rPr>
              <a:t>Single Responsibility</a:t>
            </a:r>
          </a:p>
        </p:txBody>
      </p:sp>
      <p:sp>
        <p:nvSpPr>
          <p:cNvPr name="TextBox 20" id="20"/>
          <p:cNvSpPr txBox="true"/>
          <p:nvPr/>
        </p:nvSpPr>
        <p:spPr>
          <a:xfrm rot="0">
            <a:off x="1516726" y="7628946"/>
            <a:ext cx="14902835" cy="1046913"/>
          </a:xfrm>
          <a:prstGeom prst="rect">
            <a:avLst/>
          </a:prstGeom>
        </p:spPr>
        <p:txBody>
          <a:bodyPr anchor="t" rtlCol="false" tIns="0" lIns="0" bIns="0" rIns="0">
            <a:spAutoFit/>
          </a:bodyPr>
          <a:lstStyle/>
          <a:p>
            <a:pPr algn="l">
              <a:lnSpc>
                <a:spcPts val="4246"/>
              </a:lnSpc>
              <a:spcBef>
                <a:spcPct val="0"/>
              </a:spcBef>
            </a:pPr>
            <a:r>
              <a:rPr lang="en-US" sz="3032">
                <a:solidFill>
                  <a:srgbClr val="181818"/>
                </a:solidFill>
                <a:latin typeface="Canva Sans"/>
                <a:ea typeface="Canva Sans"/>
                <a:cs typeface="Canva Sans"/>
                <a:sym typeface="Canva Sans"/>
              </a:rPr>
              <a:t>Keeps the RealSubject focused on logic while the Proxy handles "housekeeping" (logging, security, caching).</a:t>
            </a:r>
          </a:p>
        </p:txBody>
      </p:sp>
    </p:spTree>
  </p:cSld>
  <p:clrMapOvr>
    <a:masterClrMapping/>
  </p:clrMapOvr>
</p:sld>
</file>

<file path=ppt/slides/slide11.xml><?xml version="1.0" encoding="utf-8"?>
<p:sld xmlns:p="http://schemas.openxmlformats.org/presentationml/2006/main" xmlns:a="http://schemas.openxmlformats.org/drawingml/2006/main">
  <p:cSld>
    <p:bg>
      <p:bgPr>
        <a:solidFill>
          <a:srgbClr val="FEFEFE"/>
        </a:solidFill>
      </p:bgPr>
    </p:bg>
    <p:spTree>
      <p:nvGrpSpPr>
        <p:cNvPr id="1" name=""/>
        <p:cNvGrpSpPr/>
        <p:nvPr/>
      </p:nvGrpSpPr>
      <p:grpSpPr>
        <a:xfrm>
          <a:off x="0" y="0"/>
          <a:ext cx="0" cy="0"/>
          <a:chOff x="0" y="0"/>
          <a:chExt cx="0" cy="0"/>
        </a:xfrm>
      </p:grpSpPr>
      <p:grpSp>
        <p:nvGrpSpPr>
          <p:cNvPr name="Group 2" id="2"/>
          <p:cNvGrpSpPr/>
          <p:nvPr/>
        </p:nvGrpSpPr>
        <p:grpSpPr>
          <a:xfrm rot="0">
            <a:off x="1028700" y="2743056"/>
            <a:ext cx="9255595" cy="718099"/>
            <a:chOff x="0" y="0"/>
            <a:chExt cx="2437688" cy="189129"/>
          </a:xfrm>
        </p:grpSpPr>
        <p:sp>
          <p:nvSpPr>
            <p:cNvPr name="Freeform 3" id="3"/>
            <p:cNvSpPr/>
            <p:nvPr/>
          </p:nvSpPr>
          <p:spPr>
            <a:xfrm flipH="false" flipV="false" rot="0">
              <a:off x="0" y="0"/>
              <a:ext cx="2437688" cy="189129"/>
            </a:xfrm>
            <a:custGeom>
              <a:avLst/>
              <a:gdLst/>
              <a:ahLst/>
              <a:cxnLst/>
              <a:rect r="r" b="b" t="t" l="l"/>
              <a:pathLst>
                <a:path h="189129" w="2437688">
                  <a:moveTo>
                    <a:pt x="41823" y="0"/>
                  </a:moveTo>
                  <a:lnTo>
                    <a:pt x="2395865" y="0"/>
                  </a:lnTo>
                  <a:cubicBezTo>
                    <a:pt x="2418963" y="0"/>
                    <a:pt x="2437688" y="18725"/>
                    <a:pt x="2437688" y="41823"/>
                  </a:cubicBezTo>
                  <a:lnTo>
                    <a:pt x="2437688" y="147306"/>
                  </a:lnTo>
                  <a:cubicBezTo>
                    <a:pt x="2437688" y="170404"/>
                    <a:pt x="2418963" y="189129"/>
                    <a:pt x="2395865" y="189129"/>
                  </a:cubicBezTo>
                  <a:lnTo>
                    <a:pt x="41823" y="189129"/>
                  </a:lnTo>
                  <a:cubicBezTo>
                    <a:pt x="18725" y="189129"/>
                    <a:pt x="0" y="170404"/>
                    <a:pt x="0" y="147306"/>
                  </a:cubicBezTo>
                  <a:lnTo>
                    <a:pt x="0" y="41823"/>
                  </a:lnTo>
                  <a:cubicBezTo>
                    <a:pt x="0" y="18725"/>
                    <a:pt x="18725" y="0"/>
                    <a:pt x="41823" y="0"/>
                  </a:cubicBezTo>
                  <a:close/>
                </a:path>
              </a:pathLst>
            </a:custGeom>
            <a:solidFill>
              <a:srgbClr val="7C6AF2"/>
            </a:solidFill>
          </p:spPr>
        </p:sp>
        <p:sp>
          <p:nvSpPr>
            <p:cNvPr name="TextBox 4" id="4"/>
            <p:cNvSpPr txBox="true"/>
            <p:nvPr/>
          </p:nvSpPr>
          <p:spPr>
            <a:xfrm>
              <a:off x="0" y="-47625"/>
              <a:ext cx="2437688" cy="236754"/>
            </a:xfrm>
            <a:prstGeom prst="rect">
              <a:avLst/>
            </a:prstGeom>
          </p:spPr>
          <p:txBody>
            <a:bodyPr anchor="ctr" rtlCol="false" tIns="50800" lIns="50800" bIns="50800" rIns="50800"/>
            <a:lstStyle/>
            <a:p>
              <a:pPr algn="ctr">
                <a:lnSpc>
                  <a:spcPts val="4339"/>
                </a:lnSpc>
              </a:pPr>
            </a:p>
          </p:txBody>
        </p:sp>
      </p:grpSp>
      <p:sp>
        <p:nvSpPr>
          <p:cNvPr name="TextBox 5" id="5"/>
          <p:cNvSpPr txBox="true"/>
          <p:nvPr/>
        </p:nvSpPr>
        <p:spPr>
          <a:xfrm rot="0">
            <a:off x="1028700" y="1563799"/>
            <a:ext cx="17435189" cy="883982"/>
          </a:xfrm>
          <a:prstGeom prst="rect">
            <a:avLst/>
          </a:prstGeom>
        </p:spPr>
        <p:txBody>
          <a:bodyPr anchor="t" rtlCol="false" tIns="0" lIns="0" bIns="0" rIns="0">
            <a:spAutoFit/>
          </a:bodyPr>
          <a:lstStyle/>
          <a:p>
            <a:pPr algn="l">
              <a:lnSpc>
                <a:spcPts val="6677"/>
              </a:lnSpc>
            </a:pPr>
            <a:r>
              <a:rPr lang="en-US" b="true" sz="6677">
                <a:solidFill>
                  <a:srgbClr val="181818"/>
                </a:solidFill>
                <a:latin typeface="Canva Sans Bold"/>
                <a:ea typeface="Canva Sans Bold"/>
                <a:cs typeface="Canva Sans Bold"/>
                <a:sym typeface="Canva Sans Bold"/>
              </a:rPr>
              <a:t>PROBLEMS OF PROXY DESIGN PATTERN</a:t>
            </a:r>
          </a:p>
        </p:txBody>
      </p:sp>
      <p:grpSp>
        <p:nvGrpSpPr>
          <p:cNvPr name="Group 6" id="6"/>
          <p:cNvGrpSpPr/>
          <p:nvPr/>
        </p:nvGrpSpPr>
        <p:grpSpPr>
          <a:xfrm rot="0">
            <a:off x="852811" y="3785005"/>
            <a:ext cx="8291189" cy="3396789"/>
            <a:chOff x="0" y="0"/>
            <a:chExt cx="2183688" cy="894628"/>
          </a:xfrm>
        </p:grpSpPr>
        <p:sp>
          <p:nvSpPr>
            <p:cNvPr name="Freeform 7" id="7"/>
            <p:cNvSpPr/>
            <p:nvPr/>
          </p:nvSpPr>
          <p:spPr>
            <a:xfrm flipH="false" flipV="false" rot="0">
              <a:off x="0" y="0"/>
              <a:ext cx="2183688" cy="894628"/>
            </a:xfrm>
            <a:custGeom>
              <a:avLst/>
              <a:gdLst/>
              <a:ahLst/>
              <a:cxnLst/>
              <a:rect r="r" b="b" t="t" l="l"/>
              <a:pathLst>
                <a:path h="894628" w="2183688">
                  <a:moveTo>
                    <a:pt x="28013" y="0"/>
                  </a:moveTo>
                  <a:lnTo>
                    <a:pt x="2155675" y="0"/>
                  </a:lnTo>
                  <a:cubicBezTo>
                    <a:pt x="2171146" y="0"/>
                    <a:pt x="2183688" y="12542"/>
                    <a:pt x="2183688" y="28013"/>
                  </a:cubicBezTo>
                  <a:lnTo>
                    <a:pt x="2183688" y="866615"/>
                  </a:lnTo>
                  <a:cubicBezTo>
                    <a:pt x="2183688" y="882086"/>
                    <a:pt x="2171146" y="894628"/>
                    <a:pt x="2155675" y="894628"/>
                  </a:cubicBezTo>
                  <a:lnTo>
                    <a:pt x="28013" y="894628"/>
                  </a:lnTo>
                  <a:cubicBezTo>
                    <a:pt x="20583" y="894628"/>
                    <a:pt x="13458" y="891676"/>
                    <a:pt x="8205" y="886423"/>
                  </a:cubicBezTo>
                  <a:cubicBezTo>
                    <a:pt x="2951" y="881170"/>
                    <a:pt x="0" y="874045"/>
                    <a:pt x="0" y="866615"/>
                  </a:cubicBezTo>
                  <a:lnTo>
                    <a:pt x="0" y="28013"/>
                  </a:lnTo>
                  <a:cubicBezTo>
                    <a:pt x="0" y="12542"/>
                    <a:pt x="12542" y="0"/>
                    <a:pt x="28013" y="0"/>
                  </a:cubicBezTo>
                  <a:close/>
                </a:path>
              </a:pathLst>
            </a:custGeom>
            <a:solidFill>
              <a:srgbClr val="FEFEFE"/>
            </a:solidFill>
            <a:ln w="19050" cap="rnd">
              <a:solidFill>
                <a:srgbClr val="181818"/>
              </a:solidFill>
              <a:prstDash val="solid"/>
              <a:round/>
            </a:ln>
          </p:spPr>
        </p:sp>
        <p:sp>
          <p:nvSpPr>
            <p:cNvPr name="TextBox 8" id="8"/>
            <p:cNvSpPr txBox="true"/>
            <p:nvPr/>
          </p:nvSpPr>
          <p:spPr>
            <a:xfrm>
              <a:off x="0" y="-38100"/>
              <a:ext cx="2183688" cy="932728"/>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9" id="9"/>
          <p:cNvGrpSpPr/>
          <p:nvPr/>
        </p:nvGrpSpPr>
        <p:grpSpPr>
          <a:xfrm rot="0">
            <a:off x="9276607" y="3785005"/>
            <a:ext cx="8291189" cy="3396789"/>
            <a:chOff x="0" y="0"/>
            <a:chExt cx="2183688" cy="894628"/>
          </a:xfrm>
        </p:grpSpPr>
        <p:sp>
          <p:nvSpPr>
            <p:cNvPr name="Freeform 10" id="10"/>
            <p:cNvSpPr/>
            <p:nvPr/>
          </p:nvSpPr>
          <p:spPr>
            <a:xfrm flipH="false" flipV="false" rot="0">
              <a:off x="0" y="0"/>
              <a:ext cx="2183688" cy="894628"/>
            </a:xfrm>
            <a:custGeom>
              <a:avLst/>
              <a:gdLst/>
              <a:ahLst/>
              <a:cxnLst/>
              <a:rect r="r" b="b" t="t" l="l"/>
              <a:pathLst>
                <a:path h="894628" w="2183688">
                  <a:moveTo>
                    <a:pt x="28013" y="0"/>
                  </a:moveTo>
                  <a:lnTo>
                    <a:pt x="2155675" y="0"/>
                  </a:lnTo>
                  <a:cubicBezTo>
                    <a:pt x="2171146" y="0"/>
                    <a:pt x="2183688" y="12542"/>
                    <a:pt x="2183688" y="28013"/>
                  </a:cubicBezTo>
                  <a:lnTo>
                    <a:pt x="2183688" y="866615"/>
                  </a:lnTo>
                  <a:cubicBezTo>
                    <a:pt x="2183688" y="882086"/>
                    <a:pt x="2171146" y="894628"/>
                    <a:pt x="2155675" y="894628"/>
                  </a:cubicBezTo>
                  <a:lnTo>
                    <a:pt x="28013" y="894628"/>
                  </a:lnTo>
                  <a:cubicBezTo>
                    <a:pt x="20583" y="894628"/>
                    <a:pt x="13458" y="891676"/>
                    <a:pt x="8205" y="886423"/>
                  </a:cubicBezTo>
                  <a:cubicBezTo>
                    <a:pt x="2951" y="881170"/>
                    <a:pt x="0" y="874045"/>
                    <a:pt x="0" y="866615"/>
                  </a:cubicBezTo>
                  <a:lnTo>
                    <a:pt x="0" y="28013"/>
                  </a:lnTo>
                  <a:cubicBezTo>
                    <a:pt x="0" y="12542"/>
                    <a:pt x="12542" y="0"/>
                    <a:pt x="28013" y="0"/>
                  </a:cubicBezTo>
                  <a:close/>
                </a:path>
              </a:pathLst>
            </a:custGeom>
            <a:solidFill>
              <a:srgbClr val="FEFEFE"/>
            </a:solidFill>
            <a:ln w="19050" cap="rnd">
              <a:solidFill>
                <a:srgbClr val="181818"/>
              </a:solidFill>
              <a:prstDash val="solid"/>
              <a:round/>
            </a:ln>
          </p:spPr>
        </p:sp>
        <p:sp>
          <p:nvSpPr>
            <p:cNvPr name="TextBox 11" id="11"/>
            <p:cNvSpPr txBox="true"/>
            <p:nvPr/>
          </p:nvSpPr>
          <p:spPr>
            <a:xfrm>
              <a:off x="0" y="-38100"/>
              <a:ext cx="2183688" cy="932728"/>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2" id="12"/>
          <p:cNvSpPr txBox="true"/>
          <p:nvPr/>
        </p:nvSpPr>
        <p:spPr>
          <a:xfrm rot="0">
            <a:off x="1516726" y="3990722"/>
            <a:ext cx="6963359" cy="537846"/>
          </a:xfrm>
          <a:prstGeom prst="rect">
            <a:avLst/>
          </a:prstGeom>
        </p:spPr>
        <p:txBody>
          <a:bodyPr anchor="t" rtlCol="false" tIns="0" lIns="0" bIns="0" rIns="0">
            <a:spAutoFit/>
          </a:bodyPr>
          <a:lstStyle/>
          <a:p>
            <a:pPr algn="l">
              <a:lnSpc>
                <a:spcPts val="4479"/>
              </a:lnSpc>
              <a:spcBef>
                <a:spcPct val="0"/>
              </a:spcBef>
            </a:pPr>
            <a:r>
              <a:rPr lang="en-US" b="true" sz="3199" i="true">
                <a:solidFill>
                  <a:srgbClr val="181818"/>
                </a:solidFill>
                <a:latin typeface="Canva Sans Bold Italics"/>
                <a:ea typeface="Canva Sans Bold Italics"/>
                <a:cs typeface="Canva Sans Bold Italics"/>
                <a:sym typeface="Canva Sans Bold Italics"/>
              </a:rPr>
              <a:t>Increased Complexity</a:t>
            </a:r>
          </a:p>
        </p:txBody>
      </p:sp>
      <p:sp>
        <p:nvSpPr>
          <p:cNvPr name="TextBox 13" id="13"/>
          <p:cNvSpPr txBox="true"/>
          <p:nvPr/>
        </p:nvSpPr>
        <p:spPr>
          <a:xfrm rot="0">
            <a:off x="9940523" y="3990722"/>
            <a:ext cx="6545342" cy="1565468"/>
          </a:xfrm>
          <a:prstGeom prst="rect">
            <a:avLst/>
          </a:prstGeom>
        </p:spPr>
        <p:txBody>
          <a:bodyPr anchor="t" rtlCol="false" tIns="0" lIns="0" bIns="0" rIns="0">
            <a:spAutoFit/>
          </a:bodyPr>
          <a:lstStyle/>
          <a:p>
            <a:pPr algn="l">
              <a:lnSpc>
                <a:spcPts val="4211"/>
              </a:lnSpc>
            </a:pPr>
            <a:r>
              <a:rPr lang="en-US" sz="3007" b="true">
                <a:solidFill>
                  <a:srgbClr val="181818"/>
                </a:solidFill>
                <a:latin typeface="Canva Sans Bold"/>
                <a:ea typeface="Canva Sans Bold"/>
                <a:cs typeface="Canva Sans Bold"/>
                <a:sym typeface="Canva Sans Bold"/>
              </a:rPr>
              <a:t>Performance Overhead</a:t>
            </a:r>
          </a:p>
          <a:p>
            <a:pPr algn="l">
              <a:lnSpc>
                <a:spcPts val="4211"/>
              </a:lnSpc>
            </a:pPr>
          </a:p>
          <a:p>
            <a:pPr algn="l">
              <a:lnSpc>
                <a:spcPts val="4211"/>
              </a:lnSpc>
              <a:spcBef>
                <a:spcPct val="0"/>
              </a:spcBef>
            </a:pPr>
          </a:p>
        </p:txBody>
      </p:sp>
      <p:sp>
        <p:nvSpPr>
          <p:cNvPr name="TextBox 14" id="14"/>
          <p:cNvSpPr txBox="true"/>
          <p:nvPr/>
        </p:nvSpPr>
        <p:spPr>
          <a:xfrm rot="0">
            <a:off x="1702600" y="4676133"/>
            <a:ext cx="6777484" cy="1758950"/>
          </a:xfrm>
          <a:prstGeom prst="rect">
            <a:avLst/>
          </a:prstGeom>
        </p:spPr>
        <p:txBody>
          <a:bodyPr anchor="t" rtlCol="false" tIns="0" lIns="0" bIns="0" rIns="0">
            <a:spAutoFit/>
          </a:bodyPr>
          <a:lstStyle/>
          <a:p>
            <a:pPr algn="l">
              <a:lnSpc>
                <a:spcPts val="2800"/>
              </a:lnSpc>
            </a:pPr>
            <a:r>
              <a:rPr lang="en-US" sz="2000">
                <a:solidFill>
                  <a:srgbClr val="181818"/>
                </a:solidFill>
                <a:latin typeface="Canva Sans"/>
                <a:ea typeface="Canva Sans"/>
                <a:cs typeface="Canva Sans"/>
                <a:sym typeface="Canva Sans"/>
              </a:rPr>
              <a:t>Adding a proxy means:</a:t>
            </a:r>
          </a:p>
          <a:p>
            <a:pPr algn="l" marL="431801" indent="-215900" lvl="1">
              <a:lnSpc>
                <a:spcPts val="2800"/>
              </a:lnSpc>
              <a:buFont typeface="Arial"/>
              <a:buChar char="•"/>
            </a:pPr>
            <a:r>
              <a:rPr lang="en-US" sz="2000">
                <a:solidFill>
                  <a:srgbClr val="181818"/>
                </a:solidFill>
                <a:latin typeface="Canva Sans"/>
                <a:ea typeface="Canva Sans"/>
                <a:cs typeface="Canva Sans"/>
                <a:sym typeface="Canva Sans"/>
              </a:rPr>
              <a:t>More classes</a:t>
            </a:r>
          </a:p>
          <a:p>
            <a:pPr algn="l" marL="431801" indent="-215900" lvl="1">
              <a:lnSpc>
                <a:spcPts val="2800"/>
              </a:lnSpc>
              <a:buFont typeface="Arial"/>
              <a:buChar char="•"/>
            </a:pPr>
            <a:r>
              <a:rPr lang="en-US" sz="2000">
                <a:solidFill>
                  <a:srgbClr val="181818"/>
                </a:solidFill>
                <a:latin typeface="Canva Sans"/>
                <a:ea typeface="Canva Sans"/>
                <a:cs typeface="Canva Sans"/>
                <a:sym typeface="Canva Sans"/>
              </a:rPr>
              <a:t>More abstraction layers</a:t>
            </a:r>
          </a:p>
          <a:p>
            <a:pPr algn="l" marL="431801" indent="-215900" lvl="1">
              <a:lnSpc>
                <a:spcPts val="2800"/>
              </a:lnSpc>
              <a:buFont typeface="Arial"/>
              <a:buChar char="•"/>
            </a:pPr>
            <a:r>
              <a:rPr lang="en-US" sz="2000">
                <a:solidFill>
                  <a:srgbClr val="181818"/>
                </a:solidFill>
                <a:latin typeface="Canva Sans"/>
                <a:ea typeface="Canva Sans"/>
                <a:cs typeface="Canva Sans"/>
                <a:sym typeface="Canva Sans"/>
              </a:rPr>
              <a:t>Harder code to read for beginners</a:t>
            </a:r>
          </a:p>
          <a:p>
            <a:pPr algn="l">
              <a:lnSpc>
                <a:spcPts val="2800"/>
              </a:lnSpc>
              <a:spcBef>
                <a:spcPct val="0"/>
              </a:spcBef>
            </a:pPr>
          </a:p>
        </p:txBody>
      </p:sp>
      <p:sp>
        <p:nvSpPr>
          <p:cNvPr name="TextBox 15" id="15"/>
          <p:cNvSpPr txBox="true"/>
          <p:nvPr/>
        </p:nvSpPr>
        <p:spPr>
          <a:xfrm rot="0">
            <a:off x="9932910" y="4537816"/>
            <a:ext cx="7634886" cy="2536872"/>
          </a:xfrm>
          <a:prstGeom prst="rect">
            <a:avLst/>
          </a:prstGeom>
        </p:spPr>
        <p:txBody>
          <a:bodyPr anchor="t" rtlCol="false" tIns="0" lIns="0" bIns="0" rIns="0">
            <a:spAutoFit/>
          </a:bodyPr>
          <a:lstStyle/>
          <a:p>
            <a:pPr algn="l">
              <a:lnSpc>
                <a:spcPts val="2869"/>
              </a:lnSpc>
            </a:pPr>
            <a:r>
              <a:rPr lang="en-US" sz="2049">
                <a:solidFill>
                  <a:srgbClr val="181818"/>
                </a:solidFill>
                <a:latin typeface="Canva Sans"/>
                <a:ea typeface="Canva Sans"/>
                <a:cs typeface="Canva Sans"/>
                <a:sym typeface="Canva Sans"/>
              </a:rPr>
              <a:t>Even though proxy can improve performance (like lazy loading),</a:t>
            </a:r>
          </a:p>
          <a:p>
            <a:pPr algn="l">
              <a:lnSpc>
                <a:spcPts val="2869"/>
              </a:lnSpc>
            </a:pPr>
            <a:r>
              <a:rPr lang="en-US" sz="2049">
                <a:solidFill>
                  <a:srgbClr val="181818"/>
                </a:solidFill>
                <a:latin typeface="Canva Sans"/>
                <a:ea typeface="Canva Sans"/>
                <a:cs typeface="Canva Sans"/>
                <a:sym typeface="Canva Sans"/>
              </a:rPr>
              <a:t> it can also slow things down because:</a:t>
            </a:r>
          </a:p>
          <a:p>
            <a:pPr algn="l" marL="442491" indent="-221245" lvl="1">
              <a:lnSpc>
                <a:spcPts val="2869"/>
              </a:lnSpc>
              <a:buFont typeface="Arial"/>
              <a:buChar char="•"/>
            </a:pPr>
            <a:r>
              <a:rPr lang="en-US" sz="2049">
                <a:solidFill>
                  <a:srgbClr val="181818"/>
                </a:solidFill>
                <a:latin typeface="Canva Sans"/>
                <a:ea typeface="Canva Sans"/>
                <a:cs typeface="Canva Sans"/>
                <a:sym typeface="Canva Sans"/>
              </a:rPr>
              <a:t>Every request passes through proxy</a:t>
            </a:r>
          </a:p>
          <a:p>
            <a:pPr algn="l" marL="442491" indent="-221245" lvl="1">
              <a:lnSpc>
                <a:spcPts val="2869"/>
              </a:lnSpc>
              <a:buFont typeface="Arial"/>
              <a:buChar char="•"/>
            </a:pPr>
            <a:r>
              <a:rPr lang="en-US" sz="2049">
                <a:solidFill>
                  <a:srgbClr val="181818"/>
                </a:solidFill>
                <a:latin typeface="Canva Sans"/>
                <a:ea typeface="Canva Sans"/>
                <a:cs typeface="Canva Sans"/>
                <a:sym typeface="Canva Sans"/>
              </a:rPr>
              <a:t>Extra method calls</a:t>
            </a:r>
          </a:p>
          <a:p>
            <a:pPr algn="l" marL="442491" indent="-221245" lvl="1">
              <a:lnSpc>
                <a:spcPts val="2869"/>
              </a:lnSpc>
              <a:buFont typeface="Arial"/>
              <a:buChar char="•"/>
            </a:pPr>
            <a:r>
              <a:rPr lang="en-US" sz="2049">
                <a:solidFill>
                  <a:srgbClr val="181818"/>
                </a:solidFill>
                <a:latin typeface="Canva Sans"/>
                <a:ea typeface="Canva Sans"/>
                <a:cs typeface="Canva Sans"/>
                <a:sym typeface="Canva Sans"/>
              </a:rPr>
              <a:t>Extra checks (security, logging, caching)</a:t>
            </a:r>
          </a:p>
          <a:p>
            <a:pPr algn="l">
              <a:lnSpc>
                <a:spcPts val="2869"/>
              </a:lnSpc>
              <a:spcBef>
                <a:spcPct val="0"/>
              </a:spcBef>
            </a:pPr>
          </a:p>
        </p:txBody>
      </p:sp>
      <p:grpSp>
        <p:nvGrpSpPr>
          <p:cNvPr name="Group 16" id="16"/>
          <p:cNvGrpSpPr/>
          <p:nvPr/>
        </p:nvGrpSpPr>
        <p:grpSpPr>
          <a:xfrm rot="0">
            <a:off x="919114" y="7372295"/>
            <a:ext cx="16714986" cy="2811057"/>
            <a:chOff x="0" y="0"/>
            <a:chExt cx="4980497" cy="837599"/>
          </a:xfrm>
        </p:grpSpPr>
        <p:sp>
          <p:nvSpPr>
            <p:cNvPr name="Freeform 17" id="17"/>
            <p:cNvSpPr/>
            <p:nvPr/>
          </p:nvSpPr>
          <p:spPr>
            <a:xfrm flipH="false" flipV="false" rot="0">
              <a:off x="0" y="0"/>
              <a:ext cx="4980497" cy="837599"/>
            </a:xfrm>
            <a:custGeom>
              <a:avLst/>
              <a:gdLst/>
              <a:ahLst/>
              <a:cxnLst/>
              <a:rect r="r" b="b" t="t" l="l"/>
              <a:pathLst>
                <a:path h="837599" w="4980497">
                  <a:moveTo>
                    <a:pt x="13895" y="0"/>
                  </a:moveTo>
                  <a:lnTo>
                    <a:pt x="4966602" y="0"/>
                  </a:lnTo>
                  <a:cubicBezTo>
                    <a:pt x="4970287" y="0"/>
                    <a:pt x="4973822" y="1464"/>
                    <a:pt x="4976427" y="4070"/>
                  </a:cubicBezTo>
                  <a:cubicBezTo>
                    <a:pt x="4979033" y="6676"/>
                    <a:pt x="4980497" y="10210"/>
                    <a:pt x="4980497" y="13895"/>
                  </a:cubicBezTo>
                  <a:lnTo>
                    <a:pt x="4980497" y="823704"/>
                  </a:lnTo>
                  <a:cubicBezTo>
                    <a:pt x="4980497" y="827389"/>
                    <a:pt x="4979033" y="830924"/>
                    <a:pt x="4976427" y="833529"/>
                  </a:cubicBezTo>
                  <a:cubicBezTo>
                    <a:pt x="4973822" y="836135"/>
                    <a:pt x="4970287" y="837599"/>
                    <a:pt x="4966602" y="837599"/>
                  </a:cubicBezTo>
                  <a:lnTo>
                    <a:pt x="13895" y="837599"/>
                  </a:lnTo>
                  <a:cubicBezTo>
                    <a:pt x="10210" y="837599"/>
                    <a:pt x="6676" y="836135"/>
                    <a:pt x="4070" y="833529"/>
                  </a:cubicBezTo>
                  <a:cubicBezTo>
                    <a:pt x="1464" y="830924"/>
                    <a:pt x="0" y="827389"/>
                    <a:pt x="0" y="823704"/>
                  </a:cubicBezTo>
                  <a:lnTo>
                    <a:pt x="0" y="13895"/>
                  </a:lnTo>
                  <a:cubicBezTo>
                    <a:pt x="0" y="10210"/>
                    <a:pt x="1464" y="6676"/>
                    <a:pt x="4070" y="4070"/>
                  </a:cubicBezTo>
                  <a:cubicBezTo>
                    <a:pt x="6676" y="1464"/>
                    <a:pt x="10210" y="0"/>
                    <a:pt x="13895" y="0"/>
                  </a:cubicBezTo>
                  <a:close/>
                </a:path>
              </a:pathLst>
            </a:custGeom>
            <a:solidFill>
              <a:srgbClr val="FEFEFE"/>
            </a:solidFill>
            <a:ln w="19050" cap="rnd">
              <a:solidFill>
                <a:srgbClr val="181818"/>
              </a:solidFill>
              <a:prstDash val="solid"/>
              <a:round/>
            </a:ln>
          </p:spPr>
        </p:sp>
        <p:sp>
          <p:nvSpPr>
            <p:cNvPr name="TextBox 18" id="18"/>
            <p:cNvSpPr txBox="true"/>
            <p:nvPr/>
          </p:nvSpPr>
          <p:spPr>
            <a:xfrm>
              <a:off x="0" y="-38100"/>
              <a:ext cx="4980497" cy="875699"/>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9" id="19"/>
          <p:cNvSpPr txBox="true"/>
          <p:nvPr/>
        </p:nvSpPr>
        <p:spPr>
          <a:xfrm rot="0">
            <a:off x="1516726" y="7458020"/>
            <a:ext cx="12408377" cy="471082"/>
          </a:xfrm>
          <a:prstGeom prst="rect">
            <a:avLst/>
          </a:prstGeom>
        </p:spPr>
        <p:txBody>
          <a:bodyPr anchor="t" rtlCol="false" tIns="0" lIns="0" bIns="0" rIns="0">
            <a:spAutoFit/>
          </a:bodyPr>
          <a:lstStyle/>
          <a:p>
            <a:pPr algn="l">
              <a:lnSpc>
                <a:spcPts val="3959"/>
              </a:lnSpc>
              <a:spcBef>
                <a:spcPct val="0"/>
              </a:spcBef>
            </a:pPr>
            <a:r>
              <a:rPr lang="en-US" b="true" sz="2828">
                <a:solidFill>
                  <a:srgbClr val="181818"/>
                </a:solidFill>
                <a:latin typeface="Canva Sans Bold"/>
                <a:ea typeface="Canva Sans Bold"/>
                <a:cs typeface="Canva Sans Bold"/>
                <a:sym typeface="Canva Sans Bold"/>
              </a:rPr>
              <a:t>May Hide Real Object Behavior</a:t>
            </a:r>
          </a:p>
        </p:txBody>
      </p:sp>
      <p:sp>
        <p:nvSpPr>
          <p:cNvPr name="TextBox 20" id="20"/>
          <p:cNvSpPr txBox="true"/>
          <p:nvPr/>
        </p:nvSpPr>
        <p:spPr>
          <a:xfrm rot="0">
            <a:off x="1825190" y="8071977"/>
            <a:ext cx="14902835" cy="2111375"/>
          </a:xfrm>
          <a:prstGeom prst="rect">
            <a:avLst/>
          </a:prstGeom>
        </p:spPr>
        <p:txBody>
          <a:bodyPr anchor="t" rtlCol="false" tIns="0" lIns="0" bIns="0" rIns="0">
            <a:spAutoFit/>
          </a:bodyPr>
          <a:lstStyle/>
          <a:p>
            <a:pPr algn="l">
              <a:lnSpc>
                <a:spcPts val="2800"/>
              </a:lnSpc>
            </a:pPr>
            <a:r>
              <a:rPr lang="en-US" sz="2000">
                <a:solidFill>
                  <a:srgbClr val="181818"/>
                </a:solidFill>
                <a:latin typeface="Canva Sans"/>
                <a:ea typeface="Canva Sans"/>
                <a:cs typeface="Canva Sans"/>
                <a:sym typeface="Canva Sans"/>
              </a:rPr>
              <a:t>If proxy modifies behavior:</a:t>
            </a:r>
          </a:p>
          <a:p>
            <a:pPr algn="l" marL="431801" indent="-215900" lvl="1">
              <a:lnSpc>
                <a:spcPts val="2800"/>
              </a:lnSpc>
              <a:buFont typeface="Arial"/>
              <a:buChar char="•"/>
            </a:pPr>
            <a:r>
              <a:rPr lang="en-US" sz="2000">
                <a:solidFill>
                  <a:srgbClr val="181818"/>
                </a:solidFill>
                <a:latin typeface="Canva Sans"/>
                <a:ea typeface="Canva Sans"/>
                <a:cs typeface="Canva Sans"/>
                <a:sym typeface="Canva Sans"/>
              </a:rPr>
              <a:t>Developer may not know what actually happens</a:t>
            </a:r>
          </a:p>
          <a:p>
            <a:pPr algn="l" marL="431801" indent="-215900" lvl="1">
              <a:lnSpc>
                <a:spcPts val="2800"/>
              </a:lnSpc>
              <a:buFont typeface="Arial"/>
              <a:buChar char="•"/>
            </a:pPr>
            <a:r>
              <a:rPr lang="en-US" sz="2000">
                <a:solidFill>
                  <a:srgbClr val="181818"/>
                </a:solidFill>
                <a:latin typeface="Canva Sans"/>
                <a:ea typeface="Canva Sans"/>
                <a:cs typeface="Canva Sans"/>
                <a:sym typeface="Canva Sans"/>
              </a:rPr>
              <a:t>Unexpected side effects</a:t>
            </a:r>
          </a:p>
          <a:p>
            <a:pPr algn="l">
              <a:lnSpc>
                <a:spcPts val="2800"/>
              </a:lnSpc>
            </a:pPr>
            <a:r>
              <a:rPr lang="en-US" sz="2000">
                <a:solidFill>
                  <a:srgbClr val="181818"/>
                </a:solidFill>
                <a:latin typeface="Canva Sans"/>
                <a:ea typeface="Canva Sans"/>
                <a:cs typeface="Canva Sans"/>
                <a:sym typeface="Canva Sans"/>
              </a:rPr>
              <a:t>Example:</a:t>
            </a:r>
          </a:p>
          <a:p>
            <a:pPr algn="l">
              <a:lnSpc>
                <a:spcPts val="2800"/>
              </a:lnSpc>
              <a:spcBef>
                <a:spcPct val="0"/>
              </a:spcBef>
            </a:pPr>
            <a:r>
              <a:rPr lang="en-US" sz="2000">
                <a:solidFill>
                  <a:srgbClr val="181818"/>
                </a:solidFill>
                <a:latin typeface="Canva Sans"/>
                <a:ea typeface="Canva Sans"/>
                <a:cs typeface="Canva Sans"/>
                <a:sym typeface="Canva Sans"/>
              </a:rPr>
              <a:t> Security proxy silently blocking access.</a:t>
            </a:r>
          </a:p>
          <a:p>
            <a:pPr algn="l">
              <a:lnSpc>
                <a:spcPts val="2800"/>
              </a:lnSpc>
              <a:spcBef>
                <a:spcPct val="0"/>
              </a:spcBef>
            </a:pPr>
          </a:p>
        </p:txBody>
      </p:sp>
    </p:spTree>
  </p:cSld>
  <p:clrMapOvr>
    <a:masterClrMapping/>
  </p:clrMapOvr>
</p:sld>
</file>

<file path=ppt/slides/slide12.xml><?xml version="1.0" encoding="utf-8"?>
<p:sld xmlns:p="http://schemas.openxmlformats.org/presentationml/2006/main" xmlns:a="http://schemas.openxmlformats.org/drawingml/2006/main">
  <p:cSld>
    <p:bg>
      <p:bgPr>
        <a:solidFill>
          <a:srgbClr val="FEFEFE"/>
        </a:solidFill>
      </p:bgPr>
    </p:bg>
    <p:spTree>
      <p:nvGrpSpPr>
        <p:cNvPr id="1" name=""/>
        <p:cNvGrpSpPr/>
        <p:nvPr/>
      </p:nvGrpSpPr>
      <p:grpSpPr>
        <a:xfrm>
          <a:off x="0" y="0"/>
          <a:ext cx="0" cy="0"/>
          <a:chOff x="0" y="0"/>
          <a:chExt cx="0" cy="0"/>
        </a:xfrm>
      </p:grpSpPr>
      <p:grpSp>
        <p:nvGrpSpPr>
          <p:cNvPr name="Group 2" id="2"/>
          <p:cNvGrpSpPr/>
          <p:nvPr/>
        </p:nvGrpSpPr>
        <p:grpSpPr>
          <a:xfrm rot="0">
            <a:off x="852811" y="2666856"/>
            <a:ext cx="9255595" cy="718099"/>
            <a:chOff x="0" y="0"/>
            <a:chExt cx="2437688" cy="189129"/>
          </a:xfrm>
        </p:grpSpPr>
        <p:sp>
          <p:nvSpPr>
            <p:cNvPr name="Freeform 3" id="3"/>
            <p:cNvSpPr/>
            <p:nvPr/>
          </p:nvSpPr>
          <p:spPr>
            <a:xfrm flipH="false" flipV="false" rot="0">
              <a:off x="0" y="0"/>
              <a:ext cx="2437688" cy="189129"/>
            </a:xfrm>
            <a:custGeom>
              <a:avLst/>
              <a:gdLst/>
              <a:ahLst/>
              <a:cxnLst/>
              <a:rect r="r" b="b" t="t" l="l"/>
              <a:pathLst>
                <a:path h="189129" w="2437688">
                  <a:moveTo>
                    <a:pt x="41823" y="0"/>
                  </a:moveTo>
                  <a:lnTo>
                    <a:pt x="2395865" y="0"/>
                  </a:lnTo>
                  <a:cubicBezTo>
                    <a:pt x="2418963" y="0"/>
                    <a:pt x="2437688" y="18725"/>
                    <a:pt x="2437688" y="41823"/>
                  </a:cubicBezTo>
                  <a:lnTo>
                    <a:pt x="2437688" y="147306"/>
                  </a:lnTo>
                  <a:cubicBezTo>
                    <a:pt x="2437688" y="170404"/>
                    <a:pt x="2418963" y="189129"/>
                    <a:pt x="2395865" y="189129"/>
                  </a:cubicBezTo>
                  <a:lnTo>
                    <a:pt x="41823" y="189129"/>
                  </a:lnTo>
                  <a:cubicBezTo>
                    <a:pt x="18725" y="189129"/>
                    <a:pt x="0" y="170404"/>
                    <a:pt x="0" y="147306"/>
                  </a:cubicBezTo>
                  <a:lnTo>
                    <a:pt x="0" y="41823"/>
                  </a:lnTo>
                  <a:cubicBezTo>
                    <a:pt x="0" y="18725"/>
                    <a:pt x="18725" y="0"/>
                    <a:pt x="41823" y="0"/>
                  </a:cubicBezTo>
                  <a:close/>
                </a:path>
              </a:pathLst>
            </a:custGeom>
            <a:solidFill>
              <a:srgbClr val="7C6AF2"/>
            </a:solidFill>
          </p:spPr>
        </p:sp>
        <p:sp>
          <p:nvSpPr>
            <p:cNvPr name="TextBox 4" id="4"/>
            <p:cNvSpPr txBox="true"/>
            <p:nvPr/>
          </p:nvSpPr>
          <p:spPr>
            <a:xfrm>
              <a:off x="0" y="-47625"/>
              <a:ext cx="2437688" cy="236754"/>
            </a:xfrm>
            <a:prstGeom prst="rect">
              <a:avLst/>
            </a:prstGeom>
          </p:spPr>
          <p:txBody>
            <a:bodyPr anchor="ctr" rtlCol="false" tIns="50800" lIns="50800" bIns="50800" rIns="50800"/>
            <a:lstStyle/>
            <a:p>
              <a:pPr algn="ctr">
                <a:lnSpc>
                  <a:spcPts val="4339"/>
                </a:lnSpc>
              </a:pPr>
            </a:p>
          </p:txBody>
        </p:sp>
      </p:grpSp>
      <p:sp>
        <p:nvSpPr>
          <p:cNvPr name="TextBox 5" id="5"/>
          <p:cNvSpPr txBox="true"/>
          <p:nvPr/>
        </p:nvSpPr>
        <p:spPr>
          <a:xfrm rot="0">
            <a:off x="852811" y="1064699"/>
            <a:ext cx="17435189" cy="1202106"/>
          </a:xfrm>
          <a:prstGeom prst="rect">
            <a:avLst/>
          </a:prstGeom>
        </p:spPr>
        <p:txBody>
          <a:bodyPr anchor="t" rtlCol="false" tIns="0" lIns="0" bIns="0" rIns="0">
            <a:spAutoFit/>
          </a:bodyPr>
          <a:lstStyle/>
          <a:p>
            <a:pPr algn="l">
              <a:lnSpc>
                <a:spcPts val="9077"/>
              </a:lnSpc>
            </a:pPr>
            <a:r>
              <a:rPr lang="en-US" b="true" sz="9077">
                <a:solidFill>
                  <a:srgbClr val="181818"/>
                </a:solidFill>
                <a:latin typeface="Canva Sans Bold"/>
                <a:ea typeface="Canva Sans Bold"/>
                <a:cs typeface="Canva Sans Bold"/>
                <a:sym typeface="Canva Sans Bold"/>
              </a:rPr>
              <a:t>PROXY VS. DECORATOR</a:t>
            </a:r>
          </a:p>
        </p:txBody>
      </p:sp>
      <p:grpSp>
        <p:nvGrpSpPr>
          <p:cNvPr name="Group 6" id="6"/>
          <p:cNvGrpSpPr/>
          <p:nvPr/>
        </p:nvGrpSpPr>
        <p:grpSpPr>
          <a:xfrm rot="0">
            <a:off x="852811" y="3785005"/>
            <a:ext cx="8291189" cy="5874866"/>
            <a:chOff x="0" y="0"/>
            <a:chExt cx="2183688" cy="1547290"/>
          </a:xfrm>
        </p:grpSpPr>
        <p:sp>
          <p:nvSpPr>
            <p:cNvPr name="Freeform 7" id="7"/>
            <p:cNvSpPr/>
            <p:nvPr/>
          </p:nvSpPr>
          <p:spPr>
            <a:xfrm flipH="false" flipV="false" rot="0">
              <a:off x="0" y="0"/>
              <a:ext cx="2183688" cy="1547290"/>
            </a:xfrm>
            <a:custGeom>
              <a:avLst/>
              <a:gdLst/>
              <a:ahLst/>
              <a:cxnLst/>
              <a:rect r="r" b="b" t="t" l="l"/>
              <a:pathLst>
                <a:path h="1547290" w="2183688">
                  <a:moveTo>
                    <a:pt x="28013" y="0"/>
                  </a:moveTo>
                  <a:lnTo>
                    <a:pt x="2155675" y="0"/>
                  </a:lnTo>
                  <a:cubicBezTo>
                    <a:pt x="2171146" y="0"/>
                    <a:pt x="2183688" y="12542"/>
                    <a:pt x="2183688" y="28013"/>
                  </a:cubicBezTo>
                  <a:lnTo>
                    <a:pt x="2183688" y="1519277"/>
                  </a:lnTo>
                  <a:cubicBezTo>
                    <a:pt x="2183688" y="1526707"/>
                    <a:pt x="2180736" y="1533832"/>
                    <a:pt x="2175483" y="1539085"/>
                  </a:cubicBezTo>
                  <a:cubicBezTo>
                    <a:pt x="2170230" y="1544339"/>
                    <a:pt x="2163105" y="1547290"/>
                    <a:pt x="2155675" y="1547290"/>
                  </a:cubicBezTo>
                  <a:lnTo>
                    <a:pt x="28013" y="1547290"/>
                  </a:lnTo>
                  <a:cubicBezTo>
                    <a:pt x="12542" y="1547290"/>
                    <a:pt x="0" y="1534748"/>
                    <a:pt x="0" y="1519277"/>
                  </a:cubicBezTo>
                  <a:lnTo>
                    <a:pt x="0" y="28013"/>
                  </a:lnTo>
                  <a:cubicBezTo>
                    <a:pt x="0" y="12542"/>
                    <a:pt x="12542" y="0"/>
                    <a:pt x="28013" y="0"/>
                  </a:cubicBezTo>
                  <a:close/>
                </a:path>
              </a:pathLst>
            </a:custGeom>
            <a:solidFill>
              <a:srgbClr val="FEFEFE"/>
            </a:solidFill>
            <a:ln w="19050" cap="rnd">
              <a:solidFill>
                <a:srgbClr val="181818"/>
              </a:solidFill>
              <a:prstDash val="solid"/>
              <a:round/>
            </a:ln>
          </p:spPr>
        </p:sp>
        <p:sp>
          <p:nvSpPr>
            <p:cNvPr name="TextBox 8" id="8"/>
            <p:cNvSpPr txBox="true"/>
            <p:nvPr/>
          </p:nvSpPr>
          <p:spPr>
            <a:xfrm>
              <a:off x="0" y="-38100"/>
              <a:ext cx="2183688" cy="158539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9" id="9"/>
          <p:cNvGrpSpPr/>
          <p:nvPr/>
        </p:nvGrpSpPr>
        <p:grpSpPr>
          <a:xfrm rot="0">
            <a:off x="9276607" y="3785005"/>
            <a:ext cx="8291189" cy="5874866"/>
            <a:chOff x="0" y="0"/>
            <a:chExt cx="2183688" cy="1547290"/>
          </a:xfrm>
        </p:grpSpPr>
        <p:sp>
          <p:nvSpPr>
            <p:cNvPr name="Freeform 10" id="10"/>
            <p:cNvSpPr/>
            <p:nvPr/>
          </p:nvSpPr>
          <p:spPr>
            <a:xfrm flipH="false" flipV="false" rot="0">
              <a:off x="0" y="0"/>
              <a:ext cx="2183688" cy="1547290"/>
            </a:xfrm>
            <a:custGeom>
              <a:avLst/>
              <a:gdLst/>
              <a:ahLst/>
              <a:cxnLst/>
              <a:rect r="r" b="b" t="t" l="l"/>
              <a:pathLst>
                <a:path h="1547290" w="2183688">
                  <a:moveTo>
                    <a:pt x="28013" y="0"/>
                  </a:moveTo>
                  <a:lnTo>
                    <a:pt x="2155675" y="0"/>
                  </a:lnTo>
                  <a:cubicBezTo>
                    <a:pt x="2171146" y="0"/>
                    <a:pt x="2183688" y="12542"/>
                    <a:pt x="2183688" y="28013"/>
                  </a:cubicBezTo>
                  <a:lnTo>
                    <a:pt x="2183688" y="1519277"/>
                  </a:lnTo>
                  <a:cubicBezTo>
                    <a:pt x="2183688" y="1526707"/>
                    <a:pt x="2180736" y="1533832"/>
                    <a:pt x="2175483" y="1539085"/>
                  </a:cubicBezTo>
                  <a:cubicBezTo>
                    <a:pt x="2170230" y="1544339"/>
                    <a:pt x="2163105" y="1547290"/>
                    <a:pt x="2155675" y="1547290"/>
                  </a:cubicBezTo>
                  <a:lnTo>
                    <a:pt x="28013" y="1547290"/>
                  </a:lnTo>
                  <a:cubicBezTo>
                    <a:pt x="12542" y="1547290"/>
                    <a:pt x="0" y="1534748"/>
                    <a:pt x="0" y="1519277"/>
                  </a:cubicBezTo>
                  <a:lnTo>
                    <a:pt x="0" y="28013"/>
                  </a:lnTo>
                  <a:cubicBezTo>
                    <a:pt x="0" y="12542"/>
                    <a:pt x="12542" y="0"/>
                    <a:pt x="28013" y="0"/>
                  </a:cubicBezTo>
                  <a:close/>
                </a:path>
              </a:pathLst>
            </a:custGeom>
            <a:solidFill>
              <a:srgbClr val="FEFEFE"/>
            </a:solidFill>
            <a:ln w="19050" cap="rnd">
              <a:solidFill>
                <a:srgbClr val="181818"/>
              </a:solidFill>
              <a:prstDash val="solid"/>
              <a:round/>
            </a:ln>
          </p:spPr>
        </p:sp>
        <p:sp>
          <p:nvSpPr>
            <p:cNvPr name="TextBox 11" id="11"/>
            <p:cNvSpPr txBox="true"/>
            <p:nvPr/>
          </p:nvSpPr>
          <p:spPr>
            <a:xfrm>
              <a:off x="0" y="-38100"/>
              <a:ext cx="2183688" cy="158539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2" id="12"/>
          <p:cNvSpPr txBox="true"/>
          <p:nvPr/>
        </p:nvSpPr>
        <p:spPr>
          <a:xfrm rot="0">
            <a:off x="1516726" y="3990722"/>
            <a:ext cx="6963359" cy="537846"/>
          </a:xfrm>
          <a:prstGeom prst="rect">
            <a:avLst/>
          </a:prstGeom>
        </p:spPr>
        <p:txBody>
          <a:bodyPr anchor="t" rtlCol="false" tIns="0" lIns="0" bIns="0" rIns="0">
            <a:spAutoFit/>
          </a:bodyPr>
          <a:lstStyle/>
          <a:p>
            <a:pPr algn="l">
              <a:lnSpc>
                <a:spcPts val="4479"/>
              </a:lnSpc>
              <a:spcBef>
                <a:spcPct val="0"/>
              </a:spcBef>
            </a:pPr>
            <a:r>
              <a:rPr lang="en-US" b="true" sz="3199" i="true">
                <a:solidFill>
                  <a:srgbClr val="181818"/>
                </a:solidFill>
                <a:latin typeface="Canva Sans Bold Italics"/>
                <a:ea typeface="Canva Sans Bold Italics"/>
                <a:cs typeface="Canva Sans Bold Italics"/>
                <a:sym typeface="Canva Sans Bold Italics"/>
              </a:rPr>
              <a:t>Proxy Pattern</a:t>
            </a:r>
          </a:p>
        </p:txBody>
      </p:sp>
      <p:sp>
        <p:nvSpPr>
          <p:cNvPr name="TextBox 13" id="13"/>
          <p:cNvSpPr txBox="true"/>
          <p:nvPr/>
        </p:nvSpPr>
        <p:spPr>
          <a:xfrm rot="0">
            <a:off x="9940523" y="3990722"/>
            <a:ext cx="6963359" cy="537846"/>
          </a:xfrm>
          <a:prstGeom prst="rect">
            <a:avLst/>
          </a:prstGeom>
        </p:spPr>
        <p:txBody>
          <a:bodyPr anchor="t" rtlCol="false" tIns="0" lIns="0" bIns="0" rIns="0">
            <a:spAutoFit/>
          </a:bodyPr>
          <a:lstStyle/>
          <a:p>
            <a:pPr algn="l">
              <a:lnSpc>
                <a:spcPts val="4479"/>
              </a:lnSpc>
              <a:spcBef>
                <a:spcPct val="0"/>
              </a:spcBef>
            </a:pPr>
            <a:r>
              <a:rPr lang="en-US" b="true" sz="3199">
                <a:solidFill>
                  <a:srgbClr val="181818"/>
                </a:solidFill>
                <a:latin typeface="Canva Sans Bold"/>
                <a:ea typeface="Canva Sans Bold"/>
                <a:cs typeface="Canva Sans Bold"/>
                <a:sym typeface="Canva Sans Bold"/>
              </a:rPr>
              <a:t>Decorator Pattern</a:t>
            </a:r>
          </a:p>
        </p:txBody>
      </p:sp>
      <p:sp>
        <p:nvSpPr>
          <p:cNvPr name="TextBox 14" id="14"/>
          <p:cNvSpPr txBox="true"/>
          <p:nvPr/>
        </p:nvSpPr>
        <p:spPr>
          <a:xfrm rot="0">
            <a:off x="1516726" y="4666608"/>
            <a:ext cx="7187247" cy="1581150"/>
          </a:xfrm>
          <a:prstGeom prst="rect">
            <a:avLst/>
          </a:prstGeom>
        </p:spPr>
        <p:txBody>
          <a:bodyPr anchor="t" rtlCol="false" tIns="0" lIns="0" bIns="0" rIns="0">
            <a:spAutoFit/>
          </a:bodyPr>
          <a:lstStyle/>
          <a:p>
            <a:pPr algn="l">
              <a:lnSpc>
                <a:spcPts val="4200"/>
              </a:lnSpc>
              <a:spcBef>
                <a:spcPct val="0"/>
              </a:spcBef>
            </a:pPr>
            <a:r>
              <a:rPr lang="en-US" sz="3000">
                <a:solidFill>
                  <a:srgbClr val="181818"/>
                </a:solidFill>
                <a:latin typeface="Canva Sans"/>
                <a:ea typeface="Canva Sans"/>
                <a:cs typeface="Canva Sans"/>
                <a:sym typeface="Canva Sans"/>
              </a:rPr>
              <a:t>Focuses on </a:t>
            </a:r>
            <a:r>
              <a:rPr lang="en-US" b="true" sz="3000">
                <a:solidFill>
                  <a:srgbClr val="181818"/>
                </a:solidFill>
                <a:latin typeface="Canva Sans Bold"/>
                <a:ea typeface="Canva Sans Bold"/>
                <a:cs typeface="Canva Sans Bold"/>
                <a:sym typeface="Canva Sans Bold"/>
              </a:rPr>
              <a:t>Access Control</a:t>
            </a:r>
            <a:r>
              <a:rPr lang="en-US" sz="3000">
                <a:solidFill>
                  <a:srgbClr val="181818"/>
                </a:solidFill>
                <a:latin typeface="Canva Sans"/>
                <a:ea typeface="Canva Sans"/>
                <a:cs typeface="Canva Sans"/>
                <a:sym typeface="Canva Sans"/>
              </a:rPr>
              <a:t>. It decides IF and WHEN a client can use the object.</a:t>
            </a:r>
          </a:p>
        </p:txBody>
      </p:sp>
      <p:sp>
        <p:nvSpPr>
          <p:cNvPr name="TextBox 15" id="15"/>
          <p:cNvSpPr txBox="true"/>
          <p:nvPr/>
        </p:nvSpPr>
        <p:spPr>
          <a:xfrm rot="0">
            <a:off x="9932910" y="4666608"/>
            <a:ext cx="7187247" cy="1581150"/>
          </a:xfrm>
          <a:prstGeom prst="rect">
            <a:avLst/>
          </a:prstGeom>
        </p:spPr>
        <p:txBody>
          <a:bodyPr anchor="t" rtlCol="false" tIns="0" lIns="0" bIns="0" rIns="0">
            <a:spAutoFit/>
          </a:bodyPr>
          <a:lstStyle/>
          <a:p>
            <a:pPr algn="l">
              <a:lnSpc>
                <a:spcPts val="4200"/>
              </a:lnSpc>
              <a:spcBef>
                <a:spcPct val="0"/>
              </a:spcBef>
            </a:pPr>
            <a:r>
              <a:rPr lang="en-US" sz="3000">
                <a:solidFill>
                  <a:srgbClr val="181818"/>
                </a:solidFill>
                <a:latin typeface="Canva Sans"/>
                <a:ea typeface="Canva Sans"/>
                <a:cs typeface="Canva Sans"/>
                <a:sym typeface="Canva Sans"/>
              </a:rPr>
              <a:t>Focuses on Adding Behavior. It adds extra features to the object (like adding sugar to coffee).</a:t>
            </a:r>
          </a:p>
        </p:txBody>
      </p:sp>
    </p:spTree>
  </p:cSld>
  <p:clrMapOvr>
    <a:masterClrMapping/>
  </p:clrMapOvr>
</p:sld>
</file>

<file path=ppt/slides/slide13.xml><?xml version="1.0" encoding="utf-8"?>
<p:sld xmlns:p="http://schemas.openxmlformats.org/presentationml/2006/main" xmlns:a="http://schemas.openxmlformats.org/drawingml/2006/main">
  <p:cSld>
    <p:bg>
      <p:bgPr>
        <a:solidFill>
          <a:srgbClr val="FEFEFE"/>
        </a:solidFill>
      </p:bgPr>
    </p:bg>
    <p:spTree>
      <p:nvGrpSpPr>
        <p:cNvPr id="1" name=""/>
        <p:cNvGrpSpPr/>
        <p:nvPr/>
      </p:nvGrpSpPr>
      <p:grpSpPr>
        <a:xfrm>
          <a:off x="0" y="0"/>
          <a:ext cx="0" cy="0"/>
          <a:chOff x="0" y="0"/>
          <a:chExt cx="0" cy="0"/>
        </a:xfrm>
      </p:grpSpPr>
      <p:grpSp>
        <p:nvGrpSpPr>
          <p:cNvPr name="Group 2" id="2"/>
          <p:cNvGrpSpPr/>
          <p:nvPr/>
        </p:nvGrpSpPr>
        <p:grpSpPr>
          <a:xfrm rot="0">
            <a:off x="1028700" y="2466070"/>
            <a:ext cx="7667796" cy="718099"/>
            <a:chOff x="0" y="0"/>
            <a:chExt cx="2019502" cy="189129"/>
          </a:xfrm>
        </p:grpSpPr>
        <p:sp>
          <p:nvSpPr>
            <p:cNvPr name="Freeform 3" id="3"/>
            <p:cNvSpPr/>
            <p:nvPr/>
          </p:nvSpPr>
          <p:spPr>
            <a:xfrm flipH="false" flipV="false" rot="0">
              <a:off x="0" y="0"/>
              <a:ext cx="2019502" cy="189129"/>
            </a:xfrm>
            <a:custGeom>
              <a:avLst/>
              <a:gdLst/>
              <a:ahLst/>
              <a:cxnLst/>
              <a:rect r="r" b="b" t="t" l="l"/>
              <a:pathLst>
                <a:path h="189129" w="2019502">
                  <a:moveTo>
                    <a:pt x="50483" y="0"/>
                  </a:moveTo>
                  <a:lnTo>
                    <a:pt x="1969019" y="0"/>
                  </a:lnTo>
                  <a:cubicBezTo>
                    <a:pt x="1996900" y="0"/>
                    <a:pt x="2019502" y="22602"/>
                    <a:pt x="2019502" y="50483"/>
                  </a:cubicBezTo>
                  <a:lnTo>
                    <a:pt x="2019502" y="138646"/>
                  </a:lnTo>
                  <a:cubicBezTo>
                    <a:pt x="2019502" y="166527"/>
                    <a:pt x="1996900" y="189129"/>
                    <a:pt x="1969019" y="189129"/>
                  </a:cubicBezTo>
                  <a:lnTo>
                    <a:pt x="50483" y="189129"/>
                  </a:lnTo>
                  <a:cubicBezTo>
                    <a:pt x="22602" y="189129"/>
                    <a:pt x="0" y="166527"/>
                    <a:pt x="0" y="138646"/>
                  </a:cubicBezTo>
                  <a:lnTo>
                    <a:pt x="0" y="50483"/>
                  </a:lnTo>
                  <a:cubicBezTo>
                    <a:pt x="0" y="22602"/>
                    <a:pt x="22602" y="0"/>
                    <a:pt x="50483" y="0"/>
                  </a:cubicBezTo>
                  <a:close/>
                </a:path>
              </a:pathLst>
            </a:custGeom>
            <a:solidFill>
              <a:srgbClr val="7C6AF2"/>
            </a:solidFill>
          </p:spPr>
        </p:sp>
        <p:sp>
          <p:nvSpPr>
            <p:cNvPr name="TextBox 4" id="4"/>
            <p:cNvSpPr txBox="true"/>
            <p:nvPr/>
          </p:nvSpPr>
          <p:spPr>
            <a:xfrm>
              <a:off x="0" y="-47625"/>
              <a:ext cx="2019502" cy="236754"/>
            </a:xfrm>
            <a:prstGeom prst="rect">
              <a:avLst/>
            </a:prstGeom>
          </p:spPr>
          <p:txBody>
            <a:bodyPr anchor="ctr" rtlCol="false" tIns="50800" lIns="50800" bIns="50800" rIns="50800"/>
            <a:lstStyle/>
            <a:p>
              <a:pPr algn="ctr">
                <a:lnSpc>
                  <a:spcPts val="4339"/>
                </a:lnSpc>
              </a:pPr>
            </a:p>
          </p:txBody>
        </p:sp>
      </p:grpSp>
      <p:sp>
        <p:nvSpPr>
          <p:cNvPr name="TextBox 5" id="5"/>
          <p:cNvSpPr txBox="true"/>
          <p:nvPr/>
        </p:nvSpPr>
        <p:spPr>
          <a:xfrm rot="0">
            <a:off x="852811" y="1064699"/>
            <a:ext cx="17435189" cy="1202106"/>
          </a:xfrm>
          <a:prstGeom prst="rect">
            <a:avLst/>
          </a:prstGeom>
        </p:spPr>
        <p:txBody>
          <a:bodyPr anchor="t" rtlCol="false" tIns="0" lIns="0" bIns="0" rIns="0">
            <a:spAutoFit/>
          </a:bodyPr>
          <a:lstStyle/>
          <a:p>
            <a:pPr algn="l">
              <a:lnSpc>
                <a:spcPts val="9077"/>
              </a:lnSpc>
            </a:pPr>
            <a:r>
              <a:rPr lang="en-US" b="true" sz="9077">
                <a:solidFill>
                  <a:srgbClr val="181818"/>
                </a:solidFill>
                <a:latin typeface="Canva Sans Bold"/>
                <a:ea typeface="Canva Sans Bold"/>
                <a:cs typeface="Canva Sans Bold"/>
                <a:sym typeface="Canva Sans Bold"/>
              </a:rPr>
              <a:t>CONCLUSION</a:t>
            </a:r>
          </a:p>
        </p:txBody>
      </p:sp>
      <p:grpSp>
        <p:nvGrpSpPr>
          <p:cNvPr name="Group 6" id="6"/>
          <p:cNvGrpSpPr/>
          <p:nvPr/>
        </p:nvGrpSpPr>
        <p:grpSpPr>
          <a:xfrm rot="0">
            <a:off x="852811" y="3487747"/>
            <a:ext cx="17110376" cy="4356102"/>
            <a:chOff x="0" y="0"/>
            <a:chExt cx="4506436" cy="1147286"/>
          </a:xfrm>
        </p:grpSpPr>
        <p:sp>
          <p:nvSpPr>
            <p:cNvPr name="Freeform 7" id="7"/>
            <p:cNvSpPr/>
            <p:nvPr/>
          </p:nvSpPr>
          <p:spPr>
            <a:xfrm flipH="false" flipV="false" rot="0">
              <a:off x="0" y="0"/>
              <a:ext cx="4506437" cy="1147286"/>
            </a:xfrm>
            <a:custGeom>
              <a:avLst/>
              <a:gdLst/>
              <a:ahLst/>
              <a:cxnLst/>
              <a:rect r="r" b="b" t="t" l="l"/>
              <a:pathLst>
                <a:path h="1147286" w="4506437">
                  <a:moveTo>
                    <a:pt x="13574" y="0"/>
                  </a:moveTo>
                  <a:lnTo>
                    <a:pt x="4492863" y="0"/>
                  </a:lnTo>
                  <a:cubicBezTo>
                    <a:pt x="4496463" y="0"/>
                    <a:pt x="4499915" y="1430"/>
                    <a:pt x="4502461" y="3976"/>
                  </a:cubicBezTo>
                  <a:cubicBezTo>
                    <a:pt x="4505006" y="6521"/>
                    <a:pt x="4506437" y="9974"/>
                    <a:pt x="4506437" y="13574"/>
                  </a:cubicBezTo>
                  <a:lnTo>
                    <a:pt x="4506437" y="1133712"/>
                  </a:lnTo>
                  <a:cubicBezTo>
                    <a:pt x="4506437" y="1137312"/>
                    <a:pt x="4505006" y="1140765"/>
                    <a:pt x="4502461" y="1143311"/>
                  </a:cubicBezTo>
                  <a:cubicBezTo>
                    <a:pt x="4499915" y="1145856"/>
                    <a:pt x="4496463" y="1147286"/>
                    <a:pt x="4492863" y="1147286"/>
                  </a:cubicBezTo>
                  <a:lnTo>
                    <a:pt x="13574" y="1147286"/>
                  </a:lnTo>
                  <a:cubicBezTo>
                    <a:pt x="9974" y="1147286"/>
                    <a:pt x="6521" y="1145856"/>
                    <a:pt x="3976" y="1143311"/>
                  </a:cubicBezTo>
                  <a:cubicBezTo>
                    <a:pt x="1430" y="1140765"/>
                    <a:pt x="0" y="1137312"/>
                    <a:pt x="0" y="1133712"/>
                  </a:cubicBezTo>
                  <a:lnTo>
                    <a:pt x="0" y="13574"/>
                  </a:lnTo>
                  <a:cubicBezTo>
                    <a:pt x="0" y="9974"/>
                    <a:pt x="1430" y="6521"/>
                    <a:pt x="3976" y="3976"/>
                  </a:cubicBezTo>
                  <a:cubicBezTo>
                    <a:pt x="6521" y="1430"/>
                    <a:pt x="9974" y="0"/>
                    <a:pt x="13574" y="0"/>
                  </a:cubicBezTo>
                  <a:close/>
                </a:path>
              </a:pathLst>
            </a:custGeom>
            <a:solidFill>
              <a:srgbClr val="FEFEFE"/>
            </a:solidFill>
            <a:ln w="19050" cap="rnd">
              <a:solidFill>
                <a:srgbClr val="181818"/>
              </a:solidFill>
              <a:prstDash val="solid"/>
              <a:round/>
            </a:ln>
          </p:spPr>
        </p:sp>
        <p:sp>
          <p:nvSpPr>
            <p:cNvPr name="TextBox 8" id="8"/>
            <p:cNvSpPr txBox="true"/>
            <p:nvPr/>
          </p:nvSpPr>
          <p:spPr>
            <a:xfrm>
              <a:off x="0" y="-38100"/>
              <a:ext cx="4506436" cy="1185386"/>
            </a:xfrm>
            <a:prstGeom prst="rect">
              <a:avLst/>
            </a:prstGeom>
          </p:spPr>
          <p:txBody>
            <a:bodyPr anchor="ctr" rtlCol="false" tIns="50800" lIns="50800" bIns="50800" rIns="50800"/>
            <a:lstStyle/>
            <a:p>
              <a:pPr algn="just" marL="0" indent="0" lvl="0">
                <a:lnSpc>
                  <a:spcPts val="2659"/>
                </a:lnSpc>
                <a:spcBef>
                  <a:spcPct val="0"/>
                </a:spcBef>
              </a:pPr>
            </a:p>
          </p:txBody>
        </p:sp>
      </p:grpSp>
      <p:sp>
        <p:nvSpPr>
          <p:cNvPr name="TextBox 9" id="9"/>
          <p:cNvSpPr txBox="true"/>
          <p:nvPr/>
        </p:nvSpPr>
        <p:spPr>
          <a:xfrm rot="0">
            <a:off x="1280402" y="3973333"/>
            <a:ext cx="14832190" cy="3714750"/>
          </a:xfrm>
          <a:prstGeom prst="rect">
            <a:avLst/>
          </a:prstGeom>
        </p:spPr>
        <p:txBody>
          <a:bodyPr anchor="t" rtlCol="false" tIns="0" lIns="0" bIns="0" rIns="0">
            <a:spAutoFit/>
          </a:bodyPr>
          <a:lstStyle/>
          <a:p>
            <a:pPr algn="just">
              <a:lnSpc>
                <a:spcPts val="4200"/>
              </a:lnSpc>
            </a:pPr>
            <a:r>
              <a:rPr lang="en-US" sz="3000">
                <a:solidFill>
                  <a:srgbClr val="181818"/>
                </a:solidFill>
                <a:latin typeface="Canva Sans"/>
                <a:ea typeface="Canva Sans"/>
                <a:cs typeface="Canva Sans"/>
                <a:sym typeface="Canva Sans"/>
              </a:rPr>
              <a:t>The Proxy pattern is a powerful tool for </a:t>
            </a:r>
            <a:r>
              <a:rPr lang="en-US" sz="3000" b="true">
                <a:solidFill>
                  <a:srgbClr val="181818"/>
                </a:solidFill>
                <a:latin typeface="Canva Sans Bold"/>
                <a:ea typeface="Canva Sans Bold"/>
                <a:cs typeface="Canva Sans Bold"/>
                <a:sym typeface="Canva Sans Bold"/>
              </a:rPr>
              <a:t>optimization</a:t>
            </a:r>
            <a:r>
              <a:rPr lang="en-US" sz="3000">
                <a:solidFill>
                  <a:srgbClr val="181818"/>
                </a:solidFill>
                <a:latin typeface="Canva Sans"/>
                <a:ea typeface="Canva Sans"/>
                <a:cs typeface="Canva Sans"/>
                <a:sym typeface="Canva Sans"/>
              </a:rPr>
              <a:t> and </a:t>
            </a:r>
            <a:r>
              <a:rPr lang="en-US" sz="3000" b="true">
                <a:solidFill>
                  <a:srgbClr val="181818"/>
                </a:solidFill>
                <a:latin typeface="Canva Sans Bold"/>
                <a:ea typeface="Canva Sans Bold"/>
                <a:cs typeface="Canva Sans Bold"/>
                <a:sym typeface="Canva Sans Bold"/>
              </a:rPr>
              <a:t>security</a:t>
            </a:r>
            <a:r>
              <a:rPr lang="en-US" sz="3000">
                <a:solidFill>
                  <a:srgbClr val="181818"/>
                </a:solidFill>
                <a:latin typeface="Canva Sans"/>
                <a:ea typeface="Canva Sans"/>
                <a:cs typeface="Canva Sans"/>
                <a:sym typeface="Canva Sans"/>
              </a:rPr>
              <a:t>.</a:t>
            </a:r>
          </a:p>
          <a:p>
            <a:pPr algn="just">
              <a:lnSpc>
                <a:spcPts val="4200"/>
              </a:lnSpc>
            </a:pPr>
            <a:r>
              <a:rPr lang="en-US" sz="3000">
                <a:solidFill>
                  <a:srgbClr val="181818"/>
                </a:solidFill>
                <a:latin typeface="Canva Sans"/>
                <a:ea typeface="Canva Sans"/>
                <a:cs typeface="Canva Sans"/>
                <a:sym typeface="Canva Sans"/>
              </a:rPr>
              <a:t>It promotes the </a:t>
            </a:r>
            <a:r>
              <a:rPr lang="en-US" sz="3000" b="true">
                <a:solidFill>
                  <a:srgbClr val="181818"/>
                </a:solidFill>
                <a:latin typeface="Canva Sans Bold"/>
                <a:ea typeface="Canva Sans Bold"/>
                <a:cs typeface="Canva Sans Bold"/>
                <a:sym typeface="Canva Sans Bold"/>
              </a:rPr>
              <a:t>Open/Closed Principle </a:t>
            </a:r>
            <a:r>
              <a:rPr lang="en-US" sz="3000">
                <a:solidFill>
                  <a:srgbClr val="181818"/>
                </a:solidFill>
                <a:latin typeface="Canva Sans"/>
                <a:ea typeface="Canva Sans"/>
                <a:cs typeface="Canva Sans"/>
                <a:sym typeface="Canva Sans"/>
              </a:rPr>
              <a:t>extending behavior without modifying existing code.</a:t>
            </a:r>
          </a:p>
          <a:p>
            <a:pPr algn="just">
              <a:lnSpc>
                <a:spcPts val="4200"/>
              </a:lnSpc>
            </a:pPr>
          </a:p>
          <a:p>
            <a:pPr algn="just">
              <a:lnSpc>
                <a:spcPts val="4200"/>
              </a:lnSpc>
            </a:pPr>
            <a:r>
              <a:rPr lang="en-US" sz="3000">
                <a:solidFill>
                  <a:srgbClr val="181818"/>
                </a:solidFill>
                <a:latin typeface="Canva Sans"/>
                <a:ea typeface="Canva Sans"/>
                <a:cs typeface="Canva Sans"/>
                <a:sym typeface="Canva Sans"/>
              </a:rPr>
              <a:t>It is a fundamental pattern used in Java Frameworks like </a:t>
            </a:r>
            <a:r>
              <a:rPr lang="en-US" sz="3000" b="true">
                <a:solidFill>
                  <a:srgbClr val="181818"/>
                </a:solidFill>
                <a:latin typeface="Canva Sans Bold"/>
                <a:ea typeface="Canva Sans Bold"/>
                <a:cs typeface="Canva Sans Bold"/>
                <a:sym typeface="Canva Sans Bold"/>
              </a:rPr>
              <a:t>Spring</a:t>
            </a:r>
            <a:r>
              <a:rPr lang="en-US" sz="3000">
                <a:solidFill>
                  <a:srgbClr val="181818"/>
                </a:solidFill>
                <a:latin typeface="Canva Sans"/>
                <a:ea typeface="Canva Sans"/>
                <a:cs typeface="Canva Sans"/>
                <a:sym typeface="Canva Sans"/>
              </a:rPr>
              <a:t> (for AOP) and </a:t>
            </a:r>
            <a:r>
              <a:rPr lang="en-US" sz="3000" b="true">
                <a:solidFill>
                  <a:srgbClr val="181818"/>
                </a:solidFill>
                <a:latin typeface="Canva Sans Bold"/>
                <a:ea typeface="Canva Sans Bold"/>
                <a:cs typeface="Canva Sans Bold"/>
                <a:sym typeface="Canva Sans Bold"/>
              </a:rPr>
              <a:t>Hibernate</a:t>
            </a:r>
            <a:r>
              <a:rPr lang="en-US" sz="3000">
                <a:solidFill>
                  <a:srgbClr val="181818"/>
                </a:solidFill>
                <a:latin typeface="Canva Sans"/>
                <a:ea typeface="Canva Sans"/>
                <a:cs typeface="Canva Sans"/>
                <a:sym typeface="Canva Sans"/>
              </a:rPr>
              <a:t> (for Lazy Loading).</a:t>
            </a:r>
          </a:p>
          <a:p>
            <a:pPr algn="just">
              <a:lnSpc>
                <a:spcPts val="4200"/>
              </a:lnSpc>
              <a:spcBef>
                <a:spcPct val="0"/>
              </a:spcBef>
            </a:pPr>
          </a:p>
        </p:txBody>
      </p:sp>
    </p:spTree>
  </p:cSld>
  <p:clrMapOvr>
    <a:masterClrMapping/>
  </p:clrMapOvr>
</p:sld>
</file>

<file path=ppt/slides/slide14.xml><?xml version="1.0" encoding="utf-8"?>
<p:sld xmlns:p="http://schemas.openxmlformats.org/presentationml/2006/main" xmlns:a="http://schemas.openxmlformats.org/drawingml/2006/main">
  <p:cSld>
    <p:bg>
      <p:bgPr>
        <a:solidFill>
          <a:srgbClr val="FEFEFE"/>
        </a:solidFill>
      </p:bgPr>
    </p:bg>
    <p:spTree>
      <p:nvGrpSpPr>
        <p:cNvPr id="1" name=""/>
        <p:cNvGrpSpPr/>
        <p:nvPr/>
      </p:nvGrpSpPr>
      <p:grpSpPr>
        <a:xfrm>
          <a:off x="0" y="0"/>
          <a:ext cx="0" cy="0"/>
          <a:chOff x="0" y="0"/>
          <a:chExt cx="0" cy="0"/>
        </a:xfrm>
      </p:grpSpPr>
      <p:sp>
        <p:nvSpPr>
          <p:cNvPr name="TextBox 2" id="2"/>
          <p:cNvSpPr txBox="true"/>
          <p:nvPr/>
        </p:nvSpPr>
        <p:spPr>
          <a:xfrm rot="0">
            <a:off x="5892346" y="3647996"/>
            <a:ext cx="6976428" cy="1202106"/>
          </a:xfrm>
          <a:prstGeom prst="rect">
            <a:avLst/>
          </a:prstGeom>
        </p:spPr>
        <p:txBody>
          <a:bodyPr anchor="t" rtlCol="false" tIns="0" lIns="0" bIns="0" rIns="0">
            <a:spAutoFit/>
          </a:bodyPr>
          <a:lstStyle/>
          <a:p>
            <a:pPr algn="l">
              <a:lnSpc>
                <a:spcPts val="9077"/>
              </a:lnSpc>
            </a:pPr>
            <a:r>
              <a:rPr lang="en-US" b="true" sz="9077">
                <a:solidFill>
                  <a:srgbClr val="181818"/>
                </a:solidFill>
                <a:latin typeface="Canva Sans Bold"/>
                <a:ea typeface="Canva Sans Bold"/>
                <a:cs typeface="Canva Sans Bold"/>
                <a:sym typeface="Canva Sans Bold"/>
              </a:rPr>
              <a:t>THANK YOU</a:t>
            </a:r>
          </a:p>
        </p:txBody>
      </p:sp>
      <p:grpSp>
        <p:nvGrpSpPr>
          <p:cNvPr name="Group 3" id="3"/>
          <p:cNvGrpSpPr/>
          <p:nvPr/>
        </p:nvGrpSpPr>
        <p:grpSpPr>
          <a:xfrm rot="0">
            <a:off x="5310102" y="5143500"/>
            <a:ext cx="7667796" cy="718099"/>
            <a:chOff x="0" y="0"/>
            <a:chExt cx="2019502" cy="189129"/>
          </a:xfrm>
        </p:grpSpPr>
        <p:sp>
          <p:nvSpPr>
            <p:cNvPr name="Freeform 4" id="4"/>
            <p:cNvSpPr/>
            <p:nvPr/>
          </p:nvSpPr>
          <p:spPr>
            <a:xfrm flipH="false" flipV="false" rot="0">
              <a:off x="0" y="0"/>
              <a:ext cx="2019502" cy="189129"/>
            </a:xfrm>
            <a:custGeom>
              <a:avLst/>
              <a:gdLst/>
              <a:ahLst/>
              <a:cxnLst/>
              <a:rect r="r" b="b" t="t" l="l"/>
              <a:pathLst>
                <a:path h="189129" w="2019502">
                  <a:moveTo>
                    <a:pt x="50483" y="0"/>
                  </a:moveTo>
                  <a:lnTo>
                    <a:pt x="1969019" y="0"/>
                  </a:lnTo>
                  <a:cubicBezTo>
                    <a:pt x="1996900" y="0"/>
                    <a:pt x="2019502" y="22602"/>
                    <a:pt x="2019502" y="50483"/>
                  </a:cubicBezTo>
                  <a:lnTo>
                    <a:pt x="2019502" y="138646"/>
                  </a:lnTo>
                  <a:cubicBezTo>
                    <a:pt x="2019502" y="166527"/>
                    <a:pt x="1996900" y="189129"/>
                    <a:pt x="1969019" y="189129"/>
                  </a:cubicBezTo>
                  <a:lnTo>
                    <a:pt x="50483" y="189129"/>
                  </a:lnTo>
                  <a:cubicBezTo>
                    <a:pt x="22602" y="189129"/>
                    <a:pt x="0" y="166527"/>
                    <a:pt x="0" y="138646"/>
                  </a:cubicBezTo>
                  <a:lnTo>
                    <a:pt x="0" y="50483"/>
                  </a:lnTo>
                  <a:cubicBezTo>
                    <a:pt x="0" y="22602"/>
                    <a:pt x="22602" y="0"/>
                    <a:pt x="50483" y="0"/>
                  </a:cubicBezTo>
                  <a:close/>
                </a:path>
              </a:pathLst>
            </a:custGeom>
            <a:solidFill>
              <a:srgbClr val="7C6AF2"/>
            </a:solidFill>
          </p:spPr>
        </p:sp>
        <p:sp>
          <p:nvSpPr>
            <p:cNvPr name="TextBox 5" id="5"/>
            <p:cNvSpPr txBox="true"/>
            <p:nvPr/>
          </p:nvSpPr>
          <p:spPr>
            <a:xfrm>
              <a:off x="0" y="-47625"/>
              <a:ext cx="2019502" cy="236754"/>
            </a:xfrm>
            <a:prstGeom prst="rect">
              <a:avLst/>
            </a:prstGeom>
          </p:spPr>
          <p:txBody>
            <a:bodyPr anchor="ctr" rtlCol="false" tIns="50800" lIns="50800" bIns="50800" rIns="50800"/>
            <a:lstStyle/>
            <a:p>
              <a:pPr algn="ctr">
                <a:lnSpc>
                  <a:spcPts val="4339"/>
                </a:lnSpc>
              </a:p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DAHC5ildIqQ</dc:identifier>
  <dcterms:modified xsi:type="dcterms:W3CDTF">2011-08-01T06:04:30Z</dcterms:modified>
  <cp:revision>1</cp:revision>
  <dc:title>Proxy design pattern</dc:title>
</cp:coreProperties>
</file>